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1.xml"/><Relationship Id="rId63" Type="http://schemas.openxmlformats.org/officeDocument/2006/relationships/slide" Target="slides/slide2.xml"/><Relationship Id="rId64" Type="http://schemas.openxmlformats.org/officeDocument/2006/relationships/slide" Target="slides/slide3.xml"/><Relationship Id="rId65" Type="http://schemas.openxmlformats.org/officeDocument/2006/relationships/slide" Target="slides/slide4.xml"/><Relationship Id="rId66" Type="http://schemas.openxmlformats.org/officeDocument/2006/relationships/slide" Target="slides/slide5.xml"/><Relationship Id="rId67" Type="http://schemas.openxmlformats.org/officeDocument/2006/relationships/slide" Target="slides/slide6.xml"/><Relationship Id="rId68" Type="http://schemas.openxmlformats.org/officeDocument/2006/relationships/slide" Target="slides/slide7.xml"/><Relationship Id="rId69" Type="http://schemas.openxmlformats.org/officeDocument/2006/relationships/slide" Target="slides/slide8.xml"/><Relationship Id="rId70" Type="http://schemas.openxmlformats.org/officeDocument/2006/relationships/slide" Target="slides/slide9.xml"/><Relationship Id="rId71" Type="http://schemas.openxmlformats.org/officeDocument/2006/relationships/slide" Target="slides/slide10.xml"/><Relationship Id="rId72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Лиды (факт)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Sheet1!$A$2:$A$5</c:f>
              <c:strCache>
                <c:ptCount val="4"/>
                <c:pt idx="0">
                  <c:v>Поиск</c:v>
                </c:pt>
                <c:pt idx="1">
                  <c:v>Социальные сети</c:v>
                </c:pt>
                <c:pt idx="2">
                  <c:v>Партнёры</c:v>
                </c:pt>
                <c:pt idx="3">
                  <c:v>Электронная почта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240.0</c:v>
                </c:pt>
                <c:pt idx="1">
                  <c:v>150.0</c:v>
                </c:pt>
                <c:pt idx="2">
                  <c:v>180.0</c:v>
                </c:pt>
                <c:pt idx="3">
                  <c:v>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Лиды (цель)</c:v>
                </c:pt>
              </c:strCache>
            </c:strRef>
          </c:tx>
          <c:spPr>
            <a:solidFill>
              <a:srgbClr val="1E2D3E"/>
            </a:solidFill>
          </c:spPr>
          <c:cat>
            <c:strRef>
              <c:f>Sheet1!$A$2:$A$5</c:f>
              <c:strCache>
                <c:ptCount val="4"/>
                <c:pt idx="0">
                  <c:v>Поиск</c:v>
                </c:pt>
                <c:pt idx="1">
                  <c:v>Социальные сети</c:v>
                </c:pt>
                <c:pt idx="2">
                  <c:v>Партнёры</c:v>
                </c:pt>
                <c:pt idx="3">
                  <c:v>Электронная почта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220.0</c:v>
                </c:pt>
                <c:pt idx="1">
                  <c:v>180.0</c:v>
                </c:pt>
                <c:pt idx="2">
                  <c:v>160.0</c:v>
                </c:pt>
                <c:pt idx="3">
                  <c:v>80.0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Канал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1515"/>
              </a:solidFill>
            </a:ln>
          </c:spPr>
        </c:majorGridlines>
        <c:title>
          <c:tx>
            <c:rich>
              <a:bodyPr/>
              <a:lstStyle/>
              <a:p>
                <a:r>
                  <a:t>Лиды (факт) · Лиды (цель)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Play"/>
            </a:defRPr>
          </a:pPr>
        </a:p>
      </c:txPr>
    </c:legend>
    <c:dispBlanksAs val="gap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Обращения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1E2D3E"/>
              </a:solidFill>
            </c:spPr>
          </c:dPt>
          <c:dPt>
            <c:idx val="2"/>
            <c:spPr>
              <a:solidFill>
                <a:srgbClr val="3F5F83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Решено</c:v>
                </c:pt>
                <c:pt idx="1">
                  <c:v>В ожидании</c:v>
                </c:pt>
                <c:pt idx="2">
                  <c:v>На эскалации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620.0</c:v>
                </c:pt>
                <c:pt idx="1">
                  <c:v>250.0</c:v>
                </c:pt>
                <c:pt idx="2">
                  <c:v>130.0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800">
              <a:latin typeface="Play"/>
            </a:defRPr>
          </a:pPr>
        </a:p>
      </c:txPr>
    </c:legend>
    <c:dispBlanksAs val="gap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наблюдений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Sheet1!$A$2:$A$6</c:f>
              <c:strCache>
                <c:ptCount val="5"/>
                <c:pt idx="0">
                  <c:v>[18–33.4)</c:v>
                </c:pt>
                <c:pt idx="1">
                  <c:v>[33.4–48.8)</c:v>
                </c:pt>
                <c:pt idx="2">
                  <c:v>[48.8–64.2)</c:v>
                </c:pt>
                <c:pt idx="3">
                  <c:v>[64.2–79.6)</c:v>
                </c:pt>
                <c:pt idx="4">
                  <c:v>[79.6–95]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24.0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Значение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1515"/>
              </a:solidFill>
            </a:ln>
          </c:spPr>
        </c:majorGridlines>
        <c:title>
          <c:tx>
            <c:rich>
              <a:bodyPr/>
              <a:lstStyle/>
              <a:p>
                <a:r>
                  <a:t>Число наблюдений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Play"/>
            </a:defRPr>
          </a:pPr>
        </a:p>
      </c:txPr>
    </c:legend>
    <c:dispBlanksAs val="gap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Запросы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Sheet1!$A$2:$A$4</c:f>
              <c:strCache>
                <c:ptCount val="3"/>
                <c:pt idx="0">
                  <c:v>Север</c:v>
                </c:pt>
                <c:pt idx="1">
                  <c:v>Центр</c:v>
                </c:pt>
                <c:pt idx="2">
                  <c:v>Юг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120.0</c:v>
                </c:pt>
                <c:pt idx="1">
                  <c:v>95.0</c:v>
                </c:pt>
                <c:pt idx="2">
                  <c:v>75.0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Регион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7620">
              <a:solidFill>
                <a:srgbClr val="001515"/>
              </a:solidFill>
            </a:ln>
          </c:spPr>
        </c:majorGridlines>
        <c:title>
          <c:tx>
            <c:rich>
              <a:bodyPr/>
              <a:lstStyle/>
              <a:p>
                <a:r>
                  <a:t>Запросы, шт.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Play"/>
            </a:defRPr>
          </a:pPr>
        </a:p>
      </c:txPr>
    </c:legend>
    <c:dispBlanksAs val="gap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120000.0</c:v>
                </c:pt>
                <c:pt idx="1">
                  <c:v>126000.0</c:v>
                </c:pt>
                <c:pt idx="2">
                  <c:v>123000.0</c:v>
                </c:pt>
                <c:pt idx="3">
                  <c:v>135000.0</c:v>
                </c:pt>
                <c:pt idx="4">
                  <c:v>141000.0</c:v>
                </c:pt>
                <c:pt idx="5">
                  <c:v>156000.0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Период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7620">
              <a:solidFill>
                <a:srgbClr val="001515"/>
              </a:solidFill>
            </a:ln>
          </c:spPr>
        </c:majorGridlines>
        <c:title>
          <c:tx>
            <c:rich>
              <a:bodyPr/>
              <a:lstStyle/>
              <a:p>
                <a:r>
                  <a:t>Выручка, USD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latin typeface="Play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Добро пожаловать. Сегодня мы покажем, как работает процесс анализа данных и подготовки слайдов на учебных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category_comparison.csv · 4 исходных строк. Расчёт: max(actual_leads) = 240; совпадений максимума: 1; без суммирования категорий. Сопоставление рядов внутри каждой категории; значения не суммировались.. Данные: 0f3664992f7f3ba37fb32ad060f098bdad697af085c9f3c4fd2d9aaf5d20e064; SHA-256: 1b8306279ba7a59d13cf3e1ace73ff0665a4cb9a20cb8159d9fadffa983cad5d.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category_shares.json · 3 исходных строк. Расчёт: 620 / 1000 × 100 = 62.00% (округлено до 2 знаков); знаменатель — сумма показанных значений.. Данные: 46d12a475c2e6a7916a2af73f3d4bde93bab9c14f6e1af9c32eaa269ff4f8034; SHA-256: 958e61881f379dba570806f1f0dbe558403f12b47404963ee94b5ca66175a760.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distribution.csv · 25 исходных строк. Расчёт: min(value) = 18; max(value) = 95; n = 25. Freedman–Diaconis, ограничение читаемости min(8, ceil(sqrt(n))); 5 равных интервалов; подписи границ до 4 значащих цифр, при совпадении — полная точность; сумма частот = 25; n = 25.. Данные: 84b11d9a0857b181fc55a3e3ebc961f5340eb0be37af16fcaf5ce2d32c8b91c7; SHA-256: fb86dcad3232d0f8dc5ab8eecc4c4276fb9303665b827b6d5f365b6f3e4aa793.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embedded_table.md · # Regional service snapshot · Source: synthetic test data. Units: requests and resolved requests, counts for April 2026. · 3 исходных строк. Расчёт: max(Requests) = 120; совпадений максимума: 1; без суммирования категорий.. Данные: 735bdc5cb146877cadeab47f182744b1157e011833283fe3cc40b7f68003efc3; SHA-256: 4bda1b7852b68289daae9a5b85b93818aa2b298f8a185697ed2864d929ba241a.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missing_zero.csv · 4 исходных строк. Расчёт: Исходные строки без агрегации; показано 4 из 4. Данные: 9f0ba4567b42cf421c1d6ee0bc54b9dcdf61f99f3bb55bea1e86103d08339142; SHA-256: d9939d5f76ca2a726e94d4829a4445559226171c3ffc50b9390a8489591773d0.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Исходные строки без агрегации; показано 7 из 201.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time_series.xlsx · лист «Monthly revenue» · 6 исходных строк. Расчёт: revenue_usd: последнее − первое = 156000 − 120000 = +36000; без агрегации. Относительное изменение = (+36000) / 120000 × 100 = +30.00%.. Данные: b721d5d52b33eba845062116b253a2e43014c2db40da3f5b25967306e9b782a4; SHA-256: f182812cd77a6e7ca2d2881c980b5bc070a9c67d5f6f210226bc92a785fed4c0.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Важно подчеркнуть, что мы работаем с учебным материалом, чтобы избежать неверных выводов о реальных бизнес-процессах.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Четкое разделение этих двух категорий помогает избежать смешения фактов с субъективными оценками.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готовы обсудить, какие решения нужны и каковы следующие шаги в работе с аналитикой.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4.png"/><Relationship Id="rId3" Type="http://schemas.openxmlformats.org/officeDocument/2006/relationships/image" Target="../media/image171.png"/><Relationship Id="rId4" Type="http://schemas.openxmlformats.org/officeDocument/2006/relationships/image" Target="../media/image170.png"/><Relationship Id="rId5" Type="http://schemas.openxmlformats.org/officeDocument/2006/relationships/image" Target="../media/image169.png"/><Relationship Id="rId6" Type="http://schemas.openxmlformats.org/officeDocument/2006/relationships/image" Target="../media/image168.png"/><Relationship Id="rId7" Type="http://schemas.openxmlformats.org/officeDocument/2006/relationships/chart" Target="../charts/chart1.xml"/><Relationship Id="rId8" Type="http://schemas.openxmlformats.org/officeDocument/2006/relationships/notesSlide" Target="../notesSlides/notesSlide5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4.png"/><Relationship Id="rId3" Type="http://schemas.openxmlformats.org/officeDocument/2006/relationships/image" Target="../media/image171.png"/><Relationship Id="rId4" Type="http://schemas.openxmlformats.org/officeDocument/2006/relationships/image" Target="../media/image170.png"/><Relationship Id="rId5" Type="http://schemas.openxmlformats.org/officeDocument/2006/relationships/image" Target="../media/image169.png"/><Relationship Id="rId6" Type="http://schemas.openxmlformats.org/officeDocument/2006/relationships/image" Target="../media/image168.png"/><Relationship Id="rId7" Type="http://schemas.openxmlformats.org/officeDocument/2006/relationships/chart" Target="../charts/chart3.xml"/><Relationship Id="rId8" Type="http://schemas.openxmlformats.org/officeDocument/2006/relationships/notesSlide" Target="../notesSlides/notesSlide5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5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6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6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0.png"/><Relationship Id="rId3" Type="http://schemas.openxmlformats.org/officeDocument/2006/relationships/image" Target="../media/image26.png"/><Relationship Id="rId4" Type="http://schemas.openxmlformats.org/officeDocument/2006/relationships/image" Target="../media/image223.png"/><Relationship Id="rId5" Type="http://schemas.openxmlformats.org/officeDocument/2006/relationships/image" Target="../media/image224.png"/><Relationship Id="rId6" Type="http://schemas.openxmlformats.org/officeDocument/2006/relationships/image" Target="../media/image225.png"/><Relationship Id="rId7" Type="http://schemas.openxmlformats.org/officeDocument/2006/relationships/image" Target="../media/image226.png"/><Relationship Id="rId8" Type="http://schemas.openxmlformats.org/officeDocument/2006/relationships/image" Target="../media/image227.png"/><Relationship Id="rId9" Type="http://schemas.openxmlformats.org/officeDocument/2006/relationships/image" Target="../media/image228.png"/><Relationship Id="rId10" Type="http://schemas.openxmlformats.org/officeDocument/2006/relationships/notesSlide" Target="../notesSlides/notesSlide6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1" name="Google Shape;401;p4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en-US" sz="1350"/>
              <a:t xml:space="preserve">Прототип превращает синтетические учебные данные в структурированные выводы, четко разделяя наблюдения и интерпретации</a:t>
            </a:r>
          </a:p>
        </p:txBody>
      </p:sp>
      <p:sp>
        <p:nvSpPr>
          <p:cNvPr id="402" name="Google Shape;402;p4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69" name="Google Shape;2569;p9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Лиды (факт): максимум 240 — «Поиск»</a:t>
            </a:r>
          </a:p>
        </p:txBody>
      </p:sp>
      <p:graphicFrame>
        <p:nvGraphicFramePr>
          <p:cNvPr id="2570" name="Chart 2569"/>
          <p:cNvGraphicFramePr>
            <a:graphicFrameLocks noGrp="1"/>
          </p:cNvGraphicFramePr>
          <p:nvPr/>
        </p:nvGraphicFramePr>
        <p:xfrm>
          <a:off x="285293" y="1110022"/>
          <a:ext cx="8572500" cy="3467693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571" name="Rectangle 2570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2" name="TextBox 2571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category_comparison.csv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Охват: 4 из 4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5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Обращения: «Решено» — 62.00% показанной суммы</a:t>
            </a:r>
          </a:p>
        </p:txBody>
      </p:sp>
      <p:graphicFrame>
        <p:nvGraphicFramePr>
          <p:cNvPr id="686" name="Chart 685"/>
          <p:cNvGraphicFramePr>
            <a:graphicFrameLocks noGrp="1"/>
          </p:cNvGraphicFramePr>
          <p:nvPr/>
        </p:nvGraphicFramePr>
        <p:xfrm>
          <a:off x="285293" y="1110022"/>
          <a:ext cx="8382412" cy="346769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87" name="Rectangle 686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category_shares.json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69" name="Google Shape;2569;p9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Распределение Значение: от 18 до 95</a:t>
            </a:r>
          </a:p>
        </p:txBody>
      </p:sp>
      <p:graphicFrame>
        <p:nvGraphicFramePr>
          <p:cNvPr id="2570" name="Chart 2569"/>
          <p:cNvGraphicFramePr>
            <a:graphicFrameLocks noGrp="1"/>
          </p:cNvGraphicFramePr>
          <p:nvPr/>
        </p:nvGraphicFramePr>
        <p:xfrm>
          <a:off x="285293" y="1110022"/>
          <a:ext cx="8572500" cy="3467693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571" name="Rectangle 2570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2" name="TextBox 2571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distribution.csv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Охват: 25 из 25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23" name="Google Shape;723;p57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57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Запросы: максимум 120 — «Север»</a:t>
            </a:r>
          </a:p>
        </p:txBody>
      </p:sp>
      <p:graphicFrame>
        <p:nvGraphicFramePr>
          <p:cNvPr id="769" name="Chart 768"/>
          <p:cNvGraphicFramePr>
            <a:graphicFrameLocks noGrp="1"/>
          </p:cNvGraphicFramePr>
          <p:nvPr/>
        </p:nvGraphicFramePr>
        <p:xfrm>
          <a:off x="285293" y="1110022"/>
          <a:ext cx="8382412" cy="346769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70" name="Rectangle 769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TextBox 770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embedded_table.md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08" name="Google Shape;808;p58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Ноль — значение, пропуск — отсутствие данных</a:t>
            </a:r>
          </a:p>
        </p:txBody>
      </p:sp>
      <p:graphicFrame>
        <p:nvGraphicFramePr>
          <p:cNvPr id="809" name="Table 808"/>
          <p:cNvGraphicFramePr>
            <a:graphicFrameLocks noGrp="1"/>
          </p:cNvGraphicFramePr>
          <p:nvPr/>
        </p:nvGraphicFramePr>
        <p:xfrm>
          <a:off x="285293" y="1110022"/>
          <a:ext cx="85725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125"/>
                <a:gridCol w="2143125"/>
                <a:gridCol w="2143125"/>
                <a:gridCol w="2143125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Период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Количество (факт)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Количество (план)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Примечание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Неделя 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Наблюдаемое нулевое значение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Неделя 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/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Факт отсутствует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Неделя 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8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/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План отсутствует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Неделя 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Фактическое значение равно нулю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810" name="Rectangle 809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TextBox 810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missing_zero.csv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На слайде 4 из 4 строк. Строки источника: 2, 3, 4, 5.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6" name="Google Shape;906;p62"/>
          <p:cNvSpPr txBox="1"/>
          <p:nvPr>
            <p:ph type="title"/>
          </p:nvPr>
        </p:nvSpPr>
        <p:spPr>
          <a:xfrm>
            <a:off x="177971" y="282949"/>
            <a:ext cx="555988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 xml:space="preserve">Фрагмент таблицы · 7 из 201 строк</a:t>
            </a:r>
          </a:p>
        </p:txBody>
      </p:sp>
      <p:graphicFrame>
        <p:nvGraphicFramePr>
          <p:cNvPr id="944" name="Table 943"/>
          <p:cNvGraphicFramePr>
            <a:graphicFrameLocks noGrp="1"/>
          </p:cNvGraphicFramePr>
          <p:nvPr/>
        </p:nvGraphicFramePr>
        <p:xfrm>
          <a:off x="560496" y="1139190"/>
          <a:ext cx="8297297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8648"/>
                <a:gridCol w="4148649"/>
              </a:tblGrid>
              <a:tr h="21945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001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002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003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004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005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006</a:t>
                      </a:r>
                    </a:p>
                  </a:txBody>
                  <a:tcPr>
                    <a:noFill/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REF-007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Play"/>
                        </a:rPr>
                        <a:t>Запись справочника 007</a:t>
                      </a:r>
                    </a:p>
                  </a:txBody>
                  <a:tcPr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  <p:sp>
        <p:nvSpPr>
          <p:cNvPr id="945" name="Rectangle 944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На слайде 7 из 201 строк; не репрезентативная выборка. Все строки: HTML → «Источники» / архив исходников.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51" name="Google Shape;851;p60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60"/>
          <p:cNvSpPr txBox="1"/>
          <p:nvPr>
            <p:ph type="title"/>
          </p:nvPr>
        </p:nvSpPr>
        <p:spPr>
          <a:xfrm>
            <a:off x="177971" y="282949"/>
            <a:ext cx="5025400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Выручка: +36000 USD между 2026-01 и 2026-06 (+30.00%)</a:t>
            </a:r>
          </a:p>
        </p:txBody>
      </p:sp>
      <p:graphicFrame>
        <p:nvGraphicFramePr>
          <p:cNvPr id="873" name="Chart 872"/>
          <p:cNvGraphicFramePr>
            <a:graphicFrameLocks noGrp="1"/>
          </p:cNvGraphicFramePr>
          <p:nvPr/>
        </p:nvGraphicFramePr>
        <p:xfrm>
          <a:off x="285293" y="1139190"/>
          <a:ext cx="8382412" cy="34385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74" name="Rectangle 873"/>
          <p:cNvSpPr/>
          <p:nvPr/>
        </p:nvSpPr>
        <p:spPr>
          <a:xfrm>
            <a:off x="0" y="4680585"/>
            <a:ext cx="9144000" cy="462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TextBox 874"/>
          <p:cNvSpPr txBox="1"/>
          <p:nvPr/>
        </p:nvSpPr>
        <p:spPr>
          <a:xfrm>
            <a:off x="365760" y="4757737"/>
            <a:ext cx="8412480" cy="33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time_series.xlsx · лист «Monthly revenue»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Охват: 6 из 6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8" name="Google Shape;878;p61"/>
          <p:cNvSpPr/>
          <p:nvPr/>
        </p:nvSpPr>
        <p:spPr>
          <a:xfrm>
            <a:off x="285749" y="1243185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61"/>
          <p:cNvSpPr/>
          <p:nvPr/>
        </p:nvSpPr>
        <p:spPr>
          <a:xfrm>
            <a:off x="285749" y="1243185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80" name="Google Shape;880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673" y="1405089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1" name="Google Shape;881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88" y="1423117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61"/>
          <p:cNvSpPr/>
          <p:nvPr/>
        </p:nvSpPr>
        <p:spPr>
          <a:xfrm>
            <a:off x="285749" y="2047943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61"/>
          <p:cNvSpPr/>
          <p:nvPr/>
        </p:nvSpPr>
        <p:spPr>
          <a:xfrm>
            <a:off x="285749" y="2047943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84" name="Google Shape;884;p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7673" y="2209847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5" name="Google Shape;885;p6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6388" y="2227875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61"/>
          <p:cNvSpPr/>
          <p:nvPr/>
        </p:nvSpPr>
        <p:spPr>
          <a:xfrm>
            <a:off x="285749" y="2852700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61"/>
          <p:cNvSpPr/>
          <p:nvPr/>
        </p:nvSpPr>
        <p:spPr>
          <a:xfrm>
            <a:off x="285749" y="2852700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88" name="Google Shape;888;p6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7673" y="3014604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9" name="Google Shape;889;p6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6388" y="3032632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61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400"/>
              <a:t xml:space="preserve">Все примеры в презентации используют учебные данные, что исключает возможность их интерпретации как реальных рыночных результатов.</a:t>
            </a:r>
          </a:p>
        </p:txBody>
      </p:sp>
      <p:sp>
        <p:nvSpPr>
          <p:cNvPr id="895" name="Google Shape;895;p61"/>
          <p:cNvSpPr/>
          <p:nvPr/>
        </p:nvSpPr>
        <p:spPr>
          <a:xfrm>
            <a:off x="1019170" y="1402177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Учебный характер данных</a:t>
            </a:r>
          </a:p>
        </p:txBody>
      </p:sp>
      <p:sp>
        <p:nvSpPr>
          <p:cNvPr id="896" name="Google Shape;896;p61"/>
          <p:cNvSpPr/>
          <p:nvPr/>
        </p:nvSpPr>
        <p:spPr>
          <a:xfrm>
            <a:off x="1019170" y="2218724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Отсутствие реальных компаний</a:t>
            </a:r>
          </a:p>
        </p:txBody>
      </p:sp>
      <p:sp>
        <p:nvSpPr>
          <p:cNvPr id="897" name="Google Shape;897;p61"/>
          <p:cNvSpPr/>
          <p:nvPr/>
        </p:nvSpPr>
        <p:spPr>
          <a:xfrm>
            <a:off x="1019170" y="3024442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Сохранение контекста источника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9" name="Google Shape;429;p4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</a:pPr>
            <a:r>
              <a:rPr lang="en-US" sz="2250"/>
              <a:t xml:space="preserve">Разделение фактов и выводов позволяет аудитории самостоятельно оценивать обоснованность интерпретаций</a:t>
            </a:r>
          </a:p>
        </p:txBody>
      </p:sp>
      <p:sp>
        <p:nvSpPr>
          <p:cNvPr id="430" name="Google Shape;430;p45"/>
          <p:cNvSpPr txBox="1"/>
          <p:nvPr>
            <p:ph idx="1" type="body"/>
          </p:nvPr>
        </p:nvSpPr>
        <p:spPr>
          <a:xfrm>
            <a:off x="1430534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900"/>
              <a:t xml:space="preserve">Наблюдения: фактические цифры и события из таблицы «Пакет данных»</a:t>
            </a:r>
          </a:p>
        </p:txBody>
      </p:sp>
      <p:sp>
        <p:nvSpPr>
          <p:cNvPr id="431" name="Google Shape;431;p4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-US" sz="900"/>
              <a:t xml:space="preserve">Интерпретации: выводы и значения итогов для принятия решений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7" name="Google Shape;417;p44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</a:pPr>
            <a:r>
              <a:rPr lang="en-US" sz="2250"/>
              <a:t xml:space="preserve">Аудитория оценивает прототип и определяет необходимые решения на основе представленных итогов</a:t>
            </a:r>
          </a:p>
        </p:txBody>
      </p:sp>
      <p:sp>
        <p:nvSpPr>
          <p:cNvPr id="418" name="Google Shape;418;p44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en-US"/>
          </a:p>
        </p:txBody>
      </p:sp>
      <p:grpSp>
        <p:nvGrpSpPr>
          <p:cNvPr id="419" name="Google Shape;419;p44"/>
          <p:cNvGrpSpPr/>
          <p:nvPr/>
        </p:nvGrpSpPr>
        <p:grpSpPr>
          <a:xfrm>
            <a:off x="282380" y="3403462"/>
            <a:ext cx="1195387" cy="99124"/>
            <a:chOff x="658813" y="5548708"/>
            <a:chExt cx="2283170" cy="189326"/>
          </a:xfrm>
        </p:grpSpPr>
        <p:sp>
          <p:nvSpPr>
            <p:cNvPr id="420" name="Google Shape;420;p44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4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44"/>
            <p:cNvSpPr/>
            <p:nvPr/>
          </p:nvSpPr>
          <p:spPr>
            <a:xfrm>
              <a:off x="1705735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44"/>
            <p:cNvSpPr/>
            <p:nvPr/>
          </p:nvSpPr>
          <p:spPr>
            <a:xfrm>
              <a:off x="2229196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44"/>
            <p:cNvSpPr/>
            <p:nvPr/>
          </p:nvSpPr>
          <p:spPr>
            <a:xfrm>
              <a:off x="2752657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