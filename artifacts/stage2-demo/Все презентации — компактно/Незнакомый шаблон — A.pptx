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6" r:id="rId17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7" Type="http://schemas.openxmlformats.org/officeDocument/2006/relationships/slide" Target="slides/slide1.xml"/><Relationship Id="rId18" Type="http://schemas.openxmlformats.org/officeDocument/2006/relationships/notesMaster" Target="notesMasters/notesMaster1.xml"/><Relationship Id="rId19" Type="http://schemas.openxmlformats.org/officeDocument/2006/relationships/slide" Target="slides/slide2.xml"/><Relationship Id="rId20" Type="http://schemas.openxmlformats.org/officeDocument/2006/relationships/slide" Target="slides/slide3.xml"/><Relationship Id="rId21" Type="http://schemas.openxmlformats.org/officeDocument/2006/relationships/slide" Target="slides/slide4.xml"/><Relationship Id="rId22" Type="http://schemas.openxmlformats.org/officeDocument/2006/relationships/slide" Target="slides/slide5.xml"/><Relationship Id="rId23" Type="http://schemas.openxmlformats.org/officeDocument/2006/relationships/slide" Target="slides/slide6.xml"/><Relationship Id="rId24" Type="http://schemas.openxmlformats.org/officeDocument/2006/relationships/slide" Target="slides/slide7.xml"/><Relationship Id="rId25" Type="http://schemas.openxmlformats.org/officeDocument/2006/relationships/slide" Target="slides/slide8.xml"/><Relationship Id="rId2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Лиды (факт)</c:v>
                </c:pt>
              </c:strCache>
            </c:strRef>
          </c:tx>
          <c:spPr>
            <a:solidFill>
              <a:srgbClr val="713CDA"/>
            </a:solidFill>
          </c:spPr>
          <c:cat>
            <c:strRef>
              <c:f>Sheet1!$A$2:$A$5</c:f>
              <c:strCache>
                <c:ptCount val="4"/>
                <c:pt idx="0">
                  <c:v>Поиск</c:v>
                </c:pt>
                <c:pt idx="1">
                  <c:v>Социальные сети</c:v>
                </c:pt>
                <c:pt idx="2">
                  <c:v>Партнёры</c:v>
                </c:pt>
                <c:pt idx="3">
                  <c:v>Электронная почта</c:v>
                </c:pt>
              </c:strCache>
            </c:strRef>
          </c:cat>
          <c:val>
            <c:numRef>
              <c:f>Sheet1!$B$2:$B$5</c:f>
              <c:numCache>
                <c:formatCode>#,##0</c:formatCode>
                <c:ptCount val="4"/>
                <c:pt idx="0">
                  <c:v>240.0</c:v>
                </c:pt>
                <c:pt idx="1">
                  <c:v>150.0</c:v>
                </c:pt>
                <c:pt idx="2">
                  <c:v>180.0</c:v>
                </c:pt>
                <c:pt idx="3">
                  <c:v>90.0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Лиды (цель)</c:v>
                </c:pt>
              </c:strCache>
            </c:strRef>
          </c:tx>
          <c:spPr>
            <a:solidFill>
              <a:srgbClr val="291E3E"/>
            </a:solidFill>
          </c:spPr>
          <c:cat>
            <c:strRef>
              <c:f>Sheet1!$A$2:$A$5</c:f>
              <c:strCache>
                <c:ptCount val="4"/>
                <c:pt idx="0">
                  <c:v>Поиск</c:v>
                </c:pt>
                <c:pt idx="1">
                  <c:v>Социальные сети</c:v>
                </c:pt>
                <c:pt idx="2">
                  <c:v>Партнёры</c:v>
                </c:pt>
                <c:pt idx="3">
                  <c:v>Электронная почта</c:v>
                </c:pt>
              </c:strCache>
            </c:strRef>
          </c:cat>
          <c:val>
            <c:numRef>
              <c:f>Sheet1!$C$2:$C$5</c:f>
              <c:numCache>
                <c:formatCode>#,##0</c:formatCode>
                <c:ptCount val="4"/>
                <c:pt idx="0">
                  <c:v>220.0</c:v>
                </c:pt>
                <c:pt idx="1">
                  <c:v>180.0</c:v>
                </c:pt>
                <c:pt idx="2">
                  <c:v>160.0</c:v>
                </c:pt>
                <c:pt idx="3">
                  <c:v>80.0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Канал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DDE3EB"/>
              </a:solidFill>
            </a:ln>
          </c:spPr>
        </c:majorGridlines>
        <c:title>
          <c:tx>
            <c:rich>
              <a:bodyPr/>
              <a:lstStyle/>
              <a:p>
                <a:r>
                  <a:t>Лиды (факт) · Лиды (цель)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>
              <a:latin typeface="Play"/>
            </a:defRPr>
          </a:pPr>
        </a:p>
      </c:txPr>
    </c:legend>
    <c:dispBlanksAs val="gap"/>
  </c:chart>
  <c:txPr>
    <a:bodyPr/>
    <a:lstStyle/>
    <a:p>
      <a:pPr>
        <a:defRPr sz="1200">
          <a:latin typeface="Play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Обращения</c:v>
                </c:pt>
              </c:strCache>
            </c:strRef>
          </c:tx>
          <c:dPt>
            <c:idx val="0"/>
            <c:spPr>
              <a:solidFill>
                <a:srgbClr val="713CDA"/>
              </a:solidFill>
            </c:spPr>
          </c:dPt>
          <c:dPt>
            <c:idx val="1"/>
            <c:spPr>
              <a:solidFill>
                <a:srgbClr val="291E3E"/>
              </a:solidFill>
            </c:spPr>
          </c:dPt>
          <c:dPt>
            <c:idx val="2"/>
            <c:spPr>
              <a:solidFill>
                <a:srgbClr val="9C78E2"/>
              </a:solidFill>
            </c:spPr>
          </c:dPt>
          <c:dLbls>
            <c:dLbl>
              <c:idx val="0"/>
              <c:spPr/>
              <c:txPr>
                <a:bodyPr/>
                <a:lstStyle/>
                <a:p>
                  <a:pPr>
                    <a:defRPr>
                      <a:solidFill>
                        <a:srgbClr val="FFFFFF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/>
              <c:txPr>
                <a:bodyPr/>
                <a:lstStyle/>
                <a:p>
                  <a:pPr>
                    <a:defRPr>
                      <a:solidFill>
                        <a:srgbClr val="FFFFFF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spPr/>
              <c:txPr>
                <a:bodyPr/>
                <a:lstStyle/>
                <a:p>
                  <a:pPr>
                    <a:defRPr>
                      <a:solidFill>
                        <a:srgbClr val="000000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Решено</c:v>
                </c:pt>
                <c:pt idx="1">
                  <c:v>В ожидании</c:v>
                </c:pt>
                <c:pt idx="2">
                  <c:v>На эскалации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620.0</c:v>
                </c:pt>
                <c:pt idx="1">
                  <c:v>250.0</c:v>
                </c:pt>
                <c:pt idx="2">
                  <c:v>130.0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1200">
              <a:latin typeface="Play"/>
            </a:defRPr>
          </a:pPr>
        </a:p>
      </c:txPr>
    </c:legend>
    <c:dispBlanksAs val="gap"/>
  </c:chart>
  <c:txPr>
    <a:bodyPr/>
    <a:lstStyle/>
    <a:p>
      <a:pPr>
        <a:defRPr sz="1200">
          <a:latin typeface="Play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Число наблюдений</c:v>
                </c:pt>
              </c:strCache>
            </c:strRef>
          </c:tx>
          <c:spPr>
            <a:solidFill>
              <a:srgbClr val="713CDA"/>
            </a:solidFill>
          </c:spPr>
          <c:cat>
            <c:strRef>
              <c:f>Sheet1!$A$2:$A$6</c:f>
              <c:strCache>
                <c:ptCount val="5"/>
                <c:pt idx="0">
                  <c:v>[18–33.4)</c:v>
                </c:pt>
                <c:pt idx="1">
                  <c:v>[33.4–48.8)</c:v>
                </c:pt>
                <c:pt idx="2">
                  <c:v>[48.8–64.2)</c:v>
                </c:pt>
                <c:pt idx="3">
                  <c:v>[64.2–79.6)</c:v>
                </c:pt>
                <c:pt idx="4">
                  <c:v>[79.6–95]</c:v>
                </c:pt>
              </c:strCache>
            </c:strRef>
          </c:cat>
          <c:val>
            <c:numRef>
              <c:f>Sheet1!$B$2:$B$6</c:f>
              <c:numCache>
                <c:formatCode>#,##0</c:formatCode>
                <c:ptCount val="5"/>
                <c:pt idx="0">
                  <c:v>24.0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Значение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DDE3EB"/>
              </a:solidFill>
            </a:ln>
          </c:spPr>
        </c:majorGridlines>
        <c:title>
          <c:tx>
            <c:rich>
              <a:bodyPr/>
              <a:lstStyle/>
              <a:p>
                <a:r>
                  <a:t>Число наблюдений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>
              <a:latin typeface="Play"/>
            </a:defRPr>
          </a:pPr>
        </a:p>
      </c:txPr>
    </c:legend>
    <c:dispBlanksAs val="gap"/>
  </c:chart>
  <c:txPr>
    <a:bodyPr/>
    <a:lstStyle/>
    <a:p>
      <a:pPr>
        <a:defRPr sz="1200">
          <a:latin typeface="Play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Запросы</c:v>
                </c:pt>
              </c:strCache>
            </c:strRef>
          </c:tx>
          <c:spPr>
            <a:solidFill>
              <a:srgbClr val="713CDA"/>
            </a:solidFill>
          </c:spPr>
          <c:cat>
            <c:strRef>
              <c:f>Sheet1!$A$2:$A$4</c:f>
              <c:strCache>
                <c:ptCount val="3"/>
                <c:pt idx="0">
                  <c:v>Север</c:v>
                </c:pt>
                <c:pt idx="1">
                  <c:v>Центр</c:v>
                </c:pt>
                <c:pt idx="2">
                  <c:v>Юг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120.0</c:v>
                </c:pt>
                <c:pt idx="1">
                  <c:v>95.0</c:v>
                </c:pt>
                <c:pt idx="2">
                  <c:v>75.0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Регион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6350">
              <a:solidFill>
                <a:srgbClr val="DDE3EB"/>
              </a:solidFill>
            </a:ln>
          </c:spPr>
        </c:majorGridlines>
        <c:title>
          <c:tx>
            <c:rich>
              <a:bodyPr/>
              <a:lstStyle/>
              <a:p>
                <a:r>
                  <a:t>Запросы, шт.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>
              <a:latin typeface="Play"/>
            </a:defRPr>
          </a:pPr>
        </a:p>
      </c:txPr>
    </c:legend>
    <c:dispBlanksAs val="gap"/>
  </c:chart>
  <c:txPr>
    <a:bodyPr/>
    <a:lstStyle/>
    <a:p>
      <a:pPr>
        <a:defRPr sz="1200">
          <a:latin typeface="Play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Выручка</c:v>
                </c:pt>
              </c:strCache>
            </c:strRef>
          </c:tx>
          <c:spPr>
            <a:solidFill>
              <a:srgbClr val="713CDA"/>
            </a:solidFill>
            <a:ln>
              <a:solidFill>
                <a:srgbClr val="713CDA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2026-01</c:v>
                </c:pt>
                <c:pt idx="1">
                  <c:v>2026-02</c:v>
                </c:pt>
                <c:pt idx="2">
                  <c:v>2026-03</c:v>
                </c:pt>
                <c:pt idx="3">
                  <c:v>2026-04</c:v>
                </c:pt>
                <c:pt idx="4">
                  <c:v>2026-05</c:v>
                </c:pt>
                <c:pt idx="5">
                  <c:v>2026-06</c:v>
                </c:pt>
              </c:strCache>
            </c:strRef>
          </c:cat>
          <c:val>
            <c:numRef>
              <c:f>Sheet1!$B$2:$B$7</c:f>
              <c:numCache>
                <c:formatCode>#,##0</c:formatCode>
                <c:ptCount val="6"/>
                <c:pt idx="0">
                  <c:v>120000.0</c:v>
                </c:pt>
                <c:pt idx="1">
                  <c:v>126000.0</c:v>
                </c:pt>
                <c:pt idx="2">
                  <c:v>123000.0</c:v>
                </c:pt>
                <c:pt idx="3">
                  <c:v>135000.0</c:v>
                </c:pt>
                <c:pt idx="4">
                  <c:v>141000.0</c:v>
                </c:pt>
                <c:pt idx="5">
                  <c:v>156000.0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Период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DDE3EB"/>
              </a:solidFill>
            </a:ln>
          </c:spPr>
        </c:majorGridlines>
        <c:title>
          <c:tx>
            <c:rich>
              <a:bodyPr/>
              <a:lstStyle/>
              <a:p>
                <a:r>
                  <a:t>Выручка, USD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>
              <a:latin typeface="Play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Play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Добро пожаловать. Сегодня мы обсудим итоги учебного пилота и определим следующие шаги.</a:t>
            </a:r>
          </a:p>
          <a:p>
            <a:r>
              <a:t>Политика автоматического контекстного аудита: {"mode": "automatic", "contextual_policy": "all_main_and_first_last_reference_pages_per_dataset", "deterministic_policy": "all_scenes", "deterministic_slide_ids": ["s1", "s2", "s3", "s4", "s5", "s6", "s7", "s8", "s9", "s10", "s11", "s12", "s13", "s14", "s15", "s16", "s17", "s18", "s19", "s20", "s21", "s22", "s23", "s24", "s25", "s26", "s27", "s28", "s29", "s30", "s31", "s32", "s33", "s34", "s35", "s36", "s37", "s38", "s39", "s40"], "contextual_slide_ids": ["s1", "s2", "s3", "s4", "s5", "s6", "s7", "s8", "s9", "s10", "s11", "s12", "s40"], "contextual_skipped_slide_ids": ["s13", "s14", "s15", "s16", "s17", "s18", "s19", "s20", "s21", "s22", "s23", "s24", "s25", "s26", "s27", "s28", "s29", "s30", "s31", "s32", "s33", "s34", "s35", "s36", "s37", "s38", "s39"], "deck_level_contextual_scope": "same_selected_slides", "manual_contextual_policy": "all_scenes", "not_run_reason": null}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Источник: category_comparison.csv · 4 исходных строк. Расчёт: max(actual_leads) = 240; совпадений максимума: 1; без суммирования категорий. Сопоставление рядов внутри каждой категории; значения не суммировались.. Данные: 0f3664992f7f3ba37fb32ad060f098bdad697af085c9f3c4fd2d9aaf5d20e064; SHA-256: 1b8306279ba7a59d13cf3e1ace73ff0665a4cb9a20cb8159d9fadffa983cad5d.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Источник: category_shares.json · 3 исходных строк. Расчёт: 620 / 1000 × 100 = 62.00% (округлено до 2 знаков); знаменатель — сумма показанных значений.. Данные: 46d12a475c2e6a7916a2af73f3d4bde93bab9c14f6e1af9c32eaa269ff4f8034; SHA-256: 958e61881f379dba570806f1f0dbe558403f12b47404963ee94b5ca66175a760.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Источник: distribution.csv · 25 исходных строк. Расчёт: min(value) = 18; max(value) = 95; n = 25. Freedman–Diaconis, ограничение читаемости min(8, ceil(sqrt(n))); 5 равных интервалов; подписи границ до 4 значащих цифр, при совпадении — полная точность; сумма частот = 25; n = 25.. Данные: 84b11d9a0857b181fc55a3e3ebc961f5340eb0be37af16fcaf5ce2d32c8b91c7; SHA-256: fb86dcad3232d0f8dc5ab8eecc4c4276fb9303665b827b6d5f365b6f3e4aa793.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Источник: embedded_table.md · # Regional service snapshot · Source: synthetic test data. Units: requests and resolved requests, counts for April 2026. · 3 исходных строк. Расчёт: max(Requests) = 120; совпадений максимума: 1; без суммирования категорий.. Данные: 735bdc5cb146877cadeab47f182744b1157e011833283fe3cc40b7f68003efc3; SHA-256: 4bda1b7852b68289daae9a5b85b93818aa2b298f8a185697ed2864d929ba241a.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Источник: missing_zero.csv · 4 исходных строк. Расчёт: Исходные строки без агрегации; показано 4 из 4. Данные: 9f0ba4567b42cf421c1d6ee0bc54b9dcdf61f99f3bb55bea1e86103d08339142; SHA-256: d9939d5f76ca2a726e94d4829a4445559226171c3ffc50b9390a8489591773d0.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Источник: reference_201.csv · 201 исходных строк. Расчёт: Исходные строки без агрегации; показано 7 из 201.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Источник: time_series.xlsx · лист «Monthly revenue» · 6 исходных строк. Расчёт: revenue_usd: последнее − первое = 156000 − 120000 = +36000 USD; без агрегации. Относительное изменение = (+36000) / 120000 × 100 = +30.00%.. Данные: b721d5d52b33eba845062116b253a2e43014c2db40da3f5b25967306e9b782a4; SHA-256: f182812cd77a6e7ca2d2881c980b5bc070a9c67d5f6f210226bc92a785fed4c0.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Спасибо за внимание. Я готов ответить на ваши вопросы и обсудить следующие шаги.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1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chart" Target="../charts/chart1.xml"/><Relationship Id="rId4" Type="http://schemas.openxmlformats.org/officeDocument/2006/relationships/notesSlide" Target="../notesSlides/notesSlide2.xml"/><Relationship Id="rId5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chart" Target="../charts/chart2.xml"/><Relationship Id="rId4" Type="http://schemas.openxmlformats.org/officeDocument/2006/relationships/notesSlide" Target="../notesSlides/notesSlide3.xml"/><Relationship Id="rId5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chart" Target="../charts/chart3.xml"/><Relationship Id="rId4" Type="http://schemas.openxmlformats.org/officeDocument/2006/relationships/notesSlide" Target="../notesSlides/notesSlide4.xml"/><Relationship Id="rId5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chart" Target="../charts/chart4.xml"/><Relationship Id="rId4" Type="http://schemas.openxmlformats.org/officeDocument/2006/relationships/notesSlide" Target="../notesSlides/notesSlide5.xml"/><Relationship Id="rId5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Relationship Id="rId4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chart" Target="../charts/chart5.xml"/><Relationship Id="rId4" Type="http://schemas.openxmlformats.org/officeDocument/2006/relationships/notesSlide" Target="../notesSlides/notesSlide8.xml"/><Relationship Id="rId5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VoiceDeck 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731501" y="411480"/>
            <a:ext cx="9570481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2032"/>
                </a:solidFill>
                <a:latin typeface="Play"/>
              </a:rPr>
              <a:t>Итоги учебного пилота: от наблюдений к решениям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169" y="1920240"/>
            <a:ext cx="975335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62032"/>
                </a:solidFill>
                <a:latin typeface="Play"/>
              </a:rPr>
              <a:t>Мы собрались, чтобы обсудить результаты учебного пилота и определить следующие шаги. Все значения в пилоте являются синтетическими.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40780"/>
            <a:ext cx="12191695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</a:p>
        </p:txBody>
      </p:sp>
      <p:sp>
        <p:nvSpPr>
          <p:cNvPr id="5" name="TextBox 4"/>
          <p:cNvSpPr txBox="1"/>
          <p:nvPr/>
        </p:nvSpPr>
        <p:spPr>
          <a:xfrm>
            <a:off x="487667" y="6343650"/>
            <a:ext cx="11216359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Бриф: Итоги учебного пилота. Все значения синтетические.</a:t>
            </a:r>
          </a:p>
        </p:txBody>
      </p:sp>
      <p:pic>
        <p:nvPicPr>
          <p:cNvPr id="6" name="Picture 5" descr="local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4857" y="293373"/>
            <a:ext cx="1219169" cy="3047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VoiceDeck 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731502" y="2057400"/>
          <a:ext cx="10728692" cy="3977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31501" y="411480"/>
            <a:ext cx="9570481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2032"/>
                </a:solidFill>
                <a:latin typeface="Play"/>
              </a:rPr>
              <a:t>Лиды (факт): максимум 240 — «Поиск»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01" y="1405890"/>
            <a:ext cx="10728691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2032"/>
                </a:solidFill>
                <a:latin typeface="Play"/>
              </a:rPr>
              <a:t>Среди 4 полных наблюдений по полю «Лиды (факт)» максимальное значение 240: «Поиск».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40780"/>
            <a:ext cx="12191695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</a:p>
        </p:txBody>
      </p:sp>
      <p:sp>
        <p:nvSpPr>
          <p:cNvPr id="6" name="TextBox 5"/>
          <p:cNvSpPr txBox="1"/>
          <p:nvPr/>
        </p:nvSpPr>
        <p:spPr>
          <a:xfrm>
            <a:off x="487667" y="6343650"/>
            <a:ext cx="11216359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category_comparison.csv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4 из 4 строк; исключено: 0.</a:t>
            </a:r>
          </a:p>
        </p:txBody>
      </p:sp>
      <p:pic>
        <p:nvPicPr>
          <p:cNvPr id="7" name="Picture 6" descr="local-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84857" y="293373"/>
            <a:ext cx="1219169" cy="3047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VoiceDeck 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731502" y="2057400"/>
          <a:ext cx="10728692" cy="3977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31501" y="411480"/>
            <a:ext cx="9570481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2032"/>
                </a:solidFill>
                <a:latin typeface="Play"/>
              </a:rPr>
              <a:t>Обращения: «Решено» — 62.00% показанной суммы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01" y="1405890"/>
            <a:ext cx="10728691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2032"/>
                </a:solidFill>
                <a:latin typeface="Play"/>
              </a:rPr>
              <a:t>Максимальная доля: «Решено», 620 из 1000 (62.00%, округлено до 2 знаков). Доли относятся только к показанным строкам. Структура показанной суммы: «Решено»: 62.00%; «В ожидании»: 25.00%; «На эскалации»: 13.00%.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40780"/>
            <a:ext cx="12191695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</a:p>
        </p:txBody>
      </p:sp>
      <p:sp>
        <p:nvSpPr>
          <p:cNvPr id="6" name="TextBox 5"/>
          <p:cNvSpPr txBox="1"/>
          <p:nvPr/>
        </p:nvSpPr>
        <p:spPr>
          <a:xfrm>
            <a:off x="487667" y="6343650"/>
            <a:ext cx="11216359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category_shares.json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3 из 3 строк; исключено: 0.</a:t>
            </a:r>
          </a:p>
        </p:txBody>
      </p:sp>
      <p:pic>
        <p:nvPicPr>
          <p:cNvPr id="7" name="Picture 6" descr="local-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84857" y="293373"/>
            <a:ext cx="1219169" cy="3047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VoiceDeck 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731502" y="2057400"/>
          <a:ext cx="10728692" cy="3977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31501" y="411480"/>
            <a:ext cx="9570481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2032"/>
                </a:solidFill>
                <a:latin typeface="Play"/>
              </a:rPr>
              <a:t>Распределение Значение: от 18 до 95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01" y="1405890"/>
            <a:ext cx="10728691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2032"/>
                </a:solidFill>
                <a:latin typeface="Play"/>
              </a:rPr>
              <a:t>25 полных наблюдений Значение: минимум 18, максимум 95; все наблюдения, включая выбросы, сохранены.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40780"/>
            <a:ext cx="12191695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</a:p>
        </p:txBody>
      </p:sp>
      <p:sp>
        <p:nvSpPr>
          <p:cNvPr id="6" name="TextBox 5"/>
          <p:cNvSpPr txBox="1"/>
          <p:nvPr/>
        </p:nvSpPr>
        <p:spPr>
          <a:xfrm>
            <a:off x="487667" y="6343650"/>
            <a:ext cx="11216359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distribution.csv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25 из 25 строк; исключено: 0.</a:t>
            </a:r>
          </a:p>
        </p:txBody>
      </p:sp>
      <p:pic>
        <p:nvPicPr>
          <p:cNvPr id="7" name="Picture 6" descr="local-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84857" y="293373"/>
            <a:ext cx="1219169" cy="3047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VoiceDeck 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731502" y="2057400"/>
          <a:ext cx="10728692" cy="3977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31501" y="411480"/>
            <a:ext cx="9570481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2032"/>
                </a:solidFill>
                <a:latin typeface="Play"/>
              </a:rPr>
              <a:t>Запросы: максимум 120 — «Север»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01" y="1405890"/>
            <a:ext cx="10728691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2032"/>
                </a:solidFill>
                <a:latin typeface="Play"/>
              </a:rPr>
              <a:t>Среди 3 полных наблюдений по полю «Запросы» максимальное значение 120: «Север».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40780"/>
            <a:ext cx="12191695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</a:p>
        </p:txBody>
      </p:sp>
      <p:sp>
        <p:nvSpPr>
          <p:cNvPr id="6" name="TextBox 5"/>
          <p:cNvSpPr txBox="1"/>
          <p:nvPr/>
        </p:nvSpPr>
        <p:spPr>
          <a:xfrm>
            <a:off x="487667" y="6343650"/>
            <a:ext cx="11216359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embedded_table.md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3 из 3 строк; исключено: 0.</a:t>
            </a:r>
          </a:p>
        </p:txBody>
      </p:sp>
      <p:pic>
        <p:nvPicPr>
          <p:cNvPr id="7" name="Picture 6" descr="local-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84857" y="293373"/>
            <a:ext cx="1219169" cy="3047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VoiceDeck 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31502" y="2057400"/>
          <a:ext cx="1072869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73"/>
                <a:gridCol w="2682173"/>
                <a:gridCol w="2682173"/>
                <a:gridCol w="2682173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Период</a:t>
                      </a:r>
                    </a:p>
                  </a:txBody>
                  <a:tcPr>
                    <a:solidFill>
                      <a:srgbClr val="713C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Количество (факт)</a:t>
                      </a:r>
                    </a:p>
                  </a:txBody>
                  <a:tcPr>
                    <a:solidFill>
                      <a:srgbClr val="713C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Количество (план)</a:t>
                      </a:r>
                    </a:p>
                  </a:txBody>
                  <a:tcPr>
                    <a:solidFill>
                      <a:srgbClr val="713C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Примечание</a:t>
                      </a:r>
                    </a:p>
                  </a:txBody>
                  <a:tcPr>
                    <a:solidFill>
                      <a:srgbClr val="713CD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Неделя 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Наблюдаемое нулевое значение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Неделя 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/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12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Факт отсутствует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Неделя 3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8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/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План отсутствует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Неделя 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10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Фактическое значение равно нулю</a:t>
                      </a: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31501" y="411480"/>
            <a:ext cx="9570481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2032"/>
                </a:solidFill>
                <a:latin typeface="Play"/>
              </a:rPr>
              <a:t>Ноль — значение, пропуск — отсутствие данных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01" y="1405890"/>
            <a:ext cx="10728691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2032"/>
                </a:solidFill>
                <a:latin typeface="Play"/>
              </a:rPr>
              <a:t>Показаны все 4 строки. Пустые ячейки не заменены нулями.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40780"/>
            <a:ext cx="12191695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</a:p>
        </p:txBody>
      </p:sp>
      <p:sp>
        <p:nvSpPr>
          <p:cNvPr id="6" name="TextBox 5"/>
          <p:cNvSpPr txBox="1"/>
          <p:nvPr/>
        </p:nvSpPr>
        <p:spPr>
          <a:xfrm>
            <a:off x="487667" y="6343650"/>
            <a:ext cx="11216359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missing_zero.csv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На слайде 4 из 4 строк. Строки источника: 2, 3, 4, 5.</a:t>
            </a:r>
          </a:p>
        </p:txBody>
      </p:sp>
      <p:pic>
        <p:nvPicPr>
          <p:cNvPr id="7" name="Picture 6" descr="local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4857" y="293373"/>
            <a:ext cx="1219169" cy="3047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VoiceDeck 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31502" y="2057400"/>
          <a:ext cx="1072869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4346"/>
                <a:gridCol w="5364346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713C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713CD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REF-001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001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REF-002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002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REF-003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003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REF-004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004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REF-005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005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REF-006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006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REF-007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Запись справочника 007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31501" y="411480"/>
            <a:ext cx="9570481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2032"/>
                </a:solidFill>
                <a:latin typeface="Play"/>
              </a:rPr>
              <a:t>Фрагмент таблицы · 7 из 201 строк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01" y="1405890"/>
            <a:ext cx="10728691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2032"/>
                </a:solidFill>
                <a:latin typeface="Play"/>
              </a:rPr>
              <a:t>Первые 7 строк, не репрезентативная выборка. Все 201: HTML → «Источники» или приложенный архив исходников.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40780"/>
            <a:ext cx="12191695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</a:p>
        </p:txBody>
      </p:sp>
      <p:sp>
        <p:nvSpPr>
          <p:cNvPr id="6" name="TextBox 5"/>
          <p:cNvSpPr txBox="1"/>
          <p:nvPr/>
        </p:nvSpPr>
        <p:spPr>
          <a:xfrm>
            <a:off x="487667" y="6343650"/>
            <a:ext cx="11216359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На слайде 7 из 201 строк; не репрезентативная выборка. Все строки: HTML → «Источники» / архив исходников.</a:t>
            </a:r>
          </a:p>
        </p:txBody>
      </p:sp>
      <p:pic>
        <p:nvPicPr>
          <p:cNvPr id="7" name="Picture 6" descr="local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4857" y="293373"/>
            <a:ext cx="1219169" cy="3047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VoiceDeck 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731502" y="2057400"/>
          <a:ext cx="10728692" cy="3977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31501" y="411480"/>
            <a:ext cx="9570481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2032"/>
                </a:solidFill>
                <a:latin typeface="Play"/>
              </a:rPr>
              <a:t>Выручка: +36000 USD между 2026-01 и 2026-06 (+30.00%)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01" y="1405890"/>
            <a:ext cx="10728691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62032"/>
                </a:solidFill>
                <a:latin typeface="Play"/>
              </a:rPr>
              <a:t>Выручка: от 120000 USD (2026-01) до 156000 USD (2026-06); изменение между крайними наблюдениями +36000 USD. Промежуточные значения могут колебаться. Относительно первого наблюдения: +30.00% (округлено до 2 знаков).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40780"/>
            <a:ext cx="12191695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</a:p>
        </p:txBody>
      </p:sp>
      <p:sp>
        <p:nvSpPr>
          <p:cNvPr id="6" name="TextBox 5"/>
          <p:cNvSpPr txBox="1"/>
          <p:nvPr/>
        </p:nvSpPr>
        <p:spPr>
          <a:xfrm>
            <a:off x="487667" y="6343650"/>
            <a:ext cx="11216359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Источник: time_series.xlsx · лист «Monthly revenue»</a:t>
            </a:r>
          </a:p>
          <a:p>
            <a:r>
              <a:rPr sz="800" b="0">
                <a:solidFill>
                  <a:srgbClr val="333333"/>
                </a:solidFill>
                <a:latin typeface="Play"/>
              </a:rPr>
              <a:t>Охват: 6 из 6 строк; исключено: 0.</a:t>
            </a:r>
          </a:p>
        </p:txBody>
      </p:sp>
      <p:pic>
        <p:nvPicPr>
          <p:cNvPr id="7" name="Picture 6" descr="local-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84857" y="293373"/>
            <a:ext cx="1219169" cy="3047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VoiceDeck 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731501" y="411480"/>
            <a:ext cx="9570481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2032"/>
                </a:solidFill>
                <a:latin typeface="Play"/>
              </a:rPr>
              <a:t>Готовы к обсуждению решений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169" y="1920240"/>
            <a:ext cx="975335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62032"/>
                </a:solidFill>
                <a:latin typeface="Play"/>
              </a:rPr>
              <a:t>Пожалуйста, задайте вопросы по готовым слайдам и предложите следующие шаги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40780"/>
            <a:ext cx="12191695" cy="6172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</a:p>
        </p:txBody>
      </p:sp>
      <p:sp>
        <p:nvSpPr>
          <p:cNvPr id="5" name="TextBox 4"/>
          <p:cNvSpPr txBox="1"/>
          <p:nvPr/>
        </p:nvSpPr>
        <p:spPr>
          <a:xfrm>
            <a:off x="487667" y="6343650"/>
            <a:ext cx="11216359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333333"/>
                </a:solidFill>
                <a:latin typeface="Play"/>
              </a:rPr>
              <a:t>Бриф: какие решения нужны и следующие шаги.</a:t>
            </a:r>
          </a:p>
        </p:txBody>
      </p:sp>
      <p:pic>
        <p:nvPicPr>
          <p:cNvPr id="6" name="Picture 5" descr="local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4857" y="293373"/>
            <a:ext cx="1219169" cy="3047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