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00E9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E9FF"/>
              </a:solidFill>
            </c:spPr>
          </c:dPt>
          <c:dPt>
            <c:idx val="2"/>
            <c:spPr>
              <a:solidFill>
                <a:srgbClr val="70C3FF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показываем, как работает прототип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Исходные строки без агрегации; показано 4 из 4.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Исходные строки без агрегации; показано 7 из 201.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Основной принцип работы прототипа — прозрачность и честность в отношении источника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демонстрации нам нужна ваша обратная связь для планирования следующих этапов.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 за время. Открыты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chart" Target="../charts/chart4.xml"/><Relationship Id="rId6" Type="http://schemas.openxmlformats.org/officeDocument/2006/relationships/notesSlide" Target="../notesSlides/notesSlide3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6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3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4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2950"/>
              <a:t xml:space="preserve">Прототип демонстрирует аналитику на синтетических данных, чётко разделяя наблюдения от интерпретаций и сохраняя оговорки источника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2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 xml:space="preserve">Прототип показывает, как отделять наблюдения от интерпретаций и сохранять оговорки источника.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Данные синтетические, не являются реальными рыночными результатами.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Лиды (факт): максимум 240 — «Поиск»</a:t>
            </a:r>
          </a:p>
        </p:txBody>
      </p:sp>
      <p:graphicFrame>
        <p:nvGraphicFramePr>
          <p:cNvPr id="475" name="Chart 474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6" name="Rectangle 47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category_comparison.csv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0" name="Google Shape;510;p2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Обращения: «Решено» — 62.00% показанной суммы</a:t>
            </a:r>
          </a:p>
        </p:txBody>
      </p:sp>
      <p:graphicFrame>
        <p:nvGraphicFramePr>
          <p:cNvPr id="541" name="Chart 540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42" name="Rectangle 54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category_shares.json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5" name="Google Shape;565;p2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graphicFrame>
        <p:nvGraphicFramePr>
          <p:cNvPr id="566" name="Chart 565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67" name="Rectangle 56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distribution.csv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3" name="Google Shape;613;p2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Запросы: максимум 120 — «Север»</a:t>
            </a:r>
          </a:p>
        </p:txBody>
      </p:sp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0" name="Chart 639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641" name="Rectangle 64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embedded_table.md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Ноль — значение, пропуск — отсутствие данных</a:t>
            </a:r>
          </a:p>
        </p:txBody>
      </p:sp>
      <p:sp>
        <p:nvSpPr>
          <p:cNvPr id="684" name="Google Shape;684;p31"/>
          <p:cNvSpPr/>
          <p:nvPr/>
        </p:nvSpPr>
        <p:spPr>
          <a:xfrm>
            <a:off x="423103" y="5533764"/>
            <a:ext cx="6565676" cy="395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Показаны все 4 строки. Пустые ячейки не заменены нулями.</a:t>
            </a:r>
          </a:p>
        </p:txBody>
      </p:sp>
      <p:graphicFrame>
        <p:nvGraphicFramePr>
          <p:cNvPr id="685" name="Table 684"/>
          <p:cNvGraphicFramePr>
            <a:graphicFrameLocks noGrp="1"/>
          </p:cNvGraphicFramePr>
          <p:nvPr/>
        </p:nvGraphicFramePr>
        <p:xfrm>
          <a:off x="427939" y="1729423"/>
          <a:ext cx="1133490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725"/>
                <a:gridCol w="2833725"/>
                <a:gridCol w="2833725"/>
                <a:gridCol w="283372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86" name="Rectangle 68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missing_zero.csv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На слайде 4 из 4 строк. Строки источника: 2, 3, 4,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2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Фрагмент таблицы · 7 из 201 строк</a:t>
            </a:r>
          </a:p>
        </p:txBody>
      </p:sp>
      <p:sp>
        <p:nvSpPr>
          <p:cNvPr id="436" name="Google Shape;436;p20"/>
          <p:cNvSpPr/>
          <p:nvPr/>
        </p:nvSpPr>
        <p:spPr>
          <a:xfrm>
            <a:off x="5916189" y="1442224"/>
            <a:ext cx="5782981" cy="496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Первые 7 строк, не репрезентативная выборка. Все 201: HTML → «Источники» или приложенный архив исходников.</a:t>
            </a:r>
          </a:p>
        </p:txBody>
      </p:sp>
      <p:graphicFrame>
        <p:nvGraphicFramePr>
          <p:cNvPr id="437" name="Table 436"/>
          <p:cNvGraphicFramePr>
            <a:graphicFrameLocks noGrp="1"/>
          </p:cNvGraphicFramePr>
          <p:nvPr/>
        </p:nvGraphicFramePr>
        <p:xfrm>
          <a:off x="4249646" y="1939164"/>
          <a:ext cx="7513196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598"/>
                <a:gridCol w="3756598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38" name="Rectangle 43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На слайде 7 из 201 строк; не репрезентативная выборка. Все строки: HTML → «Источники» / архив исходников.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5" name="Google Shape;775;p3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Выручка: +36000 USD между 2026-01 и 2026-06 (+30.00%)</a:t>
            </a:r>
          </a:p>
        </p:txBody>
      </p:sp>
      <p:graphicFrame>
        <p:nvGraphicFramePr>
          <p:cNvPr id="776" name="Chart 775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77" name="Rectangle 77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TextBox 77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time_series.xlsx · лист «Monthly revenue»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6" name="Google Shape;756;p38"/>
          <p:cNvSpPr txBox="1"/>
          <p:nvPr/>
        </p:nvSpPr>
        <p:spPr>
          <a:xfrm>
            <a:off x="6559297" y="976912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Наблюдения и интерпретации представлены отдельно</a:t>
            </a:r>
          </a:p>
        </p:txBody>
      </p:sp>
      <p:sp>
        <p:nvSpPr>
          <p:cNvPr id="757" name="Google Shape;757;p38"/>
          <p:cNvSpPr/>
          <p:nvPr/>
        </p:nvSpPr>
        <p:spPr>
          <a:xfrm>
            <a:off x="5759521" y="976749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8"/>
          <p:cNvSpPr txBox="1"/>
          <p:nvPr/>
        </p:nvSpPr>
        <p:spPr>
          <a:xfrm>
            <a:off x="6559297" y="235719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Периоды, единицы и оговорки источника фиксируются</a:t>
            </a:r>
          </a:p>
        </p:txBody>
      </p:sp>
      <p:sp>
        <p:nvSpPr>
          <p:cNvPr id="759" name="Google Shape;759;p38"/>
          <p:cNvSpPr/>
          <p:nvPr/>
        </p:nvSpPr>
        <p:spPr>
          <a:xfrm>
            <a:off x="5759521" y="235702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8"/>
          <p:cNvSpPr txBox="1"/>
          <p:nvPr/>
        </p:nvSpPr>
        <p:spPr>
          <a:xfrm>
            <a:off x="6559297" y="373747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Синтетические примеры не выдаются за реальные компании</a:t>
            </a:r>
          </a:p>
        </p:txBody>
      </p:sp>
      <p:sp>
        <p:nvSpPr>
          <p:cNvPr id="761" name="Google Shape;761;p38"/>
          <p:cNvSpPr/>
          <p:nvPr/>
        </p:nvSpPr>
        <p:spPr>
          <a:xfrm>
            <a:off x="5759521" y="373730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536" y="115676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536" y="253578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9536" y="391272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38"/>
          <p:cNvSpPr txBox="1"/>
          <p:nvPr>
            <p:ph type="title"/>
          </p:nvPr>
        </p:nvSpPr>
        <p:spPr>
          <a:xfrm>
            <a:off x="429253" y="2327310"/>
            <a:ext cx="449922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Разделение фактов и выводов обеспечивает прозрачную логику для принятия решений</a:t>
            </a:r>
          </a:p>
        </p:txBody>
      </p:sp>
      <p:sp>
        <p:nvSpPr>
          <p:cNvPr id="769" name="Google Shape;769;p38"/>
          <p:cNvSpPr/>
          <p:nvPr/>
        </p:nvSpPr>
        <p:spPr>
          <a:xfrm>
            <a:off x="431328" y="3528845"/>
            <a:ext cx="44971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Прозрачная логика критична для принятия обоснованных решений.</a:t>
            </a:r>
          </a:p>
        </p:txBody>
      </p:sp>
      <p:sp>
        <p:nvSpPr>
          <p:cNvPr id="770" name="Rectangle 76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Синтетические учебные данные.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8" name="Google Shape;388;p18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Определение влияния выводов на текущие рабочие процессы</a:t>
            </a:r>
          </a:p>
        </p:txBody>
      </p:sp>
      <p:sp>
        <p:nvSpPr>
          <p:cNvPr id="389" name="Google Shape;389;p18"/>
          <p:cNvSpPr txBox="1"/>
          <p:nvPr/>
        </p:nvSpPr>
        <p:spPr>
          <a:xfrm>
            <a:off x="4909649" y="1016001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390" name="Google Shape;390;p18"/>
          <p:cNvSpPr txBox="1"/>
          <p:nvPr/>
        </p:nvSpPr>
        <p:spPr>
          <a:xfrm>
            <a:off x="4909649" y="2088056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391" name="Google Shape;391;p18"/>
          <p:cNvSpPr txBox="1"/>
          <p:nvPr/>
        </p:nvSpPr>
        <p:spPr>
          <a:xfrm>
            <a:off x="4909649" y="3160111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394" name="Google Shape;394;p18"/>
          <p:cNvSpPr txBox="1"/>
          <p:nvPr/>
        </p:nvSpPr>
        <p:spPr>
          <a:xfrm>
            <a:off x="6793020" y="1016001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Оценка прототипа</a:t>
            </a:r>
          </a:p>
        </p:txBody>
      </p:sp>
      <p:sp>
        <p:nvSpPr>
          <p:cNvPr id="395" name="Google Shape;395;p18"/>
          <p:cNvSpPr txBox="1"/>
          <p:nvPr/>
        </p:nvSpPr>
        <p:spPr>
          <a:xfrm>
            <a:off x="6793020" y="2088056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Обратная связь</a:t>
            </a:r>
          </a:p>
        </p:txBody>
      </p:sp>
      <p:sp>
        <p:nvSpPr>
          <p:cNvPr id="396" name="Google Shape;396;p18"/>
          <p:cNvSpPr txBox="1"/>
          <p:nvPr/>
        </p:nvSpPr>
        <p:spPr>
          <a:xfrm>
            <a:off x="6793020" y="3160111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Планирование внедрения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Демонстрационный сценарий.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2950"/>
              <a:t xml:space="preserve">Благодарим за внимание и готовы ответить на все вопросы о возможностях прототипа.</a:t>
            </a:r>
          </a:p>
        </p:txBody>
      </p:sp>
      <p:sp>
        <p:nvSpPr>
          <p:cNvPr id="875" name="Rectangle 87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TextBox 87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Конец презентации.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