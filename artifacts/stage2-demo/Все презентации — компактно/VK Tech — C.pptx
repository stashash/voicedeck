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Relationship Id="rId72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1E2D3E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1E2D3E"/>
              </a:solidFill>
            </c:spPr>
          </c:dPt>
          <c:dPt>
            <c:idx val="2"/>
            <c:spPr>
              <a:solidFill>
                <a:srgbClr val="3F5F83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покажем, как работает процесс анализа данных и подготовки слайдов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Исходные строки без агрегации; показано 4 из 4.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Исходные строки без агрегации; показано 7 из 201.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подчеркнуть, что мы работаем с учебным материалом, чтобы избежать неверных выводов о реальных бизнес-процессах.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Четкое разделение этих двух категорий помогает избежать смешения фактов с субъективными оценками.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готовы обсудить, какие решения нужны и каковы следующие шаги в работе с аналитикой.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2.xml"/><Relationship Id="rId8" Type="http://schemas.openxmlformats.org/officeDocument/2006/relationships/notesSlide" Target="../notesSlides/notesSlide5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3.xml"/><Relationship Id="rId8" Type="http://schemas.openxmlformats.org/officeDocument/2006/relationships/notesSlide" Target="../notesSlides/notesSlide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4.xml"/><Relationship Id="rId8" Type="http://schemas.openxmlformats.org/officeDocument/2006/relationships/notesSlide" Target="../notesSlides/notesSlide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chart" Target="../charts/chart5.xml"/><Relationship Id="rId5" Type="http://schemas.openxmlformats.org/officeDocument/2006/relationships/notesSlide" Target="../notesSlides/notesSlide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7" name="Google Shape;447;p4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 sz="1750"/>
              <a:t xml:space="preserve">Прототип превращает синтетические учебные данные в структурированные выводы, четко разделяя наблюдения и интерпретации</a:t>
            </a:r>
          </a:p>
        </p:txBody>
      </p:sp>
      <p:sp>
        <p:nvSpPr>
          <p:cNvPr id="448" name="Google Shape;448;p4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7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Лиды (факт): максимум 240 — «Поиск»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category_comparison.csv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Обращения: «Решено» — 62.00% показанной суммы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category_shares.json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Распределение Значение: от 18 до 95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distribution.csv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Запросы: максимум 120 — «Север»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embedded_table.md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Ноль — значение, пропуск — отсутствие данных</a:t>
            </a:r>
          </a:p>
        </p:txBody>
      </p:sp>
      <p:graphicFrame>
        <p:nvGraphicFramePr>
          <p:cNvPr id="873" name="Table 872"/>
          <p:cNvGraphicFramePr>
            <a:graphicFrameLocks noGrp="1"/>
          </p:cNvGraphicFramePr>
          <p:nvPr/>
        </p:nvGraphicFramePr>
        <p:xfrm>
          <a:off x="285293" y="1139190"/>
          <a:ext cx="838241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603"/>
                <a:gridCol w="2095603"/>
                <a:gridCol w="2095603"/>
                <a:gridCol w="2095603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74" name="Rectangle 873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TextBox 874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missing_zero.csv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4 из 4 строк. Строки источника: 2, 3, 4,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6" name="Google Shape;906;p62"/>
          <p:cNvSpPr txBox="1"/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Фрагмент таблицы · 7 из 201 строк</a:t>
            </a:r>
          </a:p>
        </p:txBody>
      </p:sp>
      <p:graphicFrame>
        <p:nvGraphicFramePr>
          <p:cNvPr id="944" name="Table 943"/>
          <p:cNvGraphicFramePr>
            <a:graphicFrameLocks noGrp="1"/>
          </p:cNvGraphicFramePr>
          <p:nvPr/>
        </p:nvGraphicFramePr>
        <p:xfrm>
          <a:off x="560496" y="1139190"/>
          <a:ext cx="829729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648"/>
                <a:gridCol w="4148649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945" name="Rectangle 94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7 из 201 строк; не репрезентативная выборка. Все строки: HTML → «Источники» / архив исходников.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87" name="Google Shape;2387;p88"/>
          <p:cNvSpPr/>
          <p:nvPr/>
        </p:nvSpPr>
        <p:spPr>
          <a:xfrm>
            <a:off x="319086" y="1933658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88"/>
          <p:cNvSpPr/>
          <p:nvPr/>
        </p:nvSpPr>
        <p:spPr>
          <a:xfrm>
            <a:off x="319086" y="3647935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8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Выручка: +36000 USD между 2026-01 и 2026-06 (+30.00%)</a:t>
            </a:r>
          </a:p>
        </p:txBody>
      </p:sp>
      <p:graphicFrame>
        <p:nvGraphicFramePr>
          <p:cNvPr id="2402" name="Chart 2401"/>
          <p:cNvGraphicFramePr>
            <a:graphicFrameLocks noGrp="1"/>
          </p:cNvGraphicFramePr>
          <p:nvPr/>
        </p:nvGraphicFramePr>
        <p:xfrm>
          <a:off x="457198" y="1110022"/>
          <a:ext cx="8400595" cy="3467693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03" name="Rectangle 2402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4" name="TextBox 2403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time_series.xlsx · лист «Monthly revenue»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Учебный характер данных</a:t>
            </a:r>
          </a:p>
        </p:txBody>
      </p:sp>
      <p:sp>
        <p:nvSpPr>
          <p:cNvPr id="1060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Материалы основаны на синтетических учебных данных.</a:t>
            </a: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1672317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Отсутствие реальных компаний</a:t>
            </a:r>
          </a:p>
        </p:txBody>
      </p:sp>
      <p:sp>
        <p:nvSpPr>
          <p:cNvPr id="1064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Примеры не представляют реальные компании или рыночные результаты.</a:t>
            </a:r>
          </a:p>
        </p:txBody>
      </p:sp>
      <p:sp>
        <p:nvSpPr>
          <p:cNvPr id="1065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6"/>
          <p:cNvSpPr/>
          <p:nvPr/>
        </p:nvSpPr>
        <p:spPr>
          <a:xfrm>
            <a:off x="4048160" y="2858216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Сохранение контекста источника</a:t>
            </a:r>
          </a:p>
        </p:txBody>
      </p:sp>
      <p:sp>
        <p:nvSpPr>
          <p:cNvPr id="1068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Выводы сохраняют периоды, единицы и оговорки источника.</a:t>
            </a:r>
          </a:p>
        </p:txBody>
      </p:sp>
      <p:sp>
        <p:nvSpPr>
          <p:cNvPr id="1073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200"/>
              <a:t xml:space="preserve">Синтетические учебные данные исключают интерпретацию примеров как реальных рыночных результатов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8" name="Google Shape;438;p4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 sz="2250"/>
              <a:t xml:space="preserve">Разделение фактов и выводов позволяет аудитории самостоятельно оценивать обоснованность интерпретаций</a:t>
            </a:r>
          </a:p>
        </p:txBody>
      </p:sp>
      <p:sp>
        <p:nvSpPr>
          <p:cNvPr id="439" name="Google Shape;439;p46"/>
          <p:cNvSpPr txBox="1"/>
          <p:nvPr>
            <p:ph idx="1" type="body"/>
          </p:nvPr>
        </p:nvSpPr>
        <p:spPr>
          <a:xfrm>
            <a:off x="1430534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Наблюдения: фактические цифры и события из таблицы «Пакет данных»</a:t>
            </a:r>
          </a:p>
        </p:txBody>
      </p:sp>
      <p:sp>
        <p:nvSpPr>
          <p:cNvPr id="440" name="Google Shape;440;p4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900"/>
              <a:t xml:space="preserve">Интерпретации: выводы и значения итогов для принятия решений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600"/>
              <a:t xml:space="preserve">Аудитория оценивает прототип и определяет, какие решения необходимы на основе представленных итогов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