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Relationship Id="rId4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Лиды (факт)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Лиды (цель)</c:v>
                </c:pt>
              </c:strCache>
            </c:strRef>
          </c:tx>
          <c:spPr>
            <a:solidFill>
              <a:srgbClr val="00E9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Канал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Лиды (факт) · Лиды (цель)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00E9FF"/>
              </a:solidFill>
            </c:spPr>
          </c:dPt>
          <c:dPt>
            <c:idx val="2"/>
            <c:spPr>
              <a:solidFill>
                <a:srgbClr val="70C3FF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Решено</c:v>
                </c:pt>
                <c:pt idx="1">
                  <c:v>В ожидании</c:v>
                </c:pt>
                <c:pt idx="2">
                  <c:v>На эскалации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txPr>
            <a:bodyPr/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Центр</c:v>
                </c:pt>
                <c:pt idx="2">
                  <c:v>Юг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Регион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Запросы,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показываем, как работает прототип на учебных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Исходные строки без агрегации; показано 4 из 4.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Исходные строки без агрегации; показано 7 из 201.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Основной принцип работы прототипа — прозрачность и честность в отношении источника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После демонстрации нам нужна ваша обратная связь для планирования следующих этапов.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 за время. Открыты для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3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chart" Target="../charts/chart4.xml"/><Relationship Id="rId5" Type="http://schemas.openxmlformats.org/officeDocument/2006/relationships/notesSlide" Target="../notesSlides/notesSlide3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3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3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ru-RU" sz="3050"/>
              <a:t xml:space="preserve">Прототип на синтетических данных демонстрирует разделение наблюдений и интерпретаций с сохранением оговорок источника</a:t>
            </a:r>
          </a:p>
        </p:txBody>
      </p:sp>
      <p:sp>
        <p:nvSpPr>
          <p:cNvPr id="383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200" u="none" cap="none" strike="noStrike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 xml:space="preserve">Прототип показывает, как отделять наблюдения от интерпретаций и сохранять оговорки источника.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Данные синтетические, не являются реальными рыночными результатами.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Лиды (факт): максимум 240 — «Поиск»</a:t>
            </a:r>
          </a:p>
        </p:txBody>
      </p:sp>
      <p:graphicFrame>
        <p:nvGraphicFramePr>
          <p:cNvPr id="460" name="Chart 459"/>
          <p:cNvGraphicFramePr>
            <a:graphicFrameLocks noGrp="1"/>
          </p:cNvGraphicFramePr>
          <p:nvPr/>
        </p:nvGraphicFramePr>
        <p:xfrm>
          <a:off x="427939" y="1729423"/>
          <a:ext cx="10003661" cy="437419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61" name="Rectangle 46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category_comparison.csv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lang="ru-RU" sz="1600">
              <a:solidFill>
                <a:srgbClr val="CAD0D5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Обращения: «Решено» — 62.00% показанной суммы</a:t>
            </a:r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427939" y="1729423"/>
          <a:ext cx="10003661" cy="437419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5" name="Rectangle 70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category_shares.json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4" name="Google Shape;474;p2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Распределение Значение: от 18 до 95</a:t>
            </a:r>
          </a:p>
        </p:txBody>
      </p:sp>
      <p:graphicFrame>
        <p:nvGraphicFramePr>
          <p:cNvPr id="475" name="Chart 474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76" name="Rectangle 47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TextBox 47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distribution.csv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10" name="Google Shape;510;p2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Запросы: максимум 120 — «Север»</a:t>
            </a:r>
          </a:p>
        </p:txBody>
      </p:sp>
      <p:graphicFrame>
        <p:nvGraphicFramePr>
          <p:cNvPr id="541" name="Chart 540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42" name="Rectangle 54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embedded_table.md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Ноль — значение, пропуск — отсутствие данных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725"/>
                <a:gridCol w="2833725"/>
                <a:gridCol w="2833725"/>
                <a:gridCol w="2833727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Период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(факт)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(план)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Примечание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Наблюдаемое нулевое значение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Факт отсутствует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План отсутствует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Фактическое значение равно нулю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missing_zero.csv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На слайде 4 из 4 строк. Строки источника: 2, 3, 4, 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Фрагмент таблицы · 7 из 201 строк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На слайде 7 из 201 строк; не репрезентативная выборка. Все строки: HTML → «Источники» / архив исходников.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5" name="Google Shape;565;p2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Выручка: +36000 USD между 2026-01 и 2026-06 (+30.00%)</a:t>
            </a:r>
          </a:p>
        </p:txBody>
      </p:sp>
      <p:graphicFrame>
        <p:nvGraphicFramePr>
          <p:cNvPr id="566" name="Chart 565"/>
          <p:cNvGraphicFramePr>
            <a:graphicFrameLocks noGrp="1"/>
          </p:cNvGraphicFramePr>
          <p:nvPr/>
        </p:nvGraphicFramePr>
        <p:xfrm>
          <a:off x="427939" y="1729423"/>
          <a:ext cx="10003661" cy="437419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67" name="Rectangle 566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TextBox 567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time_series.xlsx · лист «Monthly revenue»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Google Shape;441;p2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Разделение фактов и выводов обеспечивает прозрачную логику для принятия решений</a:t>
            </a:r>
          </a:p>
        </p:txBody>
      </p:sp>
      <p:sp>
        <p:nvSpPr>
          <p:cNvPr id="442" name="Google Shape;442;p21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Наблюдения и интерпретации представлены отдельно</a:t>
            </a:r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Google Shape;446;p21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Периоды, единицы и оговорки источника фиксируются</a:t>
            </a:r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Google Shape;450;p21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Синтетические примеры не выдаются за реальные компании</a:t>
            </a:r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4" name="Rectangle 45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Синтетические учебные данные.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Google Shape;486;p2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Следующие шаги: интеграция в процесс</a:t>
            </a:r>
          </a:p>
        </p:txBody>
      </p:sp>
      <p:sp>
        <p:nvSpPr>
          <p:cNvPr id="487" name="Google Shape;487;p24"/>
          <p:cNvSpPr/>
          <p:nvPr/>
        </p:nvSpPr>
        <p:spPr>
          <a:xfrm rot="-600">
            <a:off x="437086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Оценка прототипа</a:t>
            </a:r>
          </a:p>
        </p:txBody>
      </p:sp>
      <p:sp>
        <p:nvSpPr>
          <p:cNvPr id="488" name="Google Shape;488;p24"/>
          <p:cNvSpPr/>
          <p:nvPr/>
        </p:nvSpPr>
        <p:spPr>
          <a:xfrm>
            <a:off x="437041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489" name="Google Shape;489;p24"/>
          <p:cNvSpPr/>
          <p:nvPr/>
        </p:nvSpPr>
        <p:spPr>
          <a:xfrm rot="-600">
            <a:off x="437111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Специалисты проверяют качество подготовки слайдов.</a:t>
            </a:r>
          </a:p>
        </p:txBody>
      </p:sp>
      <p:sp>
        <p:nvSpPr>
          <p:cNvPr id="490" name="Google Shape;490;p24"/>
          <p:cNvSpPr/>
          <p:nvPr/>
        </p:nvSpPr>
        <p:spPr>
          <a:xfrm rot="-600">
            <a:off x="4370119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Обратная связь</a:t>
            </a:r>
          </a:p>
        </p:txBody>
      </p:sp>
      <p:sp>
        <p:nvSpPr>
          <p:cNvPr id="491" name="Google Shape;491;p24"/>
          <p:cNvSpPr/>
          <p:nvPr/>
        </p:nvSpPr>
        <p:spPr>
          <a:xfrm>
            <a:off x="4370074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492" name="Google Shape;492;p24"/>
          <p:cNvSpPr/>
          <p:nvPr/>
        </p:nvSpPr>
        <p:spPr>
          <a:xfrm rot="-600">
            <a:off x="4370144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Сбор комментариев по структуре и подаче.</a:t>
            </a:r>
          </a:p>
        </p:txBody>
      </p:sp>
      <p:sp>
        <p:nvSpPr>
          <p:cNvPr id="499" name="Google Shape;499;p24"/>
          <p:cNvSpPr/>
          <p:nvPr/>
        </p:nvSpPr>
        <p:spPr>
          <a:xfrm rot="-600">
            <a:off x="8303152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Планирование</a:t>
            </a:r>
          </a:p>
        </p:txBody>
      </p:sp>
      <p:sp>
        <p:nvSpPr>
          <p:cNvPr id="500" name="Google Shape;500;p24"/>
          <p:cNvSpPr/>
          <p:nvPr/>
        </p:nvSpPr>
        <p:spPr>
          <a:xfrm>
            <a:off x="8303107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501" name="Google Shape;501;p24"/>
          <p:cNvSpPr/>
          <p:nvPr/>
        </p:nvSpPr>
        <p:spPr>
          <a:xfrm rot="-600">
            <a:off x="8303177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Определение этапов интеграции в рабочий процесс.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TextBox 5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Демонстрационный сценарий.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4" name="Google Shape;874;p44"/>
          <p:cNvSpPr txBox="1"/>
          <p:nvPr>
            <p:ph type="title"/>
          </p:nvPr>
        </p:nvSpPr>
        <p:spPr>
          <a:xfrm>
            <a:off x="429253" y="2291422"/>
            <a:ext cx="484600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0"/>
              <a:buFont typeface="Play"/>
              <a:buNone/>
            </a:pPr>
            <a:r>
              <a:rPr b="1" lang="ru-RU" sz="3500"/>
              <a:t xml:space="preserve">Готовы ответить на вопросы о возможностях прототипа</a:t>
            </a:r>
          </a:p>
        </p:txBody>
      </p:sp>
      <p:sp>
        <p:nvSpPr>
          <p:cNvPr id="875" name="Rectangle 87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TextBox 87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Конец презентации.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