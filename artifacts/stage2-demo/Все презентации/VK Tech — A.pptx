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Лиды (факт)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Лиды (цель)</c:v>
                </c:pt>
              </c:strCache>
            </c:strRef>
          </c:tx>
          <c:spPr>
            <a:solidFill>
              <a:srgbClr val="1E2D3E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Канал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Лиды (факт) · Лиды (цель)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Обращения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</c:spPr>
          </c:dPt>
          <c:dPt>
            <c:idx val="1"/>
            <c:spPr>
              <a:solidFill>
                <a:srgbClr val="1E2D3E"/>
              </a:solidFill>
            </c:spPr>
          </c:dPt>
          <c:dPt>
            <c:idx val="2"/>
            <c:spPr>
              <a:solidFill>
                <a:srgbClr val="3F5F83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>
                      <a:solidFill>
                        <a:srgbClr val="000000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Решено</c:v>
                </c:pt>
                <c:pt idx="1">
                  <c:v>В ожидании</c:v>
                </c:pt>
                <c:pt idx="2">
                  <c:v>На эскалации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Sheet1!$A$2:$A$4</c:f>
              <c:strCache>
                <c:ptCount val="3"/>
                <c:pt idx="0">
                  <c:v>Север</c:v>
                </c:pt>
                <c:pt idx="1">
                  <c:v>Центр</c:v>
                </c:pt>
                <c:pt idx="2">
                  <c:v>Юг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t>Регион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Запросы,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пожаловать. Сегодня мы покажем, как работает процесс анализа данных и подготовки слайдов на учебных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Важно подчеркнуть, что мы работаем с учебным материалом, чтобы избежать неверных выводов о реальных бизнес-процессах.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Четкое разделение этих двух категорий помогает избежать смешения фактов с субъективными оценками.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готовы обсудить, какие решения нужны и каковы следующие шаги в работе с аналитикой.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1.xml"/><Relationship Id="rId8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3.xm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0.png"/><Relationship Id="rId3" Type="http://schemas.openxmlformats.org/officeDocument/2006/relationships/image" Target="../media/image26.png"/><Relationship Id="rId4" Type="http://schemas.openxmlformats.org/officeDocument/2006/relationships/image" Target="../media/image223.png"/><Relationship Id="rId5" Type="http://schemas.openxmlformats.org/officeDocument/2006/relationships/image" Target="../media/image224.png"/><Relationship Id="rId6" Type="http://schemas.openxmlformats.org/officeDocument/2006/relationships/image" Target="../media/image225.png"/><Relationship Id="rId7" Type="http://schemas.openxmlformats.org/officeDocument/2006/relationships/image" Target="../media/image226.png"/><Relationship Id="rId8" Type="http://schemas.openxmlformats.org/officeDocument/2006/relationships/image" Target="../media/image227.png"/><Relationship Id="rId9" Type="http://schemas.openxmlformats.org/officeDocument/2006/relationships/image" Target="../media/image228.png"/><Relationship Id="rId10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0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0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Google Shape;401;p4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en-US" sz="1350"/>
              <a:t xml:space="preserve">Прототип превращает синтетические учебные данные в структурированные выводы, четко разделяя наблюдения и интерпретации</a:t>
            </a:r>
          </a:p>
        </p:txBody>
      </p:sp>
      <p:sp>
        <p:nvSpPr>
          <p:cNvPr id="402" name="Google Shape;402;p4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Лиды (факт): максимум 240 — «Поиск»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467693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71" name="Rectangle 257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TextBox 257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category_comparison.csv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Обращения: «Решено» — 62.00% показанной суммы</a:t>
            </a:r>
          </a:p>
        </p:txBody>
      </p:sp>
      <p:graphicFrame>
        <p:nvGraphicFramePr>
          <p:cNvPr id="686" name="Chart 685"/>
          <p:cNvGraphicFramePr>
            <a:graphicFrameLocks noGrp="1"/>
          </p:cNvGraphicFramePr>
          <p:nvPr/>
        </p:nvGraphicFramePr>
        <p:xfrm>
          <a:off x="285293" y="1110022"/>
          <a:ext cx="8382412" cy="346769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87" name="Rectangle 68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category_shares.json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Распределение Значение: от 18 до 95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467693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71" name="Rectangle 257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TextBox 257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distribution.csv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25 из 25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Запросы: максимум 120 — «Север»</a:t>
            </a:r>
          </a:p>
        </p:txBody>
      </p:sp>
      <p:graphicFrame>
        <p:nvGraphicFramePr>
          <p:cNvPr id="769" name="Chart 768"/>
          <p:cNvGraphicFramePr>
            <a:graphicFrameLocks noGrp="1"/>
          </p:cNvGraphicFramePr>
          <p:nvPr/>
        </p:nvGraphicFramePr>
        <p:xfrm>
          <a:off x="285293" y="1110022"/>
          <a:ext cx="8382412" cy="346769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70" name="Rectangle 76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TextBox 77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embedded_table.md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Справочник · строки 1–4 из 4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3125"/>
                <a:gridCol w="2143125"/>
                <a:gridCol w="2143125"/>
                <a:gridCol w="2143125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Период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Количество (факт)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Количество (план)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Примечание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Неделя 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Наблюдаемое нулевое значение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Неделя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Факт отсутствует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Неделя 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План отсутствует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Неделя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Фактическое значение равно нулю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missing_zero.csv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 Страница 1/1.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Google Shape;2251;p8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201 строк справочника сохранены в приложении</a:t>
            </a:r>
          </a:p>
        </p:txBody>
      </p:sp>
      <p:sp>
        <p:nvSpPr>
          <p:cNvPr id="2252" name="Google Shape;2252;p83"/>
          <p:cNvSpPr txBox="1"/>
          <p:nvPr/>
        </p:nvSpPr>
        <p:spPr>
          <a:xfrm>
            <a:off x="177970" y="1664110"/>
            <a:ext cx="2381238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r>
              <a:rPr b="1" i="0" lang="en-US" sz="855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 xml:space="preserve">201</a:t>
            </a:r>
          </a:p>
        </p:txBody>
      </p:sp>
      <p:sp>
        <p:nvSpPr>
          <p:cNvPr id="2253" name="Google Shape;2253;p83"/>
          <p:cNvSpPr txBox="1"/>
          <p:nvPr/>
        </p:nvSpPr>
        <p:spPr>
          <a:xfrm>
            <a:off x="3143234" y="1664110"/>
            <a:ext cx="4320556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endParaRPr b="1" i="0" lang="en-US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54" name="Google Shape;2254;p83"/>
          <p:cNvSpPr txBox="1"/>
          <p:nvPr/>
        </p:nvSpPr>
        <p:spPr>
          <a:xfrm>
            <a:off x="256559" y="3689483"/>
            <a:ext cx="4315441" cy="327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2255" name="Rectangle 225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TextBox 225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Показано: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1" name="Google Shape;851;p60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Google Shape;872;p60"/>
          <p:cNvSpPr txBox="1"/>
          <p:nvPr>
            <p:ph type="title"/>
          </p:nvPr>
        </p:nvSpPr>
        <p:spPr>
          <a:xfrm>
            <a:off x="177971" y="282949"/>
            <a:ext cx="502540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Выручка: +36000 USD между 2026-01 и 2026-06 (+30.00%)</a:t>
            </a:r>
          </a:p>
        </p:txBody>
      </p:sp>
      <p:graphicFrame>
        <p:nvGraphicFramePr>
          <p:cNvPr id="873" name="Chart 872"/>
          <p:cNvGraphicFramePr>
            <a:graphicFrameLocks noGrp="1"/>
          </p:cNvGraphicFramePr>
          <p:nvPr/>
        </p:nvGraphicFramePr>
        <p:xfrm>
          <a:off x="285293" y="1139190"/>
          <a:ext cx="8382412" cy="343852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74" name="Rectangle 873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TextBox 874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time_series.xlsx · лист «Monthly revenue»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6 из 6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8" name="Google Shape;878;p61"/>
          <p:cNvSpPr/>
          <p:nvPr/>
        </p:nvSpPr>
        <p:spPr>
          <a:xfrm>
            <a:off x="285749" y="1243185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p61"/>
          <p:cNvSpPr/>
          <p:nvPr/>
        </p:nvSpPr>
        <p:spPr>
          <a:xfrm>
            <a:off x="285749" y="1243185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0" name="Google Shape;880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7673" y="1405089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1" name="Google Shape;881;p6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6388" y="1423117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61"/>
          <p:cNvSpPr/>
          <p:nvPr/>
        </p:nvSpPr>
        <p:spPr>
          <a:xfrm>
            <a:off x="285749" y="2047943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61"/>
          <p:cNvSpPr/>
          <p:nvPr/>
        </p:nvSpPr>
        <p:spPr>
          <a:xfrm>
            <a:off x="285749" y="2047943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4" name="Google Shape;884;p6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7673" y="2209847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5" name="Google Shape;885;p6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6388" y="2227875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61"/>
          <p:cNvSpPr/>
          <p:nvPr/>
        </p:nvSpPr>
        <p:spPr>
          <a:xfrm>
            <a:off x="285749" y="2852700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" name="Google Shape;887;p61"/>
          <p:cNvSpPr/>
          <p:nvPr/>
        </p:nvSpPr>
        <p:spPr>
          <a:xfrm>
            <a:off x="285749" y="2852700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8" name="Google Shape;888;p6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7673" y="3014604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9" name="Google Shape;889;p6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66388" y="3032632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6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00"/>
              <a:t xml:space="preserve">Презентация использует только синтетические учебные данные, что исключает их интерпретацию как реальных рыночных результатов</a:t>
            </a:r>
          </a:p>
        </p:txBody>
      </p:sp>
      <p:sp>
        <p:nvSpPr>
          <p:cNvPr id="895" name="Google Shape;895;p61"/>
          <p:cNvSpPr/>
          <p:nvPr/>
        </p:nvSpPr>
        <p:spPr>
          <a:xfrm>
            <a:off x="1019170" y="1402177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Учебный характер данных</a:t>
            </a:r>
          </a:p>
        </p:txBody>
      </p:sp>
      <p:sp>
        <p:nvSpPr>
          <p:cNvPr id="896" name="Google Shape;896;p61"/>
          <p:cNvSpPr/>
          <p:nvPr/>
        </p:nvSpPr>
        <p:spPr>
          <a:xfrm>
            <a:off x="1019170" y="2218724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Отсутствие реальных компаний</a:t>
            </a:r>
          </a:p>
        </p:txBody>
      </p:sp>
      <p:sp>
        <p:nvSpPr>
          <p:cNvPr id="897" name="Google Shape;897;p61"/>
          <p:cNvSpPr/>
          <p:nvPr/>
        </p:nvSpPr>
        <p:spPr>
          <a:xfrm>
            <a:off x="1019170" y="3024442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Сохранение контекста источника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9" name="Google Shape;429;p4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</a:pPr>
            <a:r>
              <a:rPr lang="en-US" sz="2250"/>
              <a:t xml:space="preserve">Разделение фактов и выводов позволяет аудитории самостоятельно оценивать обоснованность интерпретаций</a:t>
            </a:r>
          </a:p>
        </p:txBody>
      </p:sp>
      <p:sp>
        <p:nvSpPr>
          <p:cNvPr id="430" name="Google Shape;430;p45"/>
          <p:cNvSpPr txBox="1"/>
          <p:nvPr>
            <p:ph idx="1" type="body"/>
          </p:nvPr>
        </p:nvSpPr>
        <p:spPr>
          <a:xfrm>
            <a:off x="1430534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900"/>
              <a:t xml:space="preserve">Наблюдения — фактические цифры и события из таблицы «Пакет данных»</a:t>
            </a:r>
          </a:p>
        </p:txBody>
      </p:sp>
      <p:sp>
        <p:nvSpPr>
          <p:cNvPr id="431" name="Google Shape;431;p4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-US" sz="900"/>
              <a:t xml:space="preserve">Интерпретации — выводы и значения итогов для принятия решений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250"/>
              <a:t xml:space="preserve">Аудитория оценивает прототип и определяет необходимые решения на основе представленных итогов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lang="en-US"/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6" name="Google Shape;906;p62"/>
          <p:cNvSpPr txBox="1"/>
          <p:nvPr>
            <p:ph type="title"/>
          </p:nvPr>
        </p:nvSpPr>
        <p:spPr>
          <a:xfrm>
            <a:off x="177971" y="282949"/>
            <a:ext cx="555988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1–7 из 201</a:t>
            </a:r>
          </a:p>
        </p:txBody>
      </p:sp>
      <p:graphicFrame>
        <p:nvGraphicFramePr>
          <p:cNvPr id="944" name="Table 943"/>
          <p:cNvGraphicFramePr>
            <a:graphicFrameLocks noGrp="1"/>
          </p:cNvGraphicFramePr>
          <p:nvPr/>
        </p:nvGraphicFramePr>
        <p:xfrm>
          <a:off x="560496" y="1139190"/>
          <a:ext cx="8297297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648"/>
                <a:gridCol w="4148649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945" name="Rectangle 94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0" name="Google Shape;1050;p6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8–14 из 201</a:t>
            </a:r>
          </a:p>
        </p:txBody>
      </p:sp>
      <p:graphicFrame>
        <p:nvGraphicFramePr>
          <p:cNvPr id="1051" name="Table 1050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052" name="Rectangle 1051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15–21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7" name="Google Shape;1107;p68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68"/>
          <p:cNvSpPr txBox="1"/>
          <p:nvPr>
            <p:ph type="title"/>
          </p:nvPr>
        </p:nvSpPr>
        <p:spPr>
          <a:xfrm>
            <a:off x="177971" y="282949"/>
            <a:ext cx="5119243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22–28 из 201</a:t>
            </a:r>
          </a:p>
        </p:txBody>
      </p:sp>
      <p:graphicFrame>
        <p:nvGraphicFramePr>
          <p:cNvPr id="1110" name="Table 1109"/>
          <p:cNvGraphicFramePr>
            <a:graphicFrameLocks noGrp="1"/>
          </p:cNvGraphicFramePr>
          <p:nvPr/>
        </p:nvGraphicFramePr>
        <p:xfrm>
          <a:off x="285293" y="1139190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111" name="Rectangle 111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29–35 из 201</a:t>
            </a:r>
          </a:p>
        </p:txBody>
      </p:sp>
      <p:graphicFrame>
        <p:nvGraphicFramePr>
          <p:cNvPr id="686" name="Table 685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687" name="Rectangle 68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36–42 из 201</a:t>
            </a:r>
          </a:p>
        </p:txBody>
      </p:sp>
      <p:graphicFrame>
        <p:nvGraphicFramePr>
          <p:cNvPr id="769" name="Table 768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770" name="Rectangle 76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TextBox 77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43–49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1" name="Google Shape;851;p60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Google Shape;872;p60"/>
          <p:cNvSpPr txBox="1"/>
          <p:nvPr>
            <p:ph type="title"/>
          </p:nvPr>
        </p:nvSpPr>
        <p:spPr>
          <a:xfrm>
            <a:off x="177971" y="282949"/>
            <a:ext cx="502540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50–56 из 201</a:t>
            </a:r>
          </a:p>
        </p:txBody>
      </p:sp>
      <p:graphicFrame>
        <p:nvGraphicFramePr>
          <p:cNvPr id="873" name="Table 872"/>
          <p:cNvGraphicFramePr>
            <a:graphicFrameLocks noGrp="1"/>
          </p:cNvGraphicFramePr>
          <p:nvPr/>
        </p:nvGraphicFramePr>
        <p:xfrm>
          <a:off x="285293" y="1139190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74" name="Rectangle 873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TextBox 874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6" name="Google Shape;906;p62"/>
          <p:cNvSpPr txBox="1"/>
          <p:nvPr>
            <p:ph type="title"/>
          </p:nvPr>
        </p:nvSpPr>
        <p:spPr>
          <a:xfrm>
            <a:off x="177971" y="282949"/>
            <a:ext cx="555988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57–63 из 201</a:t>
            </a:r>
          </a:p>
        </p:txBody>
      </p:sp>
      <p:graphicFrame>
        <p:nvGraphicFramePr>
          <p:cNvPr id="944" name="Table 943"/>
          <p:cNvGraphicFramePr>
            <a:graphicFrameLocks noGrp="1"/>
          </p:cNvGraphicFramePr>
          <p:nvPr/>
        </p:nvGraphicFramePr>
        <p:xfrm>
          <a:off x="560496" y="1139190"/>
          <a:ext cx="8297297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648"/>
                <a:gridCol w="4148649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945" name="Rectangle 94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9/29.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0" name="Google Shape;1050;p6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64–70 из 201</a:t>
            </a:r>
          </a:p>
        </p:txBody>
      </p:sp>
      <p:graphicFrame>
        <p:nvGraphicFramePr>
          <p:cNvPr id="1051" name="Table 1050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052" name="Rectangle 1051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10/29.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71–77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4" name="Google Shape;894;p6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00"/>
              <a:t xml:space="preserve">Приложение · Справочник · строки 78–84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7" name="Google Shape;1107;p68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68"/>
          <p:cNvSpPr txBox="1"/>
          <p:nvPr>
            <p:ph type="title"/>
          </p:nvPr>
        </p:nvSpPr>
        <p:spPr>
          <a:xfrm>
            <a:off x="177971" y="282949"/>
            <a:ext cx="5119243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85–91 из 201</a:t>
            </a:r>
          </a:p>
        </p:txBody>
      </p:sp>
      <p:graphicFrame>
        <p:nvGraphicFramePr>
          <p:cNvPr id="1110" name="Table 1109"/>
          <p:cNvGraphicFramePr>
            <a:graphicFrameLocks noGrp="1"/>
          </p:cNvGraphicFramePr>
          <p:nvPr/>
        </p:nvGraphicFramePr>
        <p:xfrm>
          <a:off x="285293" y="1139190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111" name="Rectangle 111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92–98 из 201</a:t>
            </a:r>
          </a:p>
        </p:txBody>
      </p:sp>
      <p:graphicFrame>
        <p:nvGraphicFramePr>
          <p:cNvPr id="686" name="Table 685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687" name="Rectangle 68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99–105 из 201</a:t>
            </a:r>
          </a:p>
        </p:txBody>
      </p:sp>
      <p:graphicFrame>
        <p:nvGraphicFramePr>
          <p:cNvPr id="769" name="Table 768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770" name="Rectangle 76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TextBox 77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106–112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1" name="Google Shape;851;p60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Google Shape;872;p60"/>
          <p:cNvSpPr txBox="1"/>
          <p:nvPr>
            <p:ph type="title"/>
          </p:nvPr>
        </p:nvSpPr>
        <p:spPr>
          <a:xfrm>
            <a:off x="177971" y="282949"/>
            <a:ext cx="502540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113–119 из 201</a:t>
            </a:r>
          </a:p>
        </p:txBody>
      </p:sp>
      <p:graphicFrame>
        <p:nvGraphicFramePr>
          <p:cNvPr id="873" name="Table 872"/>
          <p:cNvGraphicFramePr>
            <a:graphicFrameLocks noGrp="1"/>
          </p:cNvGraphicFramePr>
          <p:nvPr/>
        </p:nvGraphicFramePr>
        <p:xfrm>
          <a:off x="285293" y="1139190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74" name="Rectangle 873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TextBox 874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6" name="Google Shape;906;p62"/>
          <p:cNvSpPr txBox="1"/>
          <p:nvPr>
            <p:ph type="title"/>
          </p:nvPr>
        </p:nvSpPr>
        <p:spPr>
          <a:xfrm>
            <a:off x="177971" y="282949"/>
            <a:ext cx="555988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120–126 из 201</a:t>
            </a:r>
          </a:p>
        </p:txBody>
      </p:sp>
      <p:graphicFrame>
        <p:nvGraphicFramePr>
          <p:cNvPr id="944" name="Table 943"/>
          <p:cNvGraphicFramePr>
            <a:graphicFrameLocks noGrp="1"/>
          </p:cNvGraphicFramePr>
          <p:nvPr/>
        </p:nvGraphicFramePr>
        <p:xfrm>
          <a:off x="560496" y="1139190"/>
          <a:ext cx="8297297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648"/>
                <a:gridCol w="4148649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945" name="Rectangle 94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0" name="Google Shape;1050;p6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127–133 из 201</a:t>
            </a:r>
          </a:p>
        </p:txBody>
      </p:sp>
      <p:graphicFrame>
        <p:nvGraphicFramePr>
          <p:cNvPr id="1051" name="Table 1050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052" name="Rectangle 1051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19/29.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134–140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20/29.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4" name="Google Shape;894;p6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00"/>
              <a:t xml:space="preserve">Приложение · Справочник · строки 141–147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7" name="Google Shape;1107;p68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68"/>
          <p:cNvSpPr txBox="1"/>
          <p:nvPr>
            <p:ph type="title"/>
          </p:nvPr>
        </p:nvSpPr>
        <p:spPr>
          <a:xfrm>
            <a:off x="177971" y="282949"/>
            <a:ext cx="5119243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148–154 из 201</a:t>
            </a:r>
          </a:p>
        </p:txBody>
      </p:sp>
      <p:graphicFrame>
        <p:nvGraphicFramePr>
          <p:cNvPr id="1110" name="Table 1109"/>
          <p:cNvGraphicFramePr>
            <a:graphicFrameLocks noGrp="1"/>
          </p:cNvGraphicFramePr>
          <p:nvPr/>
        </p:nvGraphicFramePr>
        <p:xfrm>
          <a:off x="285293" y="1139190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111" name="Rectangle 111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51" name="Google Shape;2251;p8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155–161 из 201</a:t>
            </a:r>
          </a:p>
        </p:txBody>
      </p:sp>
      <p:graphicFrame>
        <p:nvGraphicFramePr>
          <p:cNvPr id="2252" name="Table 2251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253" name="Rectangle 2252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TextBox 2253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162–168 из 201</a:t>
            </a:r>
          </a:p>
        </p:txBody>
      </p:sp>
      <p:graphicFrame>
        <p:nvGraphicFramePr>
          <p:cNvPr id="686" name="Table 685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687" name="Rectangle 68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169–175 из 201</a:t>
            </a:r>
          </a:p>
        </p:txBody>
      </p:sp>
      <p:graphicFrame>
        <p:nvGraphicFramePr>
          <p:cNvPr id="769" name="Table 768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770" name="Rectangle 76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TextBox 77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176–182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183–189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190–196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197–201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200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201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29/29. Показано: 5.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