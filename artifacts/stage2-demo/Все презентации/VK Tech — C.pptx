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 leads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leads</c:v>
                </c:pt>
              </c:strCache>
            </c:strRef>
          </c:tx>
          <c:spPr>
            <a:solidFill>
              <a:srgbClr val="FFFF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channel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actual leads · target leads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FFFFFF"/>
              </a:solidFill>
            </c:spPr>
          </c:dPt>
          <c:dPt>
            <c:idx val="2"/>
            <c:spPr>
              <a:solidFill>
                <a:srgbClr val="00D3E6"/>
              </a:solidFill>
            </c:spPr>
          </c:dPt>
          <c:cat>
            <c:strRef>
              <c:f>Sheet1!$A$2:$A$4</c:f>
              <c:strCache>
                <c:ptCount val="3"/>
                <c:pt idx="0">
                  <c:v>Resolved</c:v>
                </c:pt>
                <c:pt idx="1">
                  <c:v>Pending</c:v>
                </c:pt>
                <c:pt idx="2">
                  <c:v>Escalated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t>Region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Requests,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покажем, как работает процесс анализа данных и подготовки слайдов на учебных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Важно подчеркнуть, что мы работаем с учебным материалом, чтобы избежать неверных выводов о реальных бизнес-процессах.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Четкое разделение этих двух категорий помогает избежать смешения фактов с субъективными оценками.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готовы обсудить, какие решения нужны и каковы следующие шаги в работе с аналитикой.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1.xml"/><Relationship Id="rId8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2.xml"/><Relationship Id="rId8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3.xm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4.xml"/><Relationship Id="rId8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5.xml"/><Relationship Id="rId5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9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7" name="Google Shape;447;p4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</a:pPr>
            <a:r>
              <a:rPr lang="en-US" sz="1750"/>
              <a:t xml:space="preserve">Прототип превращает синтетические учебные данные в структурированные выводы, четко разделяя наблюдения и интерпретации</a:t>
            </a:r>
          </a:p>
        </p:txBody>
      </p:sp>
      <p:sp>
        <p:nvSpPr>
          <p:cNvPr id="448" name="Google Shape;448;p4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76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actual leads: максимум 240 — «Search»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category_comparison.csv · 4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tickets: «Resolved» — 62.00% показанной суммы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category_shares.json · 3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Распределение Значение: от 18 до 95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distribution.csv · 25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Requests: максимум 120 — «North»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embedded_table.md · # Regional service snapshot · Source: synthetic test data. Units: requests and resolved requests, counts for Apr…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60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Справочник · строки 1–4 из 4</a:t>
            </a:r>
          </a:p>
        </p:txBody>
      </p:sp>
      <p:graphicFrame>
        <p:nvGraphicFramePr>
          <p:cNvPr id="873" name="Table 872"/>
          <p:cNvGraphicFramePr>
            <a:graphicFrameLocks noGrp="1"/>
          </p:cNvGraphicFramePr>
          <p:nvPr/>
        </p:nvGraphicFramePr>
        <p:xfrm>
          <a:off x="285293" y="1139190"/>
          <a:ext cx="838241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603"/>
                <a:gridCol w="2095603"/>
                <a:gridCol w="2095603"/>
                <a:gridCol w="2095603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period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actual_units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planned_units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note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Week 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observed zero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Week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actual missing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Week 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planned missing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Week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actual zero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74" name="Rectangle 873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TextBox 874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missing_zero.csv · 4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1/1; строки источника 2–5 из 4;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201 строк справочника сохранены в приложении</a:t>
            </a:r>
          </a:p>
        </p:txBody>
      </p:sp>
      <p:sp>
        <p:nvSpPr>
          <p:cNvPr id="2252" name="Google Shape;2252;p83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b="1" i="0" lang="en-US" sz="855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lang="en-US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4" name="Google Shape;2254;p83"/>
          <p:cNvSpPr txBox="1"/>
          <p:nvPr/>
        </p:nvSpPr>
        <p:spPr>
          <a:xfrm>
            <a:off x="256559" y="3689483"/>
            <a:ext cx="4315441" cy="32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2255" name="Rectangle 225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TextBox 225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Всего 201 строк; полный постраничный показ — в приложении.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87" name="Google Shape;2387;p88"/>
          <p:cNvSpPr/>
          <p:nvPr/>
        </p:nvSpPr>
        <p:spPr>
          <a:xfrm>
            <a:off x="319086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6" name="Google Shape;2396;p88"/>
          <p:cNvSpPr/>
          <p:nvPr/>
        </p:nvSpPr>
        <p:spPr>
          <a:xfrm>
            <a:off x="319086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1" name="Google Shape;2401;p8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Выручка: +36000 USD между 2026-01 и 2026-06 (+30.00%)</a:t>
            </a:r>
          </a:p>
        </p:txBody>
      </p:sp>
      <p:graphicFrame>
        <p:nvGraphicFramePr>
          <p:cNvPr id="2402" name="Chart 2401"/>
          <p:cNvGraphicFramePr>
            <a:graphicFrameLocks noGrp="1"/>
          </p:cNvGraphicFramePr>
          <p:nvPr/>
        </p:nvGraphicFramePr>
        <p:xfrm>
          <a:off x="457198" y="1110022"/>
          <a:ext cx="8400595" cy="346769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03" name="Rectangle 2402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TextBox 2403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time_series.xlsx · лист «Monthly revenue» · 6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Google Shape;1059;p66"/>
          <p:cNvSpPr/>
          <p:nvPr/>
        </p:nvSpPr>
        <p:spPr>
          <a:xfrm>
            <a:off x="4048160" y="486418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Учебный характер данных</a:t>
            </a:r>
          </a:p>
        </p:txBody>
      </p:sp>
      <p:sp>
        <p:nvSpPr>
          <p:cNvPr id="1060" name="Google Shape;1060;p66"/>
          <p:cNvSpPr/>
          <p:nvPr/>
        </p:nvSpPr>
        <p:spPr>
          <a:xfrm>
            <a:off x="4048160" y="740925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Материалы основаны на синтетических учебных данных.</a:t>
            </a:r>
          </a:p>
        </p:txBody>
      </p:sp>
      <p:sp>
        <p:nvSpPr>
          <p:cNvPr id="1061" name="Google Shape;1061;p66"/>
          <p:cNvSpPr/>
          <p:nvPr/>
        </p:nvSpPr>
        <p:spPr>
          <a:xfrm>
            <a:off x="3838239" y="1462423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66"/>
          <p:cNvSpPr/>
          <p:nvPr/>
        </p:nvSpPr>
        <p:spPr>
          <a:xfrm>
            <a:off x="4048160" y="16723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3" name="Google Shape;1063;p66"/>
          <p:cNvSpPr/>
          <p:nvPr/>
        </p:nvSpPr>
        <p:spPr>
          <a:xfrm>
            <a:off x="4048160" y="1672317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Отсутствие реальных компаний</a:t>
            </a:r>
          </a:p>
        </p:txBody>
      </p:sp>
      <p:sp>
        <p:nvSpPr>
          <p:cNvPr id="1064" name="Google Shape;1064;p66"/>
          <p:cNvSpPr/>
          <p:nvPr/>
        </p:nvSpPr>
        <p:spPr>
          <a:xfrm>
            <a:off x="4048160" y="19268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Примеры не представляют реальные компании или рыночные результаты.</a:t>
            </a:r>
          </a:p>
        </p:txBody>
      </p:sp>
      <p:sp>
        <p:nvSpPr>
          <p:cNvPr id="1065" name="Google Shape;1065;p66"/>
          <p:cNvSpPr/>
          <p:nvPr/>
        </p:nvSpPr>
        <p:spPr>
          <a:xfrm>
            <a:off x="3838239" y="2648322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6" name="Google Shape;1066;p66"/>
          <p:cNvSpPr/>
          <p:nvPr/>
        </p:nvSpPr>
        <p:spPr>
          <a:xfrm>
            <a:off x="4048160" y="28582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p66"/>
          <p:cNvSpPr/>
          <p:nvPr/>
        </p:nvSpPr>
        <p:spPr>
          <a:xfrm>
            <a:off x="4048160" y="2858216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Сохранение контекста источника</a:t>
            </a:r>
          </a:p>
        </p:txBody>
      </p:sp>
      <p:sp>
        <p:nvSpPr>
          <p:cNvPr id="1068" name="Google Shape;1068;p66"/>
          <p:cNvSpPr/>
          <p:nvPr/>
        </p:nvSpPr>
        <p:spPr>
          <a:xfrm>
            <a:off x="4048160" y="31127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Выводы сохраняют периоды, единицы и оговорки источника.</a:t>
            </a:r>
          </a:p>
        </p:txBody>
      </p:sp>
      <p:sp>
        <p:nvSpPr>
          <p:cNvPr id="1073" name="Google Shape;1073;p66"/>
          <p:cNvSpPr txBox="1"/>
          <p:nvPr>
            <p:ph type="title"/>
          </p:nvPr>
        </p:nvSpPr>
        <p:spPr>
          <a:xfrm>
            <a:off x="177971" y="282949"/>
            <a:ext cx="3412254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200"/>
              <a:t xml:space="preserve">Синтетические учебные данные исключают интерпретацию примеров как реальных рыночных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4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</a:pPr>
            <a:r>
              <a:rPr lang="en-US" sz="2250"/>
              <a:t xml:space="preserve">Разделение фактов и выводов позволяет аудитории самостоятельно оценивать обоснованность интерпретаций</a:t>
            </a:r>
          </a:p>
        </p:txBody>
      </p:sp>
      <p:sp>
        <p:nvSpPr>
          <p:cNvPr id="439" name="Google Shape;439;p46"/>
          <p:cNvSpPr txBox="1"/>
          <p:nvPr>
            <p:ph idx="1" type="body"/>
          </p:nvPr>
        </p:nvSpPr>
        <p:spPr>
          <a:xfrm>
            <a:off x="1430534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900"/>
              <a:t xml:space="preserve">Наблюдения: фактические цифры и события из таблицы «Пакет данных»</a:t>
            </a:r>
          </a:p>
        </p:txBody>
      </p:sp>
      <p:sp>
        <p:nvSpPr>
          <p:cNvPr id="440" name="Google Shape;440;p4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-US" sz="900"/>
              <a:t xml:space="preserve">Интерпретации: выводы и значения итогов для принятия решений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600"/>
              <a:t xml:space="preserve">Аудитория оценивает прототип и определяет, какие решения необходимы на основе представленных итогов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6" name="Google Shape;906;p62"/>
          <p:cNvSpPr txBox="1"/>
          <p:nvPr>
            <p:ph type="title"/>
          </p:nvPr>
        </p:nvSpPr>
        <p:spPr>
          <a:xfrm>
            <a:off x="177971" y="282949"/>
            <a:ext cx="555988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1–7 из 201</a:t>
            </a:r>
          </a:p>
        </p:txBody>
      </p:sp>
      <p:graphicFrame>
        <p:nvGraphicFramePr>
          <p:cNvPr id="944" name="Table 943"/>
          <p:cNvGraphicFramePr>
            <a:graphicFrameLocks noGrp="1"/>
          </p:cNvGraphicFramePr>
          <p:nvPr/>
        </p:nvGraphicFramePr>
        <p:xfrm>
          <a:off x="560496" y="1139190"/>
          <a:ext cx="829729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648"/>
                <a:gridCol w="4148649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945" name="Rectangle 94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1/29; строки источника 2–8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8–14 из 201</a:t>
            </a:r>
          </a:p>
        </p:txBody>
      </p:sp>
      <p:graphicFrame>
        <p:nvGraphicFramePr>
          <p:cNvPr id="1051" name="Table 1050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009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052" name="Rectangle 1051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2/29; строки источника 9–15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15–21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3/29; строки источника 16–22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22–28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4/29; строки источника 23–29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29–35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5/29; строки источника 30–36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36–42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039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6/29; строки источника 37–43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43–49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049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7/29; строки источника 44–50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50–56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8/29; строки источника 51–57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57–63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9/29; строки источника 58–64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64–70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069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10/29; строки источника 65–71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71–77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11/29; строки источника 72–78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78–84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079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12/29; строки источника 79–85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85–91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13/29; строки источника 86–92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92–98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14/29; строки источника 93–99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99–105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099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15/29; строки источника 100–106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106–112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109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16/29; строки источника 107–113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113–119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17/29; строки источника 114–120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120–126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18/29; строки источника 121–127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127–133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19/29; строки источника 128–134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134–140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139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20/29; строки источника 135–141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141–147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21/29; строки источника 142–148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148–154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149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22/29; строки источника 149–155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155–161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23/29; строки источника 156–162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162–168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24/29; строки источника 163–169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169–175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169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25/29; строки источника 170–176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176–182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179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26/29; строки источника 177–183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183–189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27/29; строки источника 184–190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190–196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28/29; строки источника 191–197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197–201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199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200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Reference item 201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29/29; строки источника 198–202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