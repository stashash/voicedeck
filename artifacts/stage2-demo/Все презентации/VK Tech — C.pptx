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1E2D3E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1E2D3E"/>
              </a:solidFill>
            </c:spPr>
          </c:dPt>
          <c:dPt>
            <c:idx val="2"/>
            <c:spPr>
              <a:solidFill>
                <a:srgbClr val="3F5F83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покажем, как работает процесс анализа данных и подготовки слайдов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подчеркнуть, что мы работаем с учебным материалом, чтобы избежать неверных выводов о реальных бизнес-процессах.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Четкое разделение этих двух категорий помогает избежать смешения фактов с субъективными оценками.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готовы обсудить, какие решения нужны и каковы следующие шаги в работе с аналитикой.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2.xml"/><Relationship Id="rId8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3.xml"/><Relationship Id="rId8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4.xml"/><Relationship Id="rId8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chart" Target="../charts/chart5.xml"/><Relationship Id="rId5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94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7" name="Google Shape;447;p4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1750"/>
              <a:t xml:space="preserve">Прототип превращает синтетические учебные данные в структурированные выводы, четко разделяя наблюдения и интерпретации</a:t>
            </a:r>
          </a:p>
        </p:txBody>
      </p:sp>
      <p:sp>
        <p:nvSpPr>
          <p:cNvPr id="448" name="Google Shape;448;p4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7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Лиды (факт): максимум 240 — «Поиск»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category_comparison.csv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Обращения: «Решено» — 62.00% показанной суммы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category_shares.json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Распределение Значение: от 18 до 95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distribution.csv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Запросы: максимум 120 — «Север»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embedded_table.md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Справочник · строки 1–4 из 4</a:t>
            </a:r>
          </a:p>
        </p:txBody>
      </p:sp>
      <p:graphicFrame>
        <p:nvGraphicFramePr>
          <p:cNvPr id="873" name="Table 872"/>
          <p:cNvGraphicFramePr>
            <a:graphicFrameLocks noGrp="1"/>
          </p:cNvGraphicFramePr>
          <p:nvPr/>
        </p:nvGraphicFramePr>
        <p:xfrm>
          <a:off x="285293" y="1139190"/>
          <a:ext cx="838241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603"/>
                <a:gridCol w="2095603"/>
                <a:gridCol w="2095603"/>
                <a:gridCol w="2095603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missing_zero.csv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 Страница 1/1.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201 строк справочника сохранены в приложении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855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201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2255" name="Rectangle 225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TextBox 225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Показано: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87" name="Google Shape;2387;p88"/>
          <p:cNvSpPr/>
          <p:nvPr/>
        </p:nvSpPr>
        <p:spPr>
          <a:xfrm>
            <a:off x="319086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88"/>
          <p:cNvSpPr/>
          <p:nvPr/>
        </p:nvSpPr>
        <p:spPr>
          <a:xfrm>
            <a:off x="319086" y="3647935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8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Выручка: +36000 USD между 2026-01 и 2026-06 (+30.00%)</a:t>
            </a:r>
          </a:p>
        </p:txBody>
      </p:sp>
      <p:graphicFrame>
        <p:nvGraphicFramePr>
          <p:cNvPr id="2402" name="Chart 2401"/>
          <p:cNvGraphicFramePr>
            <a:graphicFrameLocks noGrp="1"/>
          </p:cNvGraphicFramePr>
          <p:nvPr/>
        </p:nvGraphicFramePr>
        <p:xfrm>
          <a:off x="457198" y="1110022"/>
          <a:ext cx="8400595" cy="346769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03" name="Rectangle 2402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TextBox 2403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time_series.xlsx · лист «Monthly revenue»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Учебный характер данных</a:t>
            </a: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Материалы основаны на синтетических учебных данных.</a:t>
            </a: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Отсутствие реальных компаний</a:t>
            </a: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Примеры не представляют реальные компании или рыночные результаты.</a:t>
            </a:r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2858216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Сохранение контекста источника</a:t>
            </a:r>
          </a:p>
        </p:txBody>
      </p:sp>
      <p:sp>
        <p:nvSpPr>
          <p:cNvPr id="1068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Выводы сохраняют периоды, единицы и оговорки источника.</a:t>
            </a: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200"/>
              <a:t xml:space="preserve">Синтетические учебные данные исключают интерпретацию примеров как реальных рыночных результатов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8" name="Google Shape;438;p4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2250"/>
              <a:t xml:space="preserve">Разделение фактов и выводов позволяет аудитории самостоятельно оценивать обоснованность интерпретаций</a:t>
            </a:r>
          </a:p>
        </p:txBody>
      </p:sp>
      <p:sp>
        <p:nvSpPr>
          <p:cNvPr id="439" name="Google Shape;439;p46"/>
          <p:cNvSpPr txBox="1"/>
          <p:nvPr>
            <p:ph idx="1" type="body"/>
          </p:nvPr>
        </p:nvSpPr>
        <p:spPr>
          <a:xfrm>
            <a:off x="1430534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Наблюдения: фактические цифры и события из таблицы «Пакет данных»</a:t>
            </a:r>
          </a:p>
        </p:txBody>
      </p:sp>
      <p:sp>
        <p:nvSpPr>
          <p:cNvPr id="440" name="Google Shape;440;p4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900"/>
              <a:t xml:space="preserve">Интерпретации: выводы и значения итогов для принятия решений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600"/>
              <a:t xml:space="preserve">Аудитория оценивает прототип и определяет, какие решения необходимы на основе представленных итогов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Приложение · Справочник · строки 1–7 из 201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8–14 из 201</a:t>
            </a:r>
          </a:p>
        </p:txBody>
      </p:sp>
      <p:graphicFrame>
        <p:nvGraphicFramePr>
          <p:cNvPr id="1051" name="Table 1050"/>
          <p:cNvGraphicFramePr>
            <a:graphicFrameLocks noGrp="1"/>
          </p:cNvGraphicFramePr>
          <p:nvPr/>
        </p:nvGraphicFramePr>
        <p:xfrm>
          <a:off x="285293" y="1110022"/>
          <a:ext cx="85725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/>
                <a:gridCol w="4286250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1052" name="Rectangle 1051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15–21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22–28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29–35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36–42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039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43–49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049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50–56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57–63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64–70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069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71–77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78–84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079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85–91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92–98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99–105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106–112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109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113–119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119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120–126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127–133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129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19/29.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134–140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139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141–147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148–154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149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155–161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159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162–168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169–175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169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176–182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177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179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183–189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189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190–196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191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192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193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194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195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196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Приложение · Справочник · строки 197–201 из 201</a:t>
            </a:r>
          </a:p>
        </p:txBody>
      </p:sp>
      <p:graphicFrame>
        <p:nvGraphicFramePr>
          <p:cNvPr id="2436" name="Table 2435"/>
          <p:cNvGraphicFramePr>
            <a:graphicFrameLocks noGrp="1"/>
          </p:cNvGraphicFramePr>
          <p:nvPr/>
        </p:nvGraphicFramePr>
        <p:xfrm>
          <a:off x="735790" y="1110022"/>
          <a:ext cx="8122003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001"/>
                <a:gridCol w="4061002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198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199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200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201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2437" name="Rectangle 243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201 из 201 строк; исключено: 0. Страница 29/29. Показано: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