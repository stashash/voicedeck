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  <p:sldId id="323" r:id="rId76"/>
    <p:sldId id="324" r:id="rId7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 leads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Sheet1!$A$2:$A$5</c:f>
              <c:strCache>
                <c:ptCount val="4"/>
                <c:pt idx="0">
                  <c:v>Search</c:v>
                </c:pt>
                <c:pt idx="1">
                  <c:v>Social</c:v>
                </c:pt>
                <c:pt idx="2">
                  <c:v>Partners</c:v>
                </c:pt>
                <c:pt idx="3">
                  <c:v>Email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240.0</c:v>
                </c:pt>
                <c:pt idx="1">
                  <c:v>150.0</c:v>
                </c:pt>
                <c:pt idx="2">
                  <c:v>180.0</c:v>
                </c:pt>
                <c:pt idx="3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leads</c:v>
                </c:pt>
              </c:strCache>
            </c:strRef>
          </c:tx>
          <c:spPr>
            <a:solidFill>
              <a:srgbClr val="00E9FF"/>
            </a:solidFill>
          </c:spPr>
          <c:cat>
            <c:strRef>
              <c:f>Sheet1!$A$2:$A$5</c:f>
              <c:strCache>
                <c:ptCount val="4"/>
                <c:pt idx="0">
                  <c:v>Search</c:v>
                </c:pt>
                <c:pt idx="1">
                  <c:v>Social</c:v>
                </c:pt>
                <c:pt idx="2">
                  <c:v>Partners</c:v>
                </c:pt>
                <c:pt idx="3">
                  <c:v>Email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220.0</c:v>
                </c:pt>
                <c:pt idx="1">
                  <c:v>180.0</c:v>
                </c:pt>
                <c:pt idx="2">
                  <c:v>160.0</c:v>
                </c:pt>
                <c:pt idx="3">
                  <c:v>80.0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channel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actual leads · target leads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tickets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</c:spPr>
          </c:dPt>
          <c:dPt>
            <c:idx val="1"/>
            <c:spPr>
              <a:solidFill>
                <a:srgbClr val="00E9FF"/>
              </a:solidFill>
            </c:spPr>
          </c:dPt>
          <c:dPt>
            <c:idx val="2"/>
            <c:spPr>
              <a:solidFill>
                <a:srgbClr val="70C3FF"/>
              </a:solidFill>
            </c:spPr>
          </c:dPt>
          <c:cat>
            <c:strRef>
              <c:f>Sheet1!$A$2:$A$4</c:f>
              <c:strCache>
                <c:ptCount val="3"/>
                <c:pt idx="0">
                  <c:v>Resolved</c:v>
                </c:pt>
                <c:pt idx="1">
                  <c:v>Pending</c:v>
                </c:pt>
                <c:pt idx="2">
                  <c:v>Escalated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620.0</c:v>
                </c:pt>
                <c:pt idx="1">
                  <c:v>250.0</c:v>
                </c:pt>
                <c:pt idx="2">
                  <c:v>130.0</c:v>
                </c:pt>
              </c:numCache>
            </c:numRef>
          </c:val>
        </c:ser>
        <c:dLbls>
          <c:txPr>
            <a:bodyPr/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наблюдений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Sheet1!$A$2:$A$6</c:f>
              <c:strCache>
                <c:ptCount val="5"/>
                <c:pt idx="0">
                  <c:v>[18–33.4)</c:v>
                </c:pt>
                <c:pt idx="1">
                  <c:v>[33.4–48.8)</c:v>
                </c:pt>
                <c:pt idx="2">
                  <c:v>[48.8–64.2)</c:v>
                </c:pt>
                <c:pt idx="3">
                  <c:v>[64.2–79.6)</c:v>
                </c:pt>
                <c:pt idx="4">
                  <c:v>[79.6–95]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Значение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Число наблюдений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Sheet1!$A$2:$A$4</c:f>
              <c:strCache>
                <c:ptCount val="3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120.0</c:v>
                </c:pt>
                <c:pt idx="1">
                  <c:v>95.0</c:v>
                </c:pt>
                <c:pt idx="2">
                  <c:v>75.0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Region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Requests, шт.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2026-01</c:v>
                </c:pt>
                <c:pt idx="1">
                  <c:v>2026-02</c:v>
                </c:pt>
                <c:pt idx="2">
                  <c:v>2026-03</c:v>
                </c:pt>
                <c:pt idx="3">
                  <c:v>2026-04</c:v>
                </c:pt>
                <c:pt idx="4">
                  <c:v>2026-05</c:v>
                </c:pt>
                <c:pt idx="5">
                  <c:v>2026-06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120000.0</c:v>
                </c:pt>
                <c:pt idx="1">
                  <c:v>126000.0</c:v>
                </c:pt>
                <c:pt idx="2">
                  <c:v>123000.0</c:v>
                </c:pt>
                <c:pt idx="3">
                  <c:v>135000.0</c:v>
                </c:pt>
                <c:pt idx="4">
                  <c:v>141000.0</c:v>
                </c:pt>
                <c:pt idx="5">
                  <c:v>156000.0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Период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Выручка, USD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 пожаловать. Сегодня мы показываем, как работает прототип на учебных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category_comparison.csv · 4 исходных строк. Расчёт: max(actual_leads) = 240; совпадений максимума: 1; без суммирования категорий. Сопоставление рядов внутри каждой категории; значения не суммировались.. Данные: 0f3664992f7f3ba37fb32ad060f098bdad697af085c9f3c4fd2d9aaf5d20e064; SHA-256: 1b8306279ba7a59d13cf3e1ace73ff0665a4cb9a20cb8159d9fadffa983cad5d.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category_shares.json · 3 исходных строк. Расчёт: 620 / 1000 × 100 = 62.00% (округлено до 2 знаков); знаменатель — сумма показанных значений.. Данные: 46d12a475c2e6a7916a2af73f3d4bde93bab9c14f6e1af9c32eaa269ff4f8034; SHA-256: 958e61881f379dba570806f1f0dbe558403f12b47404963ee94b5ca66175a760.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distribution.csv · 25 исходных строк. Расчёт: min(value) = 18; max(value) = 95; n = 25. Freedman–Diaconis, ограничение читаемости min(8, ceil(sqrt(n))); 5 равных интервалов; подписи границ до 4 значащих цифр, при совпадении — полная точность; сумма частот = 25; n = 25.. Данные: 84b11d9a0857b181fc55a3e3ebc961f5340eb0be37af16fcaf5ce2d32c8b91c7; SHA-256: fb86dcad3232d0f8dc5ab8eecc4c4276fb9303665b827b6d5f365b6f3e4aa793.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embedded_table.md · # Regional service snapshot · Source: synthetic test data. Units: requests and resolved requests, counts for April 2026. · 3 исходных строк. Расчёт: max(Requests) = 120; совпадений максимума: 1; без суммирования категорий.. Данные: 735bdc5cb146877cadeab47f182744b1157e011833283fe3cc40b7f68003efc3; SHA-256: 4bda1b7852b68289daae9a5b85b93818aa2b298f8a185697ed2864d929ba241a.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missing_zero.csv · 4 исходных строк. Расчёт: Постраничный показ исходных строк; 4 строк всего; без агрегации.. Данные: 9f0ba4567b42cf421c1d6ee0bc54b9dcdf61f99f3bb55bea1e86103d08339142; SHA-256: d9939d5f76ca2a726e94d4829a4445559226171c3ffc50b9390a8489591773d0.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Количество строк источника; значения не агрегировались..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time_series.xlsx · лист «Monthly revenue» · 6 исходных строк. Расчёт: revenue_usd: последнее − первое = 156000 − 120000 = +36000; без агрегации. Относительное изменение = (+36000) / 120000 × 100 = +30.00%.. Данные: b721d5d52b33eba845062116b253a2e43014c2db40da3f5b25967306e9b782a4; SHA-256: f182812cd77a6e7ca2d2881c980b5bc070a9c67d5f6f210226bc92a785fed4c0.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Основной принцип работы прототипа — прозрачность и честность в отношении источника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После демонстрации нам нужна ваша обратная связь для планирования следующих этапов.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Спасибо за время. Открыты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8.png"/><Relationship Id="rId6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3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Титульный слайд">
  <p:cSld name="9_Титульный слайд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3"/>
          <p:cNvPicPr preferRelativeResize="0"/>
          <p:nvPr/>
        </p:nvPicPr>
        <p:blipFill rotWithShape="1">
          <a:blip r:embed="rId2">
            <a:alphaModFix/>
          </a:blip>
          <a:srcRect b="-1" l="0" r="50023" t="66636"/>
          <a:stretch/>
        </p:blipFill>
        <p:spPr>
          <a:xfrm>
            <a:off x="794" y="4572000"/>
            <a:ext cx="6093175" cy="228599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1" y="5747081"/>
            <a:ext cx="4487332" cy="111091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745067" y="6160788"/>
            <a:ext cx="4487332" cy="6972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" name="Google Shape;88;p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89" name="Google Shape;89;p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0" name="Google Shape;90;p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1" name="Google Shape;91;p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2" name="Google Shape;92;p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3" name="Google Shape;93;p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4" name="Google Shape;94;p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5" name="Google Shape;95;p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6" name="Google Shape;96;p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7" name="Google Shape;97;p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8" name="Google Shape;98;p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9" name="Google Shape;99;p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0" name="Google Shape;100;p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1" name="Google Shape;101;p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2" name="Google Shape;102;p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3" name="Google Shape;103;p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4" name="Google Shape;104;p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5" name="Google Shape;105;p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6" name="Google Shape;106;p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7" name="Google Shape;107;p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08" name="Google Shape;108;p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9" name="Google Shape;109;p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/>
          <p:nvPr/>
        </p:nvSpPr>
        <p:spPr>
          <a:xfrm>
            <a:off x="4487333" y="4377664"/>
            <a:ext cx="1608667" cy="2480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12" name="Google Shape;1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Титульный слайд">
  <p:cSld name="18_Титульный слайд">
    <p:bg>
      <p:bgPr>
        <a:solidFill>
          <a:schemeClr val="dk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5"/>
          <p:cNvPicPr preferRelativeResize="0"/>
          <p:nvPr/>
        </p:nvPicPr>
        <p:blipFill rotWithShape="1">
          <a:blip r:embed="rId2">
            <a:alphaModFix/>
          </a:blip>
          <a:srcRect b="2847" l="52053" r="0" t="90954"/>
          <a:stretch/>
        </p:blipFill>
        <p:spPr>
          <a:xfrm flipH="1">
            <a:off x="-2" y="6433309"/>
            <a:ext cx="5845629" cy="424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 rotWithShape="1">
          <a:blip r:embed="rId3">
            <a:alphaModFix/>
          </a:blip>
          <a:srcRect b="0" l="0" r="26515" t="13089"/>
          <a:stretch/>
        </p:blipFill>
        <p:spPr>
          <a:xfrm rot="10800000">
            <a:off x="-1" y="1831974"/>
            <a:ext cx="4249647" cy="50260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21" name="Google Shape;121;p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2" name="Google Shape;122;p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3" name="Google Shape;123;p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4" name="Google Shape;124;p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5" name="Google Shape;125;p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6" name="Google Shape;126;p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7" name="Google Shape;127;p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8" name="Google Shape;128;p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9" name="Google Shape;129;p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0" name="Google Shape;130;p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1" name="Google Shape;131;p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2" name="Google Shape;132;p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3" name="Google Shape;133;p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4" name="Google Shape;134;p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5" name="Google Shape;135;p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6" name="Google Shape;136;p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7" name="Google Shape;137;p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8" name="Google Shape;138;p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9" name="Google Shape;139;p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40" name="Google Shape;140;p5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41" name="Google Shape;14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2" name="Google Shape;142;p5"/>
          <p:cNvPicPr preferRelativeResize="0"/>
          <p:nvPr/>
        </p:nvPicPr>
        <p:blipFill rotWithShape="1">
          <a:blip r:embed="rId5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46" name="Google Shape;146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Заголовок">
  <p:cSld name="8_Заголовок">
    <p:bg>
      <p:bgPr>
        <a:solidFill>
          <a:schemeClr val="dk1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8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 flipH="1">
            <a:off x="2907772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 flipH="1">
            <a:off x="5862319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6" name="Google Shape;20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07" name="Google Shape;20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Титульный слайд">
  <p:cSld name="14_Титульный слайд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35" name="Google Shape;235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96000" y="5844358"/>
            <a:ext cx="6096000" cy="10136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0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37" name="Google Shape;237;p10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8" name="Google Shape;238;p10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9" name="Google Shape;239;p10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0" name="Google Shape;240;p10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1" name="Google Shape;241;p10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2" name="Google Shape;242;p10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3" name="Google Shape;243;p10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4" name="Google Shape;244;p10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10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6" name="Google Shape;246;p10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7" name="Google Shape;247;p10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10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9" name="Google Shape;249;p10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0" name="Google Shape;250;p10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10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2" name="Google Shape;252;p10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3" name="Google Shape;253;p10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10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5" name="Google Shape;255;p10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56" name="Google Shape;256;p1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7" name="Google Shape;2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6292" y="0"/>
            <a:ext cx="1325708" cy="37239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Заголовок">
  <p:cSld name="11_Заголовок">
    <p:bg>
      <p:bgPr>
        <a:solidFill>
          <a:schemeClr val="dk1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11"/>
          <p:cNvSpPr txBox="1"/>
          <p:nvPr>
            <p:ph type="title"/>
          </p:nvPr>
        </p:nvSpPr>
        <p:spPr>
          <a:xfrm>
            <a:off x="429253" y="424691"/>
            <a:ext cx="11354760" cy="76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63" name="Google Shape;26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4" name="Google Shape;26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Заголовок">
  <p:cSld name="17_Заголовок">
    <p:bg>
      <p:bgPr>
        <a:solidFill>
          <a:schemeClr val="dk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2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>
            <a:off x="-1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12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>
            <a:off x="-1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1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69" name="Google Shape;26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Титульный слайд">
  <p:cSld name="11_Титульный слайд">
    <p:bg>
      <p:bgPr>
        <a:solidFill>
          <a:schemeClr val="dk1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oogle Shape;272;p1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73" name="Google Shape;273;p1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4" name="Google Shape;274;p1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5" name="Google Shape;275;p1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6" name="Google Shape;276;p1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7" name="Google Shape;277;p1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8" name="Google Shape;278;p1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9" name="Google Shape;279;p1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0" name="Google Shape;280;p1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1" name="Google Shape;281;p1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2" name="Google Shape;282;p1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3" name="Google Shape;283;p1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4" name="Google Shape;284;p1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5" name="Google Shape;285;p1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6" name="Google Shape;286;p1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7" name="Google Shape;287;p1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8" name="Google Shape;288;p1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9" name="Google Shape;289;p1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0" name="Google Shape;290;p1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1" name="Google Shape;291;p1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92" name="Google Shape;292;p1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93" name="Google Shape;293;p1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95" name="Google Shape;29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Титульный слайд">
  <p:cSld name="16_Титульный слайд">
    <p:bg>
      <p:bgPr>
        <a:solidFill>
          <a:schemeClr val="dk1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97" name="Google Shape;297;p14"/>
          <p:cNvPicPr preferRelativeResize="0"/>
          <p:nvPr/>
        </p:nvPicPr>
        <p:blipFill rotWithShape="1">
          <a:blip r:embed="rId2">
            <a:alphaModFix/>
          </a:blip>
          <a:srcRect b="0" l="20444" r="24824" t="0"/>
          <a:stretch/>
        </p:blipFill>
        <p:spPr>
          <a:xfrm>
            <a:off x="5519099" y="0"/>
            <a:ext cx="6672901" cy="685713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8" name="Google Shape;298;p14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99" name="Google Shape;299;p14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0" name="Google Shape;300;p14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1" name="Google Shape;301;p14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2" name="Google Shape;302;p14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3" name="Google Shape;303;p14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4" name="Google Shape;304;p14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5" name="Google Shape;305;p14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6" name="Google Shape;306;p14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7" name="Google Shape;307;p14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8" name="Google Shape;308;p14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9" name="Google Shape;309;p14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0" name="Google Shape;310;p14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1" name="Google Shape;311;p14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2" name="Google Shape;312;p14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3" name="Google Shape;313;p14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4" name="Google Shape;314;p14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5" name="Google Shape;315;p14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6" name="Google Shape;316;p14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7" name="Google Shape;317;p14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18" name="Google Shape;318;p14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319" name="Google Shape;31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14"/>
          <p:cNvSpPr/>
          <p:nvPr/>
        </p:nvSpPr>
        <p:spPr>
          <a:xfrm>
            <a:off x="5404757" y="4555671"/>
            <a:ext cx="1926772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8490856" y="53721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6498771" y="3429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4"/>
          <p:cNvSpPr/>
          <p:nvPr/>
        </p:nvSpPr>
        <p:spPr>
          <a:xfrm>
            <a:off x="7903028" y="32658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5323114" y="930729"/>
            <a:ext cx="1175657" cy="973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5" name="Google Shape;32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Титульный слайд">
  <p:cSld name="10_Титульный слайд">
    <p:bg>
      <p:bgPr>
        <a:solidFill>
          <a:schemeClr val="dk1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1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55" name="Google Shape;355;p1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6" name="Google Shape;356;p1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7" name="Google Shape;357;p1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8" name="Google Shape;358;p1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9" name="Google Shape;359;p1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0" name="Google Shape;360;p1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1" name="Google Shape;361;p1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2" name="Google Shape;362;p1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3" name="Google Shape;363;p1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4" name="Google Shape;364;p1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5" name="Google Shape;365;p1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6" name="Google Shape;366;p1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7" name="Google Shape;367;p1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8" name="Google Shape;368;p1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9" name="Google Shape;369;p1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0" name="Google Shape;370;p1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1" name="Google Shape;371;p1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2" name="Google Shape;372;p1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3" name="Google Shape;373;p1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74" name="Google Shape;374;p1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75" name="Google Shape;37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76" name="Google Shape;3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4.xm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Google Shape;381;p17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ru-RU" sz="3050"/>
              <a:t xml:space="preserve">Прототип на синтетических данных демонстрирует разделение наблюдений и интерпретаций с сохранением оговорок источника</a:t>
            </a:r>
          </a:p>
        </p:txBody>
      </p:sp>
      <p:sp>
        <p:nvSpPr>
          <p:cNvPr id="383" name="Google Shape;383;p17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b="0" i="0" lang="ru-RU" sz="1200" u="none" cap="none" strike="noStrike">
                <a:solidFill>
                  <a:srgbClr val="AFB8C2"/>
                </a:solidFill>
                <a:latin typeface="Play"/>
                <a:ea typeface="Play"/>
                <a:cs typeface="Play"/>
                <a:sym typeface="Play"/>
              </a:rPr>
              <a:t xml:space="preserve">Прототип показывает, как отделять наблюдения от интерпретаций и сохранять оговорки источника.</a:t>
            </a:r>
          </a:p>
        </p:txBody>
      </p:sp>
      <p:sp>
        <p:nvSpPr>
          <p:cNvPr id="384" name="Rectangle 38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Данные синтетические, не являются реальными рыночными результатами.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Google Shape;459;p2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actual leads: максимум 240 — «Search»</a:t>
            </a:r>
          </a:p>
        </p:txBody>
      </p:sp>
      <p:graphicFrame>
        <p:nvGraphicFramePr>
          <p:cNvPr id="460" name="Chart 459"/>
          <p:cNvGraphicFramePr>
            <a:graphicFrameLocks noGrp="1"/>
          </p:cNvGraphicFramePr>
          <p:nvPr/>
        </p:nvGraphicFramePr>
        <p:xfrm>
          <a:off x="427939" y="1729423"/>
          <a:ext cx="10003661" cy="437419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61" name="Rectangle 46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category_comparison.csv · 4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4 из 4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2" name="Google Shape;702;p32"/>
          <p:cNvSpPr/>
          <p:nvPr/>
        </p:nvSpPr>
        <p:spPr>
          <a:xfrm>
            <a:off x="431328" y="1243208"/>
            <a:ext cx="9699808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endParaRPr lang="ru-RU" sz="1600">
              <a:solidFill>
                <a:srgbClr val="CAD0D5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03" name="Google Shape;703;p3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tickets: «Resolved» — 62.00% показанной суммы</a:t>
            </a:r>
          </a:p>
        </p:txBody>
      </p:sp>
      <p:graphicFrame>
        <p:nvGraphicFramePr>
          <p:cNvPr id="704" name="Chart 703"/>
          <p:cNvGraphicFramePr>
            <a:graphicFrameLocks noGrp="1"/>
          </p:cNvGraphicFramePr>
          <p:nvPr/>
        </p:nvGraphicFramePr>
        <p:xfrm>
          <a:off x="427939" y="1729423"/>
          <a:ext cx="10003661" cy="437419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05" name="Rectangle 704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TextBox 705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category_shares.json · 3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74" name="Google Shape;474;p2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Распределение Значение: от 18 до 95</a:t>
            </a:r>
          </a:p>
        </p:txBody>
      </p:sp>
      <p:graphicFrame>
        <p:nvGraphicFramePr>
          <p:cNvPr id="475" name="Chart 474"/>
          <p:cNvGraphicFramePr>
            <a:graphicFrameLocks noGrp="1"/>
          </p:cNvGraphicFramePr>
          <p:nvPr/>
        </p:nvGraphicFramePr>
        <p:xfrm>
          <a:off x="427939" y="1729423"/>
          <a:ext cx="11334902" cy="437419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6" name="Rectangle 47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TextBox 47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distribution.csv · 25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25 из 25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10" name="Google Shape;510;p25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Requests: максимум 120 — «North»</a:t>
            </a:r>
          </a:p>
        </p:txBody>
      </p:sp>
      <p:graphicFrame>
        <p:nvGraphicFramePr>
          <p:cNvPr id="541" name="Chart 540"/>
          <p:cNvGraphicFramePr>
            <a:graphicFrameLocks noGrp="1"/>
          </p:cNvGraphicFramePr>
          <p:nvPr/>
        </p:nvGraphicFramePr>
        <p:xfrm>
          <a:off x="427939" y="1729423"/>
          <a:ext cx="11334902" cy="4374197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42" name="Rectangle 54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embedded_table.md · # Regional service snapshot · Source: synthetic test data. Units: requests and resolved requests, counts for Apr…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Справочник · строки 1–4 из 4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725"/>
                <a:gridCol w="2833725"/>
                <a:gridCol w="2833725"/>
                <a:gridCol w="2833727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period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actual_units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planned_units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note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Week 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observed zero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Week 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/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actual missing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Week 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/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planned missing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Week 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actual zero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missing_zero.csv · 4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1/1; строки источника 2–5 из 4;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201 строк справочника сохранены в приложении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0" spcFirstLastPara="1" rIns="1218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-RU" sz="80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201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Полный справочник: 29 страниц в приложении после основных выводов; исходные значения сохранены.</a:t>
            </a: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endParaRPr lang="ru-RU" sz="1600">
              <a:solidFill>
                <a:srgbClr val="CAD0D5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3" name="Rectangle 712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TextBox 713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Всего 201 строк; полный постраничный показ — в приложении.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65" name="Google Shape;565;p2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Выручка: +36000 USD между 2026-01 и 2026-06 (+30.00%)</a:t>
            </a:r>
          </a:p>
        </p:txBody>
      </p:sp>
      <p:graphicFrame>
        <p:nvGraphicFramePr>
          <p:cNvPr id="566" name="Chart 565"/>
          <p:cNvGraphicFramePr>
            <a:graphicFrameLocks noGrp="1"/>
          </p:cNvGraphicFramePr>
          <p:nvPr/>
        </p:nvGraphicFramePr>
        <p:xfrm>
          <a:off x="427939" y="1729423"/>
          <a:ext cx="10003661" cy="437419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7" name="Rectangle 566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TextBox 567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time_series.xlsx · лист «Monthly revenue» · 6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6 из 6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Google Shape;441;p2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Разделение фактов и выводов обеспечивает прозрачную логику для принятия решений</a:t>
            </a:r>
          </a:p>
        </p:txBody>
      </p:sp>
      <p:sp>
        <p:nvSpPr>
          <p:cNvPr id="442" name="Google Shape;442;p21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Наблюдения и интерпретации представлены отдельно</a:t>
            </a:r>
          </a:p>
        </p:txBody>
      </p:sp>
      <p:grpSp>
        <p:nvGrpSpPr>
          <p:cNvPr id="443" name="Google Shape;443;p21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444" name="Google Shape;444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5" name="Google Shape;445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6" name="Google Shape;446;p21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Периоды, единицы и оговорки источника фиксируются</a:t>
            </a:r>
          </a:p>
        </p:txBody>
      </p:sp>
      <p:grpSp>
        <p:nvGrpSpPr>
          <p:cNvPr id="447" name="Google Shape;447;p21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448" name="Google Shape;448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9" name="Google Shape;44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0" name="Google Shape;450;p21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Синтетические примеры не выдаются за реальные компании</a:t>
            </a:r>
          </a:p>
        </p:txBody>
      </p:sp>
      <p:grpSp>
        <p:nvGrpSpPr>
          <p:cNvPr id="451" name="Google Shape;451;p21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452" name="Google Shape;452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53" name="Google Shape;453;p2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4" name="Rectangle 45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Синтетические учебные данные.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6" name="Google Shape;486;p2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Следующие шаги: интеграция в процесс</a:t>
            </a:r>
          </a:p>
        </p:txBody>
      </p:sp>
      <p:sp>
        <p:nvSpPr>
          <p:cNvPr id="487" name="Google Shape;487;p24"/>
          <p:cNvSpPr/>
          <p:nvPr/>
        </p:nvSpPr>
        <p:spPr>
          <a:xfrm rot="-600">
            <a:off x="437086" y="2483590"/>
            <a:ext cx="3437052" cy="506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2000"/>
              <a:buFont typeface="Play"/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Оценка прототипа</a:t>
            </a:r>
          </a:p>
        </p:txBody>
      </p:sp>
      <p:sp>
        <p:nvSpPr>
          <p:cNvPr id="488" name="Google Shape;488;p24"/>
          <p:cNvSpPr/>
          <p:nvPr/>
        </p:nvSpPr>
        <p:spPr>
          <a:xfrm>
            <a:off x="437041" y="1592263"/>
            <a:ext cx="676173" cy="676089"/>
          </a:xfrm>
          <a:prstGeom prst="roundRect">
            <a:avLst>
              <a:gd fmla="val 2358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1</a:t>
            </a:r>
          </a:p>
        </p:txBody>
      </p:sp>
      <p:sp>
        <p:nvSpPr>
          <p:cNvPr id="489" name="Google Shape;489;p24"/>
          <p:cNvSpPr/>
          <p:nvPr/>
        </p:nvSpPr>
        <p:spPr>
          <a:xfrm rot="-600">
            <a:off x="437111" y="2883834"/>
            <a:ext cx="3437052" cy="8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E7EA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4E7EA"/>
                </a:solidFill>
                <a:latin typeface="Play"/>
                <a:ea typeface="Play"/>
                <a:cs typeface="Play"/>
                <a:sym typeface="Play"/>
              </a:rPr>
              <a:t xml:space="preserve">Специалисты проверяют качество подготовки слайдов.</a:t>
            </a:r>
          </a:p>
        </p:txBody>
      </p:sp>
      <p:sp>
        <p:nvSpPr>
          <p:cNvPr id="490" name="Google Shape;490;p24"/>
          <p:cNvSpPr/>
          <p:nvPr/>
        </p:nvSpPr>
        <p:spPr>
          <a:xfrm rot="-600">
            <a:off x="4370119" y="2483590"/>
            <a:ext cx="3437052" cy="506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2000"/>
              <a:buFont typeface="Play"/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Обратная связь</a:t>
            </a:r>
          </a:p>
        </p:txBody>
      </p:sp>
      <p:sp>
        <p:nvSpPr>
          <p:cNvPr id="491" name="Google Shape;491;p24"/>
          <p:cNvSpPr/>
          <p:nvPr/>
        </p:nvSpPr>
        <p:spPr>
          <a:xfrm>
            <a:off x="4370074" y="1592263"/>
            <a:ext cx="676173" cy="676089"/>
          </a:xfrm>
          <a:prstGeom prst="roundRect">
            <a:avLst>
              <a:gd fmla="val 2358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2</a:t>
            </a:r>
          </a:p>
        </p:txBody>
      </p:sp>
      <p:sp>
        <p:nvSpPr>
          <p:cNvPr id="492" name="Google Shape;492;p24"/>
          <p:cNvSpPr/>
          <p:nvPr/>
        </p:nvSpPr>
        <p:spPr>
          <a:xfrm rot="-600">
            <a:off x="4370144" y="2883834"/>
            <a:ext cx="3437052" cy="8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E7EA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4E7EA"/>
                </a:solidFill>
                <a:latin typeface="Play"/>
                <a:ea typeface="Play"/>
                <a:cs typeface="Play"/>
                <a:sym typeface="Play"/>
              </a:rPr>
              <a:t xml:space="preserve">Сбор комментариев по структуре и подаче.</a:t>
            </a:r>
          </a:p>
        </p:txBody>
      </p:sp>
      <p:sp>
        <p:nvSpPr>
          <p:cNvPr id="499" name="Google Shape;499;p24"/>
          <p:cNvSpPr/>
          <p:nvPr/>
        </p:nvSpPr>
        <p:spPr>
          <a:xfrm rot="-600">
            <a:off x="8303152" y="2483590"/>
            <a:ext cx="3437052" cy="506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2000"/>
              <a:buFont typeface="Play"/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Планирование</a:t>
            </a:r>
          </a:p>
        </p:txBody>
      </p:sp>
      <p:sp>
        <p:nvSpPr>
          <p:cNvPr id="500" name="Google Shape;500;p24"/>
          <p:cNvSpPr/>
          <p:nvPr/>
        </p:nvSpPr>
        <p:spPr>
          <a:xfrm>
            <a:off x="8303107" y="1592263"/>
            <a:ext cx="676173" cy="676089"/>
          </a:xfrm>
          <a:prstGeom prst="roundRect">
            <a:avLst>
              <a:gd fmla="val 2358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3</a:t>
            </a:r>
          </a:p>
        </p:txBody>
      </p:sp>
      <p:sp>
        <p:nvSpPr>
          <p:cNvPr id="501" name="Google Shape;501;p24"/>
          <p:cNvSpPr/>
          <p:nvPr/>
        </p:nvSpPr>
        <p:spPr>
          <a:xfrm rot="-600">
            <a:off x="8303177" y="2883834"/>
            <a:ext cx="3437052" cy="8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E7EA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4E7EA"/>
                </a:solidFill>
                <a:latin typeface="Play"/>
                <a:ea typeface="Play"/>
                <a:cs typeface="Play"/>
                <a:sym typeface="Play"/>
              </a:rPr>
              <a:t xml:space="preserve">Определение этапов интеграции в рабочий процесс.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Демонстрационный сценарий.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4" name="Google Shape;874;p44"/>
          <p:cNvSpPr txBox="1"/>
          <p:nvPr>
            <p:ph type="title"/>
          </p:nvPr>
        </p:nvSpPr>
        <p:spPr>
          <a:xfrm>
            <a:off x="429253" y="2291422"/>
            <a:ext cx="484600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0"/>
              <a:buFont typeface="Play"/>
              <a:buNone/>
            </a:pPr>
            <a:r>
              <a:rPr b="1" lang="ru-RU" sz="3500"/>
              <a:t xml:space="preserve">Готовы ответить на вопросы о возможностях прототипа</a:t>
            </a:r>
          </a:p>
        </p:txBody>
      </p:sp>
      <p:sp>
        <p:nvSpPr>
          <p:cNvPr id="875" name="Rectangle 874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TextBox 875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Конец презентации.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1–7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1/29; строки источника 2–8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13" name="Google Shape;613;p2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8–14 из 201</a:t>
            </a:r>
          </a:p>
        </p:txBody>
      </p:sp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40" name="Table 639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41" name="Rectangle 64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TextBox 64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2/29; строки источника 9–15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15–21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3/29; строки источника 16–22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Google Shape;680;p31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22–28 из 201</a:t>
            </a:r>
          </a:p>
        </p:txBody>
      </p:sp>
      <p:sp>
        <p:nvSpPr>
          <p:cNvPr id="684" name="Google Shape;684;p31"/>
          <p:cNvSpPr/>
          <p:nvPr/>
        </p:nvSpPr>
        <p:spPr>
          <a:xfrm>
            <a:off x="423103" y="5533764"/>
            <a:ext cx="6565676" cy="395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22–28 из 201; страница 4 из 29.</a:t>
            </a:r>
          </a:p>
        </p:txBody>
      </p:sp>
      <p:graphicFrame>
        <p:nvGraphicFramePr>
          <p:cNvPr id="685" name="Table 684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86" name="Rectangle 68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4/29; строки источника 23–29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29–35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5/29; строки источника 30–36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75" name="Google Shape;775;p3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36–42 из 201</a:t>
            </a:r>
          </a:p>
        </p:txBody>
      </p:sp>
      <p:graphicFrame>
        <p:nvGraphicFramePr>
          <p:cNvPr id="776" name="Table 775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777" name="Rectangle 776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TextBox 777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6/29; строки источника 37–43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3" name="Google Shape;423;p2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43–49 из 201</a:t>
            </a:r>
          </a:p>
        </p:txBody>
      </p:sp>
      <p:sp>
        <p:nvSpPr>
          <p:cNvPr id="436" name="Google Shape;436;p20"/>
          <p:cNvSpPr/>
          <p:nvPr/>
        </p:nvSpPr>
        <p:spPr>
          <a:xfrm>
            <a:off x="5916189" y="1442224"/>
            <a:ext cx="5782981" cy="4969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43–49 из 201; страница 7 из 29.</a:t>
            </a:r>
          </a:p>
        </p:txBody>
      </p:sp>
      <p:graphicFrame>
        <p:nvGraphicFramePr>
          <p:cNvPr id="437" name="Table 436"/>
          <p:cNvGraphicFramePr>
            <a:graphicFrameLocks noGrp="1"/>
          </p:cNvGraphicFramePr>
          <p:nvPr/>
        </p:nvGraphicFramePr>
        <p:xfrm>
          <a:off x="4249646" y="1939164"/>
          <a:ext cx="7513196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98"/>
                <a:gridCol w="3756598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38" name="Rectangle 437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7/29; строки источника 44–50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Google Shape;547;p26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50–56 из 201</a:t>
            </a:r>
          </a:p>
        </p:txBody>
      </p:sp>
      <p:graphicFrame>
        <p:nvGraphicFramePr>
          <p:cNvPr id="558" name="Table 557"/>
          <p:cNvGraphicFramePr>
            <a:graphicFrameLocks noGrp="1"/>
          </p:cNvGraphicFramePr>
          <p:nvPr/>
        </p:nvGraphicFramePr>
        <p:xfrm>
          <a:off x="4739951" y="1188720"/>
          <a:ext cx="702289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1445"/>
                <a:gridCol w="35114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559" name="Rectangle 558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TextBox 559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8/29; строки источника 51–57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8" name="Google Shape;718;p3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57–63 из 201</a:t>
            </a:r>
          </a:p>
        </p:txBody>
      </p:sp>
      <p:graphicFrame>
        <p:nvGraphicFramePr>
          <p:cNvPr id="719" name="Table 718"/>
          <p:cNvGraphicFramePr>
            <a:graphicFrameLocks noGrp="1"/>
          </p:cNvGraphicFramePr>
          <p:nvPr/>
        </p:nvGraphicFramePr>
        <p:xfrm>
          <a:off x="427939" y="1729423"/>
          <a:ext cx="10438353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9176"/>
                <a:gridCol w="5219177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720" name="Rectangle 71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TextBox 72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9/29; строки источника 58–64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Google Shape;459;p2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64–70 из 201</a:t>
            </a:r>
          </a:p>
        </p:txBody>
      </p:sp>
      <p:graphicFrame>
        <p:nvGraphicFramePr>
          <p:cNvPr id="460" name="Table 459"/>
          <p:cNvGraphicFramePr>
            <a:graphicFrameLocks noGrp="1"/>
          </p:cNvGraphicFramePr>
          <p:nvPr/>
        </p:nvGraphicFramePr>
        <p:xfrm>
          <a:off x="427939" y="1729423"/>
          <a:ext cx="1000366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1830"/>
                <a:gridCol w="500183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61" name="Rectangle 46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10/29; строки источника 65–71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2" name="Google Shape;702;p32"/>
          <p:cNvSpPr/>
          <p:nvPr/>
        </p:nvSpPr>
        <p:spPr>
          <a:xfrm>
            <a:off x="431328" y="1243208"/>
            <a:ext cx="9699808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71–77 из 201; страница 11 из 29.</a:t>
            </a:r>
          </a:p>
        </p:txBody>
      </p:sp>
      <p:sp>
        <p:nvSpPr>
          <p:cNvPr id="703" name="Google Shape;703;p3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71–77 из 201</a:t>
            </a:r>
          </a:p>
        </p:txBody>
      </p:sp>
      <p:graphicFrame>
        <p:nvGraphicFramePr>
          <p:cNvPr id="704" name="Table 703"/>
          <p:cNvGraphicFramePr>
            <a:graphicFrameLocks noGrp="1"/>
          </p:cNvGraphicFramePr>
          <p:nvPr/>
        </p:nvGraphicFramePr>
        <p:xfrm>
          <a:off x="427939" y="1887449"/>
          <a:ext cx="1000366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1830"/>
                <a:gridCol w="500183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705" name="Rectangle 704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TextBox 705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11/29; строки источника 72–78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78–84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12/29; строки источника 79–85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85–91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13/29; строки источника 86–92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92–98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14/29; строки источника 93–99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99–105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15/29; строки источника 100–106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106–112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16/29; строки источника 107–113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113–119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17/29; строки источника 114–120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120–126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18/29; строки источника 121–127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127–133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19/29; строки источника 128–134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134–140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20/29; строки источника 135–141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141–147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21/29; строки источника 142–148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148–154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22/29; строки источника 149–155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155–161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23/29; строки источника 156–162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162–168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24/29; строки источника 163–169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169–175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25/29; строки источника 170–176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176–182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26/29; строки источника 177–183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183–189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27/29; строки источника 184–190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190–196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28/29; строки источника 191–197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197–201 из 201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200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REF-201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201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74" name="Rectangle 67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29/29; строки источника 198–202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