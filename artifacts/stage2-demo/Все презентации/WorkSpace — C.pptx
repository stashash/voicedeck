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chart" Target="../charts/chart4.xml"/><Relationship Id="rId6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4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2950"/>
              <a:t xml:space="preserve">Прототип демонстрирует аналитику на синтетических данных, чётко разделяя наблюдения от интерпретаций и сохраняя оговорки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Прототип показывает, как отделять наблюдения от интерпретаций и сохранять оговорки источника.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Chart 639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681" name="Table 680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82" name="Rectangle 68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TextBox 68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 Страница 1/1.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3" name="Rectangle 712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Показано: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776" name="Chart 775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77" name="Rectangle 77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56" name="Google Shape;756;p38"/>
          <p:cNvSpPr txBox="1"/>
          <p:nvPr/>
        </p:nvSpPr>
        <p:spPr>
          <a:xfrm>
            <a:off x="6559297" y="976912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sp>
        <p:nvSpPr>
          <p:cNvPr id="757" name="Google Shape;757;p38"/>
          <p:cNvSpPr/>
          <p:nvPr/>
        </p:nvSpPr>
        <p:spPr>
          <a:xfrm>
            <a:off x="5759521" y="976749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38"/>
          <p:cNvSpPr txBox="1"/>
          <p:nvPr/>
        </p:nvSpPr>
        <p:spPr>
          <a:xfrm>
            <a:off x="6559297" y="235719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sp>
        <p:nvSpPr>
          <p:cNvPr id="759" name="Google Shape;759;p38"/>
          <p:cNvSpPr/>
          <p:nvPr/>
        </p:nvSpPr>
        <p:spPr>
          <a:xfrm>
            <a:off x="5759521" y="235702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8"/>
          <p:cNvSpPr txBox="1"/>
          <p:nvPr/>
        </p:nvSpPr>
        <p:spPr>
          <a:xfrm>
            <a:off x="6559297" y="3737471"/>
            <a:ext cx="4403675" cy="941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B4250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B4250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sp>
        <p:nvSpPr>
          <p:cNvPr id="761" name="Google Shape;761;p38"/>
          <p:cNvSpPr/>
          <p:nvPr/>
        </p:nvSpPr>
        <p:spPr>
          <a:xfrm>
            <a:off x="5759521" y="3737308"/>
            <a:ext cx="626730" cy="626730"/>
          </a:xfrm>
          <a:prstGeom prst="roundRect">
            <a:avLst>
              <a:gd fmla="val 27662" name="adj"/>
            </a:avLst>
          </a:prstGeom>
          <a:solidFill>
            <a:srgbClr val="000000">
              <a:alpha val="60000"/>
            </a:srgbClr>
          </a:solidFill>
          <a:ln cap="flat" cmpd="sng" w="9525">
            <a:solidFill>
              <a:srgbClr val="EE5959">
                <a:alpha val="50196"/>
              </a:srgbClr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4" name="Google Shape;7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9536" y="1156764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9536" y="253578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39536" y="391272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38"/>
          <p:cNvSpPr txBox="1"/>
          <p:nvPr>
            <p:ph type="title"/>
          </p:nvPr>
        </p:nvSpPr>
        <p:spPr>
          <a:xfrm>
            <a:off x="429253" y="2327310"/>
            <a:ext cx="449922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769" name="Google Shape;769;p38"/>
          <p:cNvSpPr/>
          <p:nvPr/>
        </p:nvSpPr>
        <p:spPr>
          <a:xfrm>
            <a:off x="431328" y="3528845"/>
            <a:ext cx="44971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Прозрачная логика критична для принятия обоснованных решений.</a:t>
            </a:r>
          </a:p>
        </p:txBody>
      </p:sp>
      <p:sp>
        <p:nvSpPr>
          <p:cNvPr id="770" name="Rectangle 76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8" name="Google Shape;388;p18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Определение влияния выводов на текущие рабочие процессы</a:t>
            </a:r>
          </a:p>
        </p:txBody>
      </p:sp>
      <p:sp>
        <p:nvSpPr>
          <p:cNvPr id="389" name="Google Shape;389;p18"/>
          <p:cNvSpPr txBox="1"/>
          <p:nvPr/>
        </p:nvSpPr>
        <p:spPr>
          <a:xfrm>
            <a:off x="4909649" y="101600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390" name="Google Shape;390;p18"/>
          <p:cNvSpPr txBox="1"/>
          <p:nvPr/>
        </p:nvSpPr>
        <p:spPr>
          <a:xfrm>
            <a:off x="4909649" y="2088056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391" name="Google Shape;391;p18"/>
          <p:cNvSpPr txBox="1"/>
          <p:nvPr/>
        </p:nvSpPr>
        <p:spPr>
          <a:xfrm>
            <a:off x="4909649" y="3160111"/>
            <a:ext cx="1594338" cy="69791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4000"/>
              <a:buFont typeface="Play"/>
              <a:buNone/>
            </a:pPr>
            <a:r>
              <a:rPr b="1" i="0" lang="ru-RU" sz="4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394" name="Google Shape;394;p18"/>
          <p:cNvSpPr txBox="1"/>
          <p:nvPr/>
        </p:nvSpPr>
        <p:spPr>
          <a:xfrm>
            <a:off x="6793020" y="101600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395" name="Google Shape;395;p18"/>
          <p:cNvSpPr txBox="1"/>
          <p:nvPr/>
        </p:nvSpPr>
        <p:spPr>
          <a:xfrm>
            <a:off x="6793020" y="2088056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396" name="Google Shape;396;p18"/>
          <p:cNvSpPr txBox="1"/>
          <p:nvPr/>
        </p:nvSpPr>
        <p:spPr>
          <a:xfrm>
            <a:off x="6793020" y="3160111"/>
            <a:ext cx="4969726" cy="593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 внедрения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2950"/>
              <a:t xml:space="preserve">Благодарим за внимание и готовы ответить на все вопросы о возможностях прототипа.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1–7 из 201</a:t>
            </a:r>
          </a:p>
        </p:txBody>
      </p:sp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1–7 из 201; страница 1 из 29.</a:t>
            </a:r>
          </a:p>
        </p:txBody>
      </p:sp>
      <p:graphicFrame>
        <p:nvGraphicFramePr>
          <p:cNvPr id="437" name="Table 436"/>
          <p:cNvGraphicFramePr>
            <a:graphicFrameLocks noGrp="1"/>
          </p:cNvGraphicFramePr>
          <p:nvPr/>
        </p:nvGraphicFramePr>
        <p:xfrm>
          <a:off x="4249646" y="1939164"/>
          <a:ext cx="751319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598"/>
                <a:gridCol w="375659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38" name="Rectangle 4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8–14 из 201</a:t>
            </a:r>
          </a:p>
        </p:txBody>
      </p:sp>
      <p:graphicFrame>
        <p:nvGraphicFramePr>
          <p:cNvPr id="452" name="Table 451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53" name="Rectangle 452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15–21 из 201</a:t>
            </a:r>
          </a:p>
        </p:txBody>
      </p:sp>
      <p:graphicFrame>
        <p:nvGraphicFramePr>
          <p:cNvPr id="558" name="Table 557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59" name="Rectangle 55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22–28 из 201</a:t>
            </a:r>
          </a:p>
        </p:txBody>
      </p:sp>
      <p:graphicFrame>
        <p:nvGraphicFramePr>
          <p:cNvPr id="719" name="Table 718"/>
          <p:cNvGraphicFramePr>
            <a:graphicFrameLocks noGrp="1"/>
          </p:cNvGraphicFramePr>
          <p:nvPr/>
        </p:nvGraphicFramePr>
        <p:xfrm>
          <a:off x="427939" y="1729423"/>
          <a:ext cx="1043835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176"/>
                <a:gridCol w="521917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20" name="Rectangle 71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8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29–35 из 201</a:t>
            </a:r>
          </a:p>
        </p:txBody>
      </p:sp>
      <p:cxnSp>
        <p:nvCxnSpPr>
          <p:cNvPr id="867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8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9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graphicFrame>
        <p:nvGraphicFramePr>
          <p:cNvPr id="870" name="Table 86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871" name="Rectangle 87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TextBox 87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36–42 из 201</a:t>
            </a:r>
          </a:p>
        </p:txBody>
      </p:sp>
      <p:graphicFrame>
        <p:nvGraphicFramePr>
          <p:cNvPr id="460" name="Table 459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43–49 из 201; страница 7 из 29.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graphicFrame>
        <p:nvGraphicFramePr>
          <p:cNvPr id="704" name="Table 703"/>
          <p:cNvGraphicFramePr>
            <a:graphicFrameLocks noGrp="1"/>
          </p:cNvGraphicFramePr>
          <p:nvPr/>
        </p:nvGraphicFramePr>
        <p:xfrm>
          <a:off x="427939" y="1887449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50–56 из 201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845" name="Table 84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846" name="Rectangle 84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57–63 из 201</a:t>
            </a:r>
          </a:p>
        </p:txBody>
      </p:sp>
      <p:graphicFrame>
        <p:nvGraphicFramePr>
          <p:cNvPr id="475" name="Table 47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64–70 из 201</a:t>
            </a:r>
          </a:p>
        </p:txBody>
      </p:sp>
      <p:graphicFrame>
        <p:nvGraphicFramePr>
          <p:cNvPr id="541" name="Table 540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71–77 из 201</a:t>
            </a:r>
          </a:p>
        </p:txBody>
      </p:sp>
      <p:graphicFrame>
        <p:nvGraphicFramePr>
          <p:cNvPr id="566" name="Table 565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78–84 из 201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Table 63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85–91 из 201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85–91 из 201; страница 13 из 29.</a:t>
            </a:r>
          </a:p>
        </p:txBody>
      </p:sp>
      <p:graphicFrame>
        <p:nvGraphicFramePr>
          <p:cNvPr id="685" name="Table 68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86" name="Rectangle 68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92–98 из 201</a:t>
            </a:r>
          </a:p>
        </p:txBody>
      </p:sp>
      <p:graphicFrame>
        <p:nvGraphicFramePr>
          <p:cNvPr id="776" name="Table 775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77" name="Rectangle 77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99–105 из 201</a:t>
            </a:r>
          </a:p>
        </p:txBody>
      </p:sp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99–105 из 201; страница 15 из 29.</a:t>
            </a:r>
          </a:p>
        </p:txBody>
      </p:sp>
      <p:graphicFrame>
        <p:nvGraphicFramePr>
          <p:cNvPr id="437" name="Table 436"/>
          <p:cNvGraphicFramePr>
            <a:graphicFrameLocks noGrp="1"/>
          </p:cNvGraphicFramePr>
          <p:nvPr/>
        </p:nvGraphicFramePr>
        <p:xfrm>
          <a:off x="4249646" y="1939164"/>
          <a:ext cx="751319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598"/>
                <a:gridCol w="375659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38" name="Rectangle 4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106–112 из 201</a:t>
            </a:r>
          </a:p>
        </p:txBody>
      </p:sp>
      <p:graphicFrame>
        <p:nvGraphicFramePr>
          <p:cNvPr id="452" name="Table 451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53" name="Rectangle 452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TextBox 453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113–119 из 201</a:t>
            </a:r>
          </a:p>
        </p:txBody>
      </p:sp>
      <p:graphicFrame>
        <p:nvGraphicFramePr>
          <p:cNvPr id="558" name="Table 557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59" name="Rectangle 55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120–126 из 201</a:t>
            </a: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120–126 из 201; страница 18 из 29.</a:t>
            </a:r>
          </a:p>
        </p:txBody>
      </p:sp>
      <p:graphicFrame>
        <p:nvGraphicFramePr>
          <p:cNvPr id="713" name="Table 712"/>
          <p:cNvGraphicFramePr>
            <a:graphicFrameLocks noGrp="1"/>
          </p:cNvGraphicFramePr>
          <p:nvPr/>
        </p:nvGraphicFramePr>
        <p:xfrm>
          <a:off x="427939" y="1887449"/>
          <a:ext cx="1043835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176"/>
                <a:gridCol w="521917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14" name="Rectangle 71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TextBox 71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127–133 из 201</a:t>
            </a:r>
          </a:p>
        </p:txBody>
      </p:sp>
      <p:graphicFrame>
        <p:nvGraphicFramePr>
          <p:cNvPr id="487" name="Table 486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88" name="Rectangle 48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134–140 из 201</a:t>
            </a:r>
          </a:p>
        </p:txBody>
      </p:sp>
      <p:graphicFrame>
        <p:nvGraphicFramePr>
          <p:cNvPr id="719" name="Table 718"/>
          <p:cNvGraphicFramePr>
            <a:graphicFrameLocks noGrp="1"/>
          </p:cNvGraphicFramePr>
          <p:nvPr/>
        </p:nvGraphicFramePr>
        <p:xfrm>
          <a:off x="427939" y="1729423"/>
          <a:ext cx="1043835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176"/>
                <a:gridCol w="521917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20" name="Rectangle 71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58" name="Google Shape;858;p4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141–147 из 201</a:t>
            </a:r>
          </a:p>
        </p:txBody>
      </p:sp>
      <p:cxnSp>
        <p:nvCxnSpPr>
          <p:cNvPr id="867" name="Google Shape;867;p43"/>
          <p:cNvCxnSpPr>
            <a:stCxn id="863" idx="3"/>
          </p:cNvCxnSpPr>
          <p:nvPr/>
        </p:nvCxnSpPr>
        <p:spPr>
          <a:xfrm>
            <a:off x="2196935" y="3242978"/>
            <a:ext cx="877500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8" name="Google Shape;868;p43"/>
          <p:cNvCxnSpPr/>
          <p:nvPr/>
        </p:nvCxnSpPr>
        <p:spPr>
          <a:xfrm>
            <a:off x="5082639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cxnSp>
        <p:nvCxnSpPr>
          <p:cNvPr id="869" name="Google Shape;869;p43"/>
          <p:cNvCxnSpPr/>
          <p:nvPr/>
        </p:nvCxnSpPr>
        <p:spPr>
          <a:xfrm>
            <a:off x="7992094" y="3242978"/>
            <a:ext cx="877546" cy="0"/>
          </a:xfrm>
          <a:prstGeom prst="straightConnector1">
            <a:avLst/>
          </a:prstGeom>
          <a:noFill/>
          <a:ln cap="flat" cmpd="sng" w="28575">
            <a:solidFill>
              <a:srgbClr val="0077FF"/>
            </a:solidFill>
            <a:prstDash val="solid"/>
            <a:miter lim="8000"/>
            <a:headEnd len="sm" w="sm" type="none"/>
            <a:tailEnd len="med" w="med" type="stealth"/>
          </a:ln>
        </p:spPr>
      </p:cxnSp>
      <p:graphicFrame>
        <p:nvGraphicFramePr>
          <p:cNvPr id="870" name="Table 86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871" name="Rectangle 87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TextBox 87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148–154 из 201</a:t>
            </a:r>
          </a:p>
        </p:txBody>
      </p:sp>
      <p:graphicFrame>
        <p:nvGraphicFramePr>
          <p:cNvPr id="460" name="Table 459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155–161 из 201; страница 23 из 29.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155–161 из 201</a:t>
            </a:r>
          </a:p>
        </p:txBody>
      </p:sp>
      <p:graphicFrame>
        <p:nvGraphicFramePr>
          <p:cNvPr id="704" name="Table 703"/>
          <p:cNvGraphicFramePr>
            <a:graphicFrameLocks noGrp="1"/>
          </p:cNvGraphicFramePr>
          <p:nvPr/>
        </p:nvGraphicFramePr>
        <p:xfrm>
          <a:off x="427939" y="1887449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39" name="Google Shape;839;p4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162–168 из 201</a:t>
            </a:r>
          </a:p>
        </p:txBody>
      </p:sp>
      <p:cxnSp>
        <p:nvCxnSpPr>
          <p:cNvPr id="844" name="Google Shape;844;p42"/>
          <p:cNvCxnSpPr/>
          <p:nvPr/>
        </p:nvCxnSpPr>
        <p:spPr>
          <a:xfrm>
            <a:off x="0" y="3401671"/>
            <a:ext cx="12192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aphicFrame>
        <p:nvGraphicFramePr>
          <p:cNvPr id="845" name="Table 84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846" name="Rectangle 84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7" name="TextBox 84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169–175 из 201</a:t>
            </a:r>
          </a:p>
        </p:txBody>
      </p:sp>
      <p:graphicFrame>
        <p:nvGraphicFramePr>
          <p:cNvPr id="475" name="Table 47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176–182 из 201</a:t>
            </a:r>
          </a:p>
        </p:txBody>
      </p:sp>
      <p:graphicFrame>
        <p:nvGraphicFramePr>
          <p:cNvPr id="541" name="Table 540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183–189 из 201</a:t>
            </a:r>
          </a:p>
        </p:txBody>
      </p:sp>
      <p:graphicFrame>
        <p:nvGraphicFramePr>
          <p:cNvPr id="566" name="Table 565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190–196 из 201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Table 63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197–201 из 201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197–201 из 201; страница 29 из 29.</a:t>
            </a:r>
          </a:p>
        </p:txBody>
      </p:sp>
      <p:graphicFrame>
        <p:nvGraphicFramePr>
          <p:cNvPr id="685" name="Table 684"/>
          <p:cNvGraphicFramePr>
            <a:graphicFrameLocks noGrp="1"/>
          </p:cNvGraphicFramePr>
          <p:nvPr/>
        </p:nvGraphicFramePr>
        <p:xfrm>
          <a:off x="427939" y="1729423"/>
          <a:ext cx="1133490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86" name="Rectangle 68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29/29. Показано: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