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09" r:id="rId62"/>
    <p:sldId id="310" r:id="rId63"/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  <p:sldId id="321" r:id="rId74"/>
    <p:sldId id="322" r:id="rId75"/>
    <p:sldId id="323" r:id="rId76"/>
    <p:sldId id="324" r:id="rId77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45" Type="http://schemas.openxmlformats.org/officeDocument/2006/relationships/slide" Target="slides/slide37.xml"/><Relationship Id="rId46" Type="http://schemas.openxmlformats.org/officeDocument/2006/relationships/slide" Target="slides/slide38.xml"/><Relationship Id="rId47" Type="http://schemas.openxmlformats.org/officeDocument/2006/relationships/slide" Target="slides/slide39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Relationship Id="rId75" Type="http://schemas.openxmlformats.org/officeDocument/2006/relationships/slide" Target="slides/slide67.xml"/><Relationship Id="rId76" Type="http://schemas.openxmlformats.org/officeDocument/2006/relationships/slide" Target="slides/slide68.xml"/><Relationship Id="rId77" Type="http://schemas.openxmlformats.org/officeDocument/2006/relationships/slide" Target="slides/slide6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 leads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Sheet1!$A$2:$A$5</c:f>
              <c:strCache>
                <c:ptCount val="4"/>
                <c:pt idx="0">
                  <c:v>Search</c:v>
                </c:pt>
                <c:pt idx="1">
                  <c:v>Social</c:v>
                </c:pt>
                <c:pt idx="2">
                  <c:v>Partners</c:v>
                </c:pt>
                <c:pt idx="3">
                  <c:v>Email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240.0</c:v>
                </c:pt>
                <c:pt idx="1">
                  <c:v>150.0</c:v>
                </c:pt>
                <c:pt idx="2">
                  <c:v>180.0</c:v>
                </c:pt>
                <c:pt idx="3">
                  <c:v>90.0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leads</c:v>
                </c:pt>
              </c:strCache>
            </c:strRef>
          </c:tx>
          <c:spPr>
            <a:solidFill>
              <a:srgbClr val="00E9FF"/>
            </a:solidFill>
          </c:spPr>
          <c:cat>
            <c:strRef>
              <c:f>Sheet1!$A$2:$A$5</c:f>
              <c:strCache>
                <c:ptCount val="4"/>
                <c:pt idx="0">
                  <c:v>Search</c:v>
                </c:pt>
                <c:pt idx="1">
                  <c:v>Social</c:v>
                </c:pt>
                <c:pt idx="2">
                  <c:v>Partners</c:v>
                </c:pt>
                <c:pt idx="3">
                  <c:v>Email</c:v>
                </c:pt>
              </c:strCache>
            </c:strRef>
          </c:cat>
          <c:val>
            <c:numRef>
              <c:f>Sheet1!$C$2:$C$5</c:f>
              <c:numCache>
                <c:formatCode>#,##0</c:formatCode>
                <c:ptCount val="4"/>
                <c:pt idx="0">
                  <c:v>220.0</c:v>
                </c:pt>
                <c:pt idx="1">
                  <c:v>180.0</c:v>
                </c:pt>
                <c:pt idx="2">
                  <c:v>160.0</c:v>
                </c:pt>
                <c:pt idx="3">
                  <c:v>80.0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channel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actual leads · target leads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>
              <a:solidFill>
                <a:srgbClr val="FFFFFF"/>
              </a:solidFill>
              <a:latin typeface="Play"/>
            </a:defRPr>
          </a:pPr>
        </a:p>
      </c:txPr>
    </c:legend>
    <c:dispBlanksAs val="gap"/>
  </c:chart>
  <c:txPr>
    <a:bodyPr/>
    <a:lstStyle/>
    <a:p>
      <a:pPr>
        <a:defRPr sz="1400">
          <a:solidFill>
            <a:srgbClr val="FFFFFF"/>
          </a:solidFill>
          <a:latin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tickets</c:v>
                </c:pt>
              </c:strCache>
            </c:strRef>
          </c:tx>
          <c:dPt>
            <c:idx val="0"/>
            <c:spPr>
              <a:solidFill>
                <a:srgbClr val="0077FF"/>
              </a:solidFill>
            </c:spPr>
          </c:dPt>
          <c:dPt>
            <c:idx val="1"/>
            <c:spPr>
              <a:solidFill>
                <a:srgbClr val="00E9FF"/>
              </a:solidFill>
            </c:spPr>
          </c:dPt>
          <c:dPt>
            <c:idx val="2"/>
            <c:spPr>
              <a:solidFill>
                <a:srgbClr val="70C3FF"/>
              </a:solidFill>
            </c:spPr>
          </c:dPt>
          <c:cat>
            <c:strRef>
              <c:f>Sheet1!$A$2:$A$4</c:f>
              <c:strCache>
                <c:ptCount val="3"/>
                <c:pt idx="0">
                  <c:v>Resolved</c:v>
                </c:pt>
                <c:pt idx="1">
                  <c:v>Pending</c:v>
                </c:pt>
                <c:pt idx="2">
                  <c:v>Escalated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620.0</c:v>
                </c:pt>
                <c:pt idx="1">
                  <c:v>250.0</c:v>
                </c:pt>
                <c:pt idx="2">
                  <c:v>130.0</c:v>
                </c:pt>
              </c:numCache>
            </c:numRef>
          </c:val>
        </c:ser>
        <c:dLbls>
          <c:txPr>
            <a:bodyPr/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  <c:txPr>
        <a:bodyPr/>
        <a:lstStyle/>
        <a:p>
          <a:pPr>
            <a:defRPr sz="1400">
              <a:solidFill>
                <a:srgbClr val="FFFFFF"/>
              </a:solidFill>
              <a:latin typeface="Play"/>
            </a:defRPr>
          </a:pPr>
        </a:p>
      </c:txPr>
    </c:legend>
    <c:dispBlanksAs val="gap"/>
  </c:chart>
  <c:txPr>
    <a:bodyPr/>
    <a:lstStyle/>
    <a:p>
      <a:pPr>
        <a:defRPr sz="1400">
          <a:solidFill>
            <a:srgbClr val="FFFFFF"/>
          </a:solidFill>
          <a:latin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Число наблюдений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Sheet1!$A$2:$A$6</c:f>
              <c:strCache>
                <c:ptCount val="5"/>
                <c:pt idx="0">
                  <c:v>[18–33.4)</c:v>
                </c:pt>
                <c:pt idx="1">
                  <c:v>[33.4–48.8)</c:v>
                </c:pt>
                <c:pt idx="2">
                  <c:v>[48.8–64.2)</c:v>
                </c:pt>
                <c:pt idx="3">
                  <c:v>[64.2–79.6)</c:v>
                </c:pt>
                <c:pt idx="4">
                  <c:v>[79.6–95]</c:v>
                </c:pt>
              </c:strCache>
            </c:strRef>
          </c:cat>
          <c:val>
            <c:numRef>
              <c:f>Sheet1!$B$2:$B$6</c:f>
              <c:numCache>
                <c:formatCode>#,##0</c:formatCode>
                <c:ptCount val="5"/>
                <c:pt idx="0">
                  <c:v>24.0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1.0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Значение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Число наблюдений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>
              <a:solidFill>
                <a:srgbClr val="FFFFFF"/>
              </a:solidFill>
              <a:latin typeface="Play"/>
            </a:defRPr>
          </a:pPr>
        </a:p>
      </c:txPr>
    </c:legend>
    <c:dispBlanksAs val="gap"/>
  </c:chart>
  <c:txPr>
    <a:bodyPr/>
    <a:lstStyle/>
    <a:p>
      <a:pPr>
        <a:defRPr sz="1400">
          <a:solidFill>
            <a:srgbClr val="FFFFFF"/>
          </a:solidFill>
          <a:latin typeface="Play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Requests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Sheet1!$A$2:$A$4</c:f>
              <c:strCache>
                <c:ptCount val="3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120.0</c:v>
                </c:pt>
                <c:pt idx="1">
                  <c:v>95.0</c:v>
                </c:pt>
                <c:pt idx="2">
                  <c:v>75.0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Region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Requests, шт.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>
              <a:solidFill>
                <a:srgbClr val="FFFFFF"/>
              </a:solidFill>
              <a:latin typeface="Play"/>
            </a:defRPr>
          </a:pPr>
        </a:p>
      </c:txPr>
    </c:legend>
    <c:dispBlanksAs val="gap"/>
  </c:chart>
  <c:txPr>
    <a:bodyPr/>
    <a:lstStyle/>
    <a:p>
      <a:pPr>
        <a:defRPr sz="1400">
          <a:solidFill>
            <a:srgbClr val="FFFFFF"/>
          </a:solidFill>
          <a:latin typeface="Play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Выручка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2026-01</c:v>
                </c:pt>
                <c:pt idx="1">
                  <c:v>2026-02</c:v>
                </c:pt>
                <c:pt idx="2">
                  <c:v>2026-03</c:v>
                </c:pt>
                <c:pt idx="3">
                  <c:v>2026-04</c:v>
                </c:pt>
                <c:pt idx="4">
                  <c:v>2026-05</c:v>
                </c:pt>
                <c:pt idx="5">
                  <c:v>2026-06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120000.0</c:v>
                </c:pt>
                <c:pt idx="1">
                  <c:v>126000.0</c:v>
                </c:pt>
                <c:pt idx="2">
                  <c:v>123000.0</c:v>
                </c:pt>
                <c:pt idx="3">
                  <c:v>135000.0</c:v>
                </c:pt>
                <c:pt idx="4">
                  <c:v>141000.0</c:v>
                </c:pt>
                <c:pt idx="5">
                  <c:v>156000.0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Период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rPr>
                    <a:solidFill>
                      <a:srgbClr val="FFFFFF"/>
                    </a:solidFill>
                  </a:rPr>
                  <a:t>Выручка, USD</a:t>
                </a:r>
              </a:p>
            </c:rich>
          </c:tx>
          <c:layout/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400">
                <a:solidFill>
                  <a:srgbClr val="FFFFFF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>
              <a:solidFill>
                <a:srgbClr val="FFFFFF"/>
              </a:solidFill>
              <a:latin typeface="Play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400">
          <a:solidFill>
            <a:srgbClr val="FFFFFF"/>
          </a:solidFill>
          <a:latin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Добро пожаловать. Сегодня мы показываем, как работает прототип на учебных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category_comparison.csv · 4 исходных строк. Расчёт: max(actual_leads) = 240; совпадений максимума: 1; без суммирования категорий. Сопоставление рядов внутри каждой категории; значения не суммировались.. Данные: 0f3664992f7f3ba37fb32ad060f098bdad697af085c9f3c4fd2d9aaf5d20e064; SHA-256: 1b8306279ba7a59d13cf3e1ace73ff0665a4cb9a20cb8159d9fadffa983cad5d.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category_shares.json · 3 исходных строк. Расчёт: 620 / 1000 × 100 = 62.00% (округлено до 2 знаков); знаменатель — сумма показанных значений.. Данные: 46d12a475c2e6a7916a2af73f3d4bde93bab9c14f6e1af9c32eaa269ff4f8034; SHA-256: 958e61881f379dba570806f1f0dbe558403f12b47404963ee94b5ca66175a760.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distribution.csv · 25 исходных строк. Расчёт: min(value) = 18; max(value) = 95; n = 25. Freedman–Diaconis, ограничение читаемости min(8, ceil(sqrt(n))); 5 равных интервалов; подписи границ до 4 значащих цифр, при совпадении — полная точность; сумма частот = 25; n = 25.. Данные: 84b11d9a0857b181fc55a3e3ebc961f5340eb0be37af16fcaf5ce2d32c8b91c7; SHA-256: fb86dcad3232d0f8dc5ab8eecc4c4276fb9303665b827b6d5f365b6f3e4aa793.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embedded_table.md · # Regional service snapshot · Source: synthetic test data. Units: requests and resolved requests, counts for April 2026. · 3 исходных строк. Расчёт: max(Requests) = 120; совпадений максимума: 1; без суммирования категорий.. Данные: 735bdc5cb146877cadeab47f182744b1157e011833283fe3cc40b7f68003efc3; SHA-256: 4bda1b7852b68289daae9a5b85b93818aa2b298f8a185697ed2864d929ba241a.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missing_zero.csv · 4 исходных строк. Расчёт: Постраничный показ исходных строк; 4 строк всего; без агрегации.. Данные: 9f0ba4567b42cf421c1d6ee0bc54b9dcdf61f99f3bb55bea1e86103d08339142; SHA-256: d9939d5f76ca2a726e94d4829a4445559226171c3ffc50b9390a8489591773d0.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Количество строк источника; значения не агрегировались..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time_series.xlsx · лист «Monthly revenue» · 6 исходных строк. Расчёт: revenue_usd: последнее − первое = 156000 − 120000 = +36000; без агрегации. Относительное изменение = (+36000) / 120000 × 100 = +30.00%.. Данные: b721d5d52b33eba845062116b253a2e43014c2db40da3f5b25967306e9b782a4; SHA-256: f182812cd77a6e7ca2d2881c980b5bc070a9c67d5f6f210226bc92a785fed4c0.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Основной принцип работы прототипа — прозрачность и честность в отношении источника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После демонстрации нам нужна ваша обратная связь для планирования следующих этапов.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Спасибо за время. Открыты для вопросов.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Источник: reference_201.csv · 201 исходных строк. Расчёт: Постраничный показ исходных строк; 201 строк всего; без агрегации.. Данные: 932bf86d79d94feaa5e3721d8c7ef59a8cf837def8a4f4a5352ba4663c0de5df; SHA-256: eefc817c18e71a423646b90e74ba4a348dfdd158b59fa2eb731a59e610e7884b.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4.png"/><Relationship Id="rId5" Type="http://schemas.openxmlformats.org/officeDocument/2006/relationships/image" Target="../media/image8.png"/><Relationship Id="rId6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png"/><Relationship Id="rId6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.png"/><Relationship Id="rId4" Type="http://schemas.openxmlformats.org/officeDocument/2006/relationships/image" Target="../media/image12.png"/><Relationship Id="rId5" Type="http://schemas.openxmlformats.org/officeDocument/2006/relationships/image" Target="../media/image7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23.png"/><Relationship Id="rId4" Type="http://schemas.openxmlformats.org/officeDocument/2006/relationships/image" Target="../media/image7.png"/><Relationship Id="rId5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Титульный слайд">
  <p:cSld name="7_Титульный слайд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2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56" name="Google Shape;56;p2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7" name="Google Shape;57;p2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8" name="Google Shape;58;p2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9" name="Google Shape;59;p2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0" name="Google Shape;60;p2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1" name="Google Shape;61;p2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2" name="Google Shape;62;p2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3" name="Google Shape;63;p2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4" name="Google Shape;64;p2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5" name="Google Shape;65;p2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6" name="Google Shape;66;p2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7" name="Google Shape;67;p2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8" name="Google Shape;68;p2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69" name="Google Shape;69;p2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0" name="Google Shape;70;p2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1" name="Google Shape;71;p2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2" name="Google Shape;72;p2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3" name="Google Shape;73;p2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4" name="Google Shape;74;p2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75" name="Google Shape;75;p2"/>
          <p:cNvSpPr txBox="1"/>
          <p:nvPr>
            <p:ph type="title"/>
          </p:nvPr>
        </p:nvSpPr>
        <p:spPr>
          <a:xfrm>
            <a:off x="429253" y="25462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76" name="Google Shape;76;p2"/>
          <p:cNvGrpSpPr/>
          <p:nvPr/>
        </p:nvGrpSpPr>
        <p:grpSpPr>
          <a:xfrm>
            <a:off x="1" y="6350"/>
            <a:ext cx="12192792" cy="6851649"/>
            <a:chOff x="0" y="6350"/>
            <a:chExt cx="24396891" cy="13709651"/>
          </a:xfrm>
        </p:grpSpPr>
        <p:pic>
          <p:nvPicPr>
            <p:cNvPr id="77" name="Google Shape;77;p2"/>
            <p:cNvPicPr preferRelativeResize="0"/>
            <p:nvPr/>
          </p:nvPicPr>
          <p:blipFill rotWithShape="1">
            <a:blip r:embed="rId2">
              <a:alphaModFix/>
            </a:blip>
            <a:srcRect b="0" l="0" r="50023" t="80662"/>
            <a:stretch/>
          </p:blipFill>
          <p:spPr>
            <a:xfrm>
              <a:off x="1587" y="11064874"/>
              <a:ext cx="12192000" cy="26511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8" name="Google Shape;78;p2"/>
            <p:cNvSpPr/>
            <p:nvPr/>
          </p:nvSpPr>
          <p:spPr>
            <a:xfrm>
              <a:off x="0" y="10657492"/>
              <a:ext cx="8335061" cy="3058509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79" name="Google Shape;79;p2"/>
            <p:cNvPicPr preferRelativeResize="0"/>
            <p:nvPr/>
          </p:nvPicPr>
          <p:blipFill rotWithShape="1">
            <a:blip r:embed="rId2">
              <a:alphaModFix/>
            </a:blip>
            <a:srcRect b="0" l="52729" r="0" t="82751"/>
            <a:stretch/>
          </p:blipFill>
          <p:spPr>
            <a:xfrm>
              <a:off x="12853797" y="11351172"/>
              <a:ext cx="11531791" cy="236482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2"/>
            <p:cNvPicPr preferRelativeResize="0"/>
            <p:nvPr/>
          </p:nvPicPr>
          <p:blipFill rotWithShape="1">
            <a:blip r:embed="rId2">
              <a:alphaModFix/>
            </a:blip>
            <a:srcRect b="76357" l="52729" r="0" t="0"/>
            <a:stretch/>
          </p:blipFill>
          <p:spPr>
            <a:xfrm>
              <a:off x="12865099" y="6350"/>
              <a:ext cx="11531792" cy="324134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Google Shape;81;p2"/>
            <p:cNvPicPr preferRelativeResize="0"/>
            <p:nvPr/>
          </p:nvPicPr>
          <p:blipFill rotWithShape="1">
            <a:blip r:embed="rId2">
              <a:alphaModFix/>
            </a:blip>
            <a:srcRect b="69917" l="0" r="47271" t="0"/>
            <a:stretch/>
          </p:blipFill>
          <p:spPr>
            <a:xfrm>
              <a:off x="1587" y="6350"/>
              <a:ext cx="12863512" cy="4124216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83" name="Google Shape;8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Титульный слайд">
  <p:cSld name="9_Титульный слайд">
    <p:bg>
      <p:bgPr>
        <a:solidFill>
          <a:schemeClr val="dk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3"/>
          <p:cNvPicPr preferRelativeResize="0"/>
          <p:nvPr/>
        </p:nvPicPr>
        <p:blipFill rotWithShape="1">
          <a:blip r:embed="rId2">
            <a:alphaModFix/>
          </a:blip>
          <a:srcRect b="-1" l="0" r="50023" t="66636"/>
          <a:stretch/>
        </p:blipFill>
        <p:spPr>
          <a:xfrm>
            <a:off x="794" y="4572000"/>
            <a:ext cx="6093175" cy="2285998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3"/>
          <p:cNvSpPr/>
          <p:nvPr/>
        </p:nvSpPr>
        <p:spPr>
          <a:xfrm>
            <a:off x="1" y="5747081"/>
            <a:ext cx="4487332" cy="111091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745067" y="6160788"/>
            <a:ext cx="4487332" cy="69721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8" name="Google Shape;88;p3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89" name="Google Shape;89;p3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0" name="Google Shape;90;p3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1" name="Google Shape;91;p3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2" name="Google Shape;92;p3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3" name="Google Shape;93;p3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4" name="Google Shape;94;p3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5" name="Google Shape;95;p3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6" name="Google Shape;96;p3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7" name="Google Shape;97;p3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8" name="Google Shape;98;p3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99" name="Google Shape;99;p3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0" name="Google Shape;100;p3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1" name="Google Shape;101;p3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2" name="Google Shape;102;p3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3" name="Google Shape;103;p3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4" name="Google Shape;104;p3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5" name="Google Shape;105;p3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6" name="Google Shape;106;p3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07" name="Google Shape;107;p3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08" name="Google Shape;108;p3"/>
          <p:cNvSpPr txBox="1"/>
          <p:nvPr>
            <p:ph type="title"/>
          </p:nvPr>
        </p:nvSpPr>
        <p:spPr>
          <a:xfrm>
            <a:off x="429254" y="1609196"/>
            <a:ext cx="480314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09" name="Google Shape;109;p3"/>
          <p:cNvPicPr preferRelativeResize="0"/>
          <p:nvPr/>
        </p:nvPicPr>
        <p:blipFill rotWithShape="1">
          <a:blip r:embed="rId2">
            <a:alphaModFix/>
          </a:blip>
          <a:srcRect b="77450" l="52729" r="0" t="17827"/>
          <a:stretch/>
        </p:blipFill>
        <p:spPr>
          <a:xfrm flipH="1">
            <a:off x="0" y="0"/>
            <a:ext cx="5763224" cy="323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3"/>
          <p:cNvSpPr/>
          <p:nvPr/>
        </p:nvSpPr>
        <p:spPr>
          <a:xfrm>
            <a:off x="4487333" y="4377664"/>
            <a:ext cx="1608667" cy="248033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112" name="Google Shape;112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9_Заголовок">
  <p:cSld name="19_Заголовок">
    <p:bg>
      <p:bgPr>
        <a:solidFill>
          <a:schemeClr val="dk1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4" name="Google Shape;114;p4"/>
          <p:cNvPicPr preferRelativeResize="0"/>
          <p:nvPr/>
        </p:nvPicPr>
        <p:blipFill rotWithShape="1">
          <a:blip r:embed="rId2">
            <a:alphaModFix/>
          </a:blip>
          <a:srcRect b="0" l="0" r="61122" t="0"/>
          <a:stretch/>
        </p:blipFill>
        <p:spPr>
          <a:xfrm>
            <a:off x="0" y="0"/>
            <a:ext cx="4739951" cy="6857143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4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6" name="Google Shape;11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Титульный слайд">
  <p:cSld name="18_Титульный слайд">
    <p:bg>
      <p:bgPr>
        <a:solidFill>
          <a:schemeClr val="dk1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5"/>
          <p:cNvPicPr preferRelativeResize="0"/>
          <p:nvPr/>
        </p:nvPicPr>
        <p:blipFill rotWithShape="1">
          <a:blip r:embed="rId2">
            <a:alphaModFix/>
          </a:blip>
          <a:srcRect b="2847" l="52053" r="0" t="90954"/>
          <a:stretch/>
        </p:blipFill>
        <p:spPr>
          <a:xfrm flipH="1">
            <a:off x="-2" y="6433309"/>
            <a:ext cx="5845629" cy="4246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5"/>
          <p:cNvPicPr preferRelativeResize="0"/>
          <p:nvPr/>
        </p:nvPicPr>
        <p:blipFill rotWithShape="1">
          <a:blip r:embed="rId3">
            <a:alphaModFix/>
          </a:blip>
          <a:srcRect b="0" l="0" r="26515" t="13089"/>
          <a:stretch/>
        </p:blipFill>
        <p:spPr>
          <a:xfrm rot="10800000">
            <a:off x="-1" y="1831974"/>
            <a:ext cx="4249647" cy="502602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21" name="Google Shape;121;p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2" name="Google Shape;122;p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3" name="Google Shape;123;p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4" name="Google Shape;124;p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5" name="Google Shape;125;p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6" name="Google Shape;126;p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7" name="Google Shape;127;p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8" name="Google Shape;128;p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9" name="Google Shape;129;p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0" name="Google Shape;130;p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1" name="Google Shape;131;p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2" name="Google Shape;132;p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3" name="Google Shape;133;p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4" name="Google Shape;134;p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5" name="Google Shape;135;p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6" name="Google Shape;136;p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7" name="Google Shape;137;p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8" name="Google Shape;138;p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9" name="Google Shape;139;p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40" name="Google Shape;140;p5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41" name="Google Shape;141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2" name="Google Shape;142;p5"/>
          <p:cNvPicPr preferRelativeResize="0"/>
          <p:nvPr/>
        </p:nvPicPr>
        <p:blipFill rotWithShape="1">
          <a:blip r:embed="rId5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146" name="Google Shape;146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5_Титульный слайд">
  <p:cSld name="15_Титульный слайд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48" name="Google Shape;148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393786"/>
            <a:ext cx="4655279" cy="46421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49" name="Google Shape;14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31600" y="0"/>
            <a:ext cx="1760400" cy="243127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50" name="Google Shape;15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31498" y="6290333"/>
            <a:ext cx="2860502" cy="56766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1" name="Google Shape;151;p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52" name="Google Shape;152;p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3" name="Google Shape;153;p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4" name="Google Shape;154;p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5" name="Google Shape;155;p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6" name="Google Shape;156;p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7" name="Google Shape;157;p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8" name="Google Shape;158;p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9" name="Google Shape;159;p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0" name="Google Shape;160;p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1" name="Google Shape;161;p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2" name="Google Shape;162;p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3" name="Google Shape;163;p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4" name="Google Shape;164;p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5" name="Google Shape;165;p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6" name="Google Shape;166;p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7" name="Google Shape;167;p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8" name="Google Shape;168;p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9" name="Google Shape;169;p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0" name="Google Shape;170;p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71" name="Google Shape;171;p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2" name="Google Shape;172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73" name="Google Shape;173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Заголовок">
  <p:cSld name="8_Заголовок">
    <p:bg>
      <p:bgPr>
        <a:solidFill>
          <a:schemeClr val="dk1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8"/>
          <p:cNvPicPr preferRelativeResize="0"/>
          <p:nvPr/>
        </p:nvPicPr>
        <p:blipFill rotWithShape="1">
          <a:blip r:embed="rId2">
            <a:alphaModFix/>
          </a:blip>
          <a:srcRect b="25668" l="13456" r="0" t="10446"/>
          <a:stretch/>
        </p:blipFill>
        <p:spPr>
          <a:xfrm flipH="1">
            <a:off x="2907772" y="-1"/>
            <a:ext cx="928422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8"/>
          <p:cNvPicPr preferRelativeResize="0"/>
          <p:nvPr/>
        </p:nvPicPr>
        <p:blipFill rotWithShape="1">
          <a:blip r:embed="rId3">
            <a:alphaModFix/>
          </a:blip>
          <a:srcRect b="8691" l="36156" r="0" t="22176"/>
          <a:stretch/>
        </p:blipFill>
        <p:spPr>
          <a:xfrm flipH="1">
            <a:off x="5862319" y="-2"/>
            <a:ext cx="6329681" cy="6863317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8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06" name="Google Shape;206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07" name="Google Shape;207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Титульный слайд">
  <p:cSld name="14_Титульный слайд">
    <p:bg>
      <p:bgPr>
        <a:solidFill>
          <a:schemeClr val="dk1"/>
        </a:soli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35" name="Google Shape;235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96000" y="5844358"/>
            <a:ext cx="6096000" cy="101364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6" name="Google Shape;236;p10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37" name="Google Shape;237;p10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8" name="Google Shape;238;p10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9" name="Google Shape;239;p10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0" name="Google Shape;240;p10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1" name="Google Shape;241;p10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2" name="Google Shape;242;p10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3" name="Google Shape;243;p10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4" name="Google Shape;244;p10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5" name="Google Shape;245;p10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6" name="Google Shape;246;p10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7" name="Google Shape;247;p10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8" name="Google Shape;248;p10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9" name="Google Shape;249;p10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0" name="Google Shape;250;p10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1" name="Google Shape;251;p10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2" name="Google Shape;252;p10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3" name="Google Shape;253;p10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4" name="Google Shape;254;p10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5" name="Google Shape;255;p10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56" name="Google Shape;256;p10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57" name="Google Shape;25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66292" y="0"/>
            <a:ext cx="1325708" cy="372397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Заголовок">
  <p:cSld name="11_Заголовок">
    <p:bg>
      <p:bgPr>
        <a:solidFill>
          <a:schemeClr val="dk1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11"/>
          <p:cNvSpPr txBox="1"/>
          <p:nvPr>
            <p:ph type="title"/>
          </p:nvPr>
        </p:nvSpPr>
        <p:spPr>
          <a:xfrm>
            <a:off x="429253" y="424691"/>
            <a:ext cx="11354760" cy="7672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63" name="Google Shape;263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4" name="Google Shape;264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Заголовок">
  <p:cSld name="17_Заголовок">
    <p:bg>
      <p:bgPr>
        <a:solidFill>
          <a:schemeClr val="dk1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12"/>
          <p:cNvPicPr preferRelativeResize="0"/>
          <p:nvPr/>
        </p:nvPicPr>
        <p:blipFill rotWithShape="1">
          <a:blip r:embed="rId2">
            <a:alphaModFix/>
          </a:blip>
          <a:srcRect b="25668" l="13456" r="0" t="10446"/>
          <a:stretch/>
        </p:blipFill>
        <p:spPr>
          <a:xfrm>
            <a:off x="-1" y="-1"/>
            <a:ext cx="928422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12"/>
          <p:cNvPicPr preferRelativeResize="0"/>
          <p:nvPr/>
        </p:nvPicPr>
        <p:blipFill rotWithShape="1">
          <a:blip r:embed="rId3">
            <a:alphaModFix/>
          </a:blip>
          <a:srcRect b="8691" l="36156" r="0" t="22176"/>
          <a:stretch/>
        </p:blipFill>
        <p:spPr>
          <a:xfrm>
            <a:off x="-1" y="-2"/>
            <a:ext cx="6329681" cy="6863317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1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69" name="Google Shape;269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Титульный слайд">
  <p:cSld name="11_Титульный слайд">
    <p:bg>
      <p:bgPr>
        <a:solidFill>
          <a:schemeClr val="dk1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2" name="Google Shape;272;p13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73" name="Google Shape;273;p13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4" name="Google Shape;274;p13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5" name="Google Shape;275;p13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6" name="Google Shape;276;p13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7" name="Google Shape;277;p13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8" name="Google Shape;278;p13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9" name="Google Shape;279;p13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0" name="Google Shape;280;p13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1" name="Google Shape;281;p13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2" name="Google Shape;282;p13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3" name="Google Shape;283;p13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4" name="Google Shape;284;p13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5" name="Google Shape;285;p13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6" name="Google Shape;286;p13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7" name="Google Shape;287;p13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8" name="Google Shape;288;p13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9" name="Google Shape;289;p13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0" name="Google Shape;290;p13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1" name="Google Shape;291;p13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92" name="Google Shape;292;p13"/>
          <p:cNvSpPr txBox="1"/>
          <p:nvPr>
            <p:ph type="title"/>
          </p:nvPr>
        </p:nvSpPr>
        <p:spPr>
          <a:xfrm>
            <a:off x="429254" y="1609196"/>
            <a:ext cx="480314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93" name="Google Shape;293;p13"/>
          <p:cNvPicPr preferRelativeResize="0"/>
          <p:nvPr/>
        </p:nvPicPr>
        <p:blipFill rotWithShape="1">
          <a:blip r:embed="rId2">
            <a:alphaModFix/>
          </a:blip>
          <a:srcRect b="77450" l="52729" r="0" t="17827"/>
          <a:stretch/>
        </p:blipFill>
        <p:spPr>
          <a:xfrm flipH="1">
            <a:off x="0" y="0"/>
            <a:ext cx="5763224" cy="32355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95" name="Google Shape;29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Титульный слайд">
  <p:cSld name="16_Титульный слайд">
    <p:bg>
      <p:bgPr>
        <a:solidFill>
          <a:schemeClr val="dk1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97" name="Google Shape;297;p14"/>
          <p:cNvPicPr preferRelativeResize="0"/>
          <p:nvPr/>
        </p:nvPicPr>
        <p:blipFill rotWithShape="1">
          <a:blip r:embed="rId2">
            <a:alphaModFix/>
          </a:blip>
          <a:srcRect b="0" l="20444" r="24824" t="0"/>
          <a:stretch/>
        </p:blipFill>
        <p:spPr>
          <a:xfrm>
            <a:off x="5519099" y="0"/>
            <a:ext cx="6672901" cy="685713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8" name="Google Shape;298;p14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99" name="Google Shape;299;p14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0" name="Google Shape;300;p14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1" name="Google Shape;301;p14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2" name="Google Shape;302;p14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3" name="Google Shape;303;p14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4" name="Google Shape;304;p14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5" name="Google Shape;305;p14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6" name="Google Shape;306;p14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7" name="Google Shape;307;p14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8" name="Google Shape;308;p14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9" name="Google Shape;309;p14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0" name="Google Shape;310;p14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1" name="Google Shape;311;p14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2" name="Google Shape;312;p14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3" name="Google Shape;313;p14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4" name="Google Shape;314;p14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5" name="Google Shape;315;p14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6" name="Google Shape;316;p14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7" name="Google Shape;317;p14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18" name="Google Shape;318;p14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319" name="Google Shape;31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14"/>
          <p:cNvSpPr/>
          <p:nvPr/>
        </p:nvSpPr>
        <p:spPr>
          <a:xfrm>
            <a:off x="5404757" y="4555671"/>
            <a:ext cx="1926772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4"/>
          <p:cNvSpPr/>
          <p:nvPr/>
        </p:nvSpPr>
        <p:spPr>
          <a:xfrm>
            <a:off x="8490856" y="5372100"/>
            <a:ext cx="767443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4"/>
          <p:cNvSpPr/>
          <p:nvPr/>
        </p:nvSpPr>
        <p:spPr>
          <a:xfrm>
            <a:off x="6498771" y="342900"/>
            <a:ext cx="767443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4"/>
          <p:cNvSpPr/>
          <p:nvPr/>
        </p:nvSpPr>
        <p:spPr>
          <a:xfrm>
            <a:off x="7903028" y="32658"/>
            <a:ext cx="767443" cy="58782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4"/>
          <p:cNvSpPr/>
          <p:nvPr/>
        </p:nvSpPr>
        <p:spPr>
          <a:xfrm>
            <a:off x="5323114" y="930729"/>
            <a:ext cx="1175657" cy="97333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5" name="Google Shape;32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8723" y="6035040"/>
            <a:ext cx="2653844" cy="4181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Титульный слайд">
  <p:cSld name="12_Титульный слайд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27" name="Google Shape;327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2191979" cy="6857131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15"/>
          <p:cNvSpPr/>
          <p:nvPr/>
        </p:nvSpPr>
        <p:spPr>
          <a:xfrm>
            <a:off x="0" y="4499104"/>
            <a:ext cx="6792686" cy="1661684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5"/>
          <p:cNvSpPr/>
          <p:nvPr/>
        </p:nvSpPr>
        <p:spPr>
          <a:xfrm>
            <a:off x="1" y="5501389"/>
            <a:ext cx="4811842" cy="135660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0" name="Google Shape;330;p15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31" name="Google Shape;331;p15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2" name="Google Shape;332;p15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3" name="Google Shape;333;p15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4" name="Google Shape;334;p15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5" name="Google Shape;335;p15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6" name="Google Shape;336;p15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7" name="Google Shape;337;p15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8" name="Google Shape;338;p15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9" name="Google Shape;339;p15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0" name="Google Shape;340;p15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1" name="Google Shape;341;p15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2" name="Google Shape;342;p15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3" name="Google Shape;343;p15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4" name="Google Shape;344;p15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5" name="Google Shape;345;p15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6" name="Google Shape;346;p15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7" name="Google Shape;347;p15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8" name="Google Shape;348;p15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9" name="Google Shape;349;p15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50" name="Google Shape;350;p15"/>
          <p:cNvSpPr txBox="1"/>
          <p:nvPr>
            <p:ph type="title"/>
          </p:nvPr>
        </p:nvSpPr>
        <p:spPr>
          <a:xfrm>
            <a:off x="429253" y="2291422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51" name="Google Shape;35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5895936"/>
            <a:ext cx="3536690" cy="5572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52" name="Google Shape;35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858522" y="6160788"/>
            <a:ext cx="934755" cy="29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Титульный слайд">
  <p:cSld name="10_Титульный слайд">
    <p:bg>
      <p:bgPr>
        <a:solidFill>
          <a:schemeClr val="dk1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4" name="Google Shape;354;p16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355" name="Google Shape;355;p16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6" name="Google Shape;356;p16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7" name="Google Shape;357;p16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8" name="Google Shape;358;p16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9" name="Google Shape;359;p16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0" name="Google Shape;360;p16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1" name="Google Shape;361;p16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2" name="Google Shape;362;p16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3" name="Google Shape;363;p16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4" name="Google Shape;364;p16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5" name="Google Shape;365;p16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6" name="Google Shape;366;p16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7" name="Google Shape;367;p16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8" name="Google Shape;368;p16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9" name="Google Shape;369;p16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0" name="Google Shape;370;p16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1" name="Google Shape;371;p16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2" name="Google Shape;372;p16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3" name="Google Shape;373;p16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374" name="Google Shape;374;p16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75" name="Google Shape;375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76" name="Google Shape;3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chart" Target="../charts/chart2.xml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1.png"/><Relationship Id="rId3" Type="http://schemas.openxmlformats.org/officeDocument/2006/relationships/chart" Target="../charts/chart3.xml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chart" Target="../charts/chart4.xml"/><Relationship Id="rId6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6.png"/><Relationship Id="rId3" Type="http://schemas.openxmlformats.org/officeDocument/2006/relationships/chart" Target="../charts/chart5.xml"/><Relationship Id="rId4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4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9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1" name="Google Shape;381;p17"/>
          <p:cNvSpPr txBox="1"/>
          <p:nvPr>
            <p:ph type="title"/>
          </p:nvPr>
        </p:nvSpPr>
        <p:spPr>
          <a:xfrm>
            <a:off x="429253" y="2490555"/>
            <a:ext cx="7827335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</a:pPr>
            <a:r>
              <a:rPr lang="ru-RU" sz="2950"/>
              <a:t xml:space="preserve">Прототип демонстрирует аналитику на синтетических данных, чётко разделяя наблюдения от интерпретаций и сохраняя оговорки источника</a:t>
            </a:r>
          </a:p>
        </p:txBody>
      </p:sp>
      <p:sp>
        <p:nvSpPr>
          <p:cNvPr id="383" name="Google Shape;383;p17"/>
          <p:cNvSpPr txBox="1"/>
          <p:nvPr/>
        </p:nvSpPr>
        <p:spPr>
          <a:xfrm>
            <a:off x="1510259" y="4682209"/>
            <a:ext cx="2213844" cy="83428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FB8C2"/>
              </a:buClr>
              <a:buSzPts val="1600"/>
              <a:buFont typeface="Play"/>
              <a:buNone/>
            </a:pPr>
            <a:r>
              <a:rPr b="0" i="0" lang="ru-RU" sz="1200" u="none" cap="none" strike="noStrike">
                <a:solidFill>
                  <a:srgbClr val="AFB8C2"/>
                </a:solidFill>
                <a:latin typeface="Play"/>
                <a:ea typeface="Play"/>
                <a:cs typeface="Play"/>
                <a:sym typeface="Play"/>
              </a:rPr>
              <a:t xml:space="preserve">Прототип показывает, как отделять наблюдения от интерпретаций и сохранять оговорки источника.</a:t>
            </a:r>
          </a:p>
        </p:txBody>
      </p:sp>
      <p:sp>
        <p:nvSpPr>
          <p:cNvPr id="384" name="Rectangle 38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TextBox 38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Данные синтетические, не являются реальными рыночными результатами.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74" name="Google Shape;474;p23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actual leads: максимум 240 — «Search»</a:t>
            </a:r>
          </a:p>
        </p:txBody>
      </p:sp>
      <p:graphicFrame>
        <p:nvGraphicFramePr>
          <p:cNvPr id="475" name="Chart 474"/>
          <p:cNvGraphicFramePr>
            <a:graphicFrameLocks noGrp="1"/>
          </p:cNvGraphicFramePr>
          <p:nvPr/>
        </p:nvGraphicFramePr>
        <p:xfrm>
          <a:off x="427939" y="1729423"/>
          <a:ext cx="11334902" cy="4374197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6" name="Rectangle 47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TextBox 47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category_comparison.csv · 4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4 из 4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10" name="Google Shape;510;p25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tickets: «Resolved» — 62.00% показанной суммы</a:t>
            </a:r>
          </a:p>
        </p:txBody>
      </p:sp>
      <p:graphicFrame>
        <p:nvGraphicFramePr>
          <p:cNvPr id="541" name="Chart 540"/>
          <p:cNvGraphicFramePr>
            <a:graphicFrameLocks noGrp="1"/>
          </p:cNvGraphicFramePr>
          <p:nvPr/>
        </p:nvGraphicFramePr>
        <p:xfrm>
          <a:off x="427939" y="1729423"/>
          <a:ext cx="11334902" cy="4374197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42" name="Rectangle 54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category_shares.json · 3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3 из 3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65" name="Google Shape;565;p2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Распределение Значение: от 18 до 95</a:t>
            </a:r>
          </a:p>
        </p:txBody>
      </p:sp>
      <p:graphicFrame>
        <p:nvGraphicFramePr>
          <p:cNvPr id="566" name="Chart 565"/>
          <p:cNvGraphicFramePr>
            <a:graphicFrameLocks noGrp="1"/>
          </p:cNvGraphicFramePr>
          <p:nvPr/>
        </p:nvGraphicFramePr>
        <p:xfrm>
          <a:off x="427939" y="1729423"/>
          <a:ext cx="10003661" cy="4374197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7" name="Rectangle 566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TextBox 567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distribution.csv · 25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25 из 25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13" name="Google Shape;613;p28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Requests: максимум 120 — «North»</a:t>
            </a:r>
          </a:p>
        </p:txBody>
      </p:sp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40" name="Chart 639"/>
          <p:cNvGraphicFramePr>
            <a:graphicFrameLocks noGrp="1"/>
          </p:cNvGraphicFramePr>
          <p:nvPr/>
        </p:nvGraphicFramePr>
        <p:xfrm>
          <a:off x="427939" y="1729423"/>
          <a:ext cx="11334902" cy="4374197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641" name="Rectangle 640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TextBox 641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embedded_table.md · # Regional service snapshot · Source: synthetic test data. Units: requests and resolved requests, counts for Apr…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3 из 3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80" name="Google Shape;680;p31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Справочник · строки 1–4 из 4</a:t>
            </a:r>
          </a:p>
        </p:txBody>
      </p:sp>
      <p:graphicFrame>
        <p:nvGraphicFramePr>
          <p:cNvPr id="681" name="Table 680"/>
          <p:cNvGraphicFramePr>
            <a:graphicFrameLocks noGrp="1"/>
          </p:cNvGraphicFramePr>
          <p:nvPr/>
        </p:nvGraphicFramePr>
        <p:xfrm>
          <a:off x="427939" y="1729423"/>
          <a:ext cx="1133490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3725"/>
                <a:gridCol w="2833725"/>
                <a:gridCol w="2833725"/>
                <a:gridCol w="2833727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period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actual_units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planned_units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note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Week 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observed zero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Week 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/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12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actual missing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Week 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/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planned missing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Week 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10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actual zero</a:t>
                      </a:r>
                    </a:p>
                  </a:txBody>
                  <a:tcPr>
                    <a:noFill/>
                  </a:tcPr>
                </a:tc>
              </a:tr>
            </a:tbl>
          </a:graphicData>
        </a:graphic>
      </p:graphicFrame>
      <p:sp>
        <p:nvSpPr>
          <p:cNvPr id="682" name="Rectangle 68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TextBox 68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missing_zero.csv · 4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1/1; строки источника 2–5 из 4;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9" name="Google Shape;709;p33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201 строк справочника сохранены в приложении</a:t>
            </a:r>
          </a:p>
        </p:txBody>
      </p:sp>
      <p:sp>
        <p:nvSpPr>
          <p:cNvPr id="710" name="Google Shape;710;p33"/>
          <p:cNvSpPr txBox="1"/>
          <p:nvPr/>
        </p:nvSpPr>
        <p:spPr>
          <a:xfrm>
            <a:off x="6316808" y="1243208"/>
            <a:ext cx="4305644" cy="1912853"/>
          </a:xfrm>
          <a:prstGeom prst="rect">
            <a:avLst/>
          </a:prstGeom>
          <a:noFill/>
          <a:ln>
            <a:noFill/>
          </a:ln>
        </p:spPr>
        <p:txBody>
          <a:bodyPr anchorCtr="0" anchor="t" bIns="121875" lIns="0" spcFirstLastPara="1" rIns="12187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r>
              <a:rPr b="1" lang="ru-RU" sz="80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201</a:t>
            </a:r>
            <a:br/>
            <a:r>
              <a:rPr lang="ru-RU" sz="1600">
                <a:solidFill>
                  <a:srgbClr val="70C3FF"/>
                </a:solidFill>
                <a:latin typeface="Play"/>
                <a:ea typeface="Play"/>
                <a:cs typeface="Play"/>
                <a:sym typeface="Play"/>
              </a:rPr>
              <a:t xml:space="preserve">Полный справочник: 29 страниц в приложении после основных выводов; исходные значения сохранены.</a:t>
            </a:r>
          </a:p>
        </p:txBody>
      </p:sp>
      <p:sp>
        <p:nvSpPr>
          <p:cNvPr id="711" name="Google Shape;711;p33"/>
          <p:cNvSpPr txBox="1"/>
          <p:nvPr/>
        </p:nvSpPr>
        <p:spPr>
          <a:xfrm>
            <a:off x="6316808" y="3598223"/>
            <a:ext cx="4305644" cy="2589746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875" lIns="0" spcFirstLastPara="1" rIns="121875" wrap="non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1000"/>
              </a:spcAft>
              <a:buNone/>
            </a:pPr>
            <a:endParaRPr b="1" lang="ru-RU" sz="8000">
              <a:solidFill>
                <a:srgbClr val="70C3FF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712" name="Google Shape;712;p33"/>
          <p:cNvSpPr/>
          <p:nvPr/>
        </p:nvSpPr>
        <p:spPr>
          <a:xfrm>
            <a:off x="431328" y="1243208"/>
            <a:ext cx="3630033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endParaRPr lang="ru-RU" sz="1600">
              <a:solidFill>
                <a:srgbClr val="CAD0D5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713" name="Rectangle 712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TextBox 713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Всего 201 строк; полный постраничный показ — в приложении.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75" name="Google Shape;775;p3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Выручка: +36000 USD между 2026-01 и 2026-06 (+30.00%)</a:t>
            </a:r>
          </a:p>
        </p:txBody>
      </p:sp>
      <p:graphicFrame>
        <p:nvGraphicFramePr>
          <p:cNvPr id="776" name="Chart 775"/>
          <p:cNvGraphicFramePr>
            <a:graphicFrameLocks noGrp="1"/>
          </p:cNvGraphicFramePr>
          <p:nvPr/>
        </p:nvGraphicFramePr>
        <p:xfrm>
          <a:off x="427939" y="1729423"/>
          <a:ext cx="11334902" cy="4374197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77" name="Rectangle 776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TextBox 777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time_series.xlsx · лист «Monthly revenue» · 6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6 из 6 строк; исключено: 0.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56" name="Google Shape;756;p38"/>
          <p:cNvSpPr txBox="1"/>
          <p:nvPr/>
        </p:nvSpPr>
        <p:spPr>
          <a:xfrm>
            <a:off x="6559297" y="976912"/>
            <a:ext cx="4403675" cy="94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4250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B4250"/>
                </a:solidFill>
                <a:latin typeface="Play"/>
                <a:ea typeface="Play"/>
                <a:cs typeface="Play"/>
                <a:sym typeface="Play"/>
              </a:rPr>
              <a:t xml:space="preserve">Наблюдения и интерпретации представлены отдельно</a:t>
            </a:r>
          </a:p>
        </p:txBody>
      </p:sp>
      <p:sp>
        <p:nvSpPr>
          <p:cNvPr id="757" name="Google Shape;757;p38"/>
          <p:cNvSpPr/>
          <p:nvPr/>
        </p:nvSpPr>
        <p:spPr>
          <a:xfrm>
            <a:off x="5759521" y="976749"/>
            <a:ext cx="626730" cy="626730"/>
          </a:xfrm>
          <a:prstGeom prst="roundRect">
            <a:avLst>
              <a:gd fmla="val 27662" name="adj"/>
            </a:avLst>
          </a:prstGeom>
          <a:solidFill>
            <a:srgbClr val="000000">
              <a:alpha val="60000"/>
            </a:srgbClr>
          </a:solidFill>
          <a:ln cap="flat" cmpd="sng" w="9525">
            <a:solidFill>
              <a:srgbClr val="EE5959">
                <a:alpha val="50196"/>
              </a:srgbClr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38"/>
          <p:cNvSpPr txBox="1"/>
          <p:nvPr/>
        </p:nvSpPr>
        <p:spPr>
          <a:xfrm>
            <a:off x="6559297" y="2357191"/>
            <a:ext cx="4403675" cy="94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4250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B4250"/>
                </a:solidFill>
                <a:latin typeface="Play"/>
                <a:ea typeface="Play"/>
                <a:cs typeface="Play"/>
                <a:sym typeface="Play"/>
              </a:rPr>
              <a:t xml:space="preserve">Периоды, единицы и оговорки источника фиксируются</a:t>
            </a:r>
          </a:p>
        </p:txBody>
      </p:sp>
      <p:sp>
        <p:nvSpPr>
          <p:cNvPr id="759" name="Google Shape;759;p38"/>
          <p:cNvSpPr/>
          <p:nvPr/>
        </p:nvSpPr>
        <p:spPr>
          <a:xfrm>
            <a:off x="5759521" y="2357028"/>
            <a:ext cx="626730" cy="626730"/>
          </a:xfrm>
          <a:prstGeom prst="roundRect">
            <a:avLst>
              <a:gd fmla="val 27662" name="adj"/>
            </a:avLst>
          </a:prstGeom>
          <a:solidFill>
            <a:srgbClr val="000000">
              <a:alpha val="60000"/>
            </a:srgbClr>
          </a:solidFill>
          <a:ln cap="flat" cmpd="sng" w="9525">
            <a:solidFill>
              <a:srgbClr val="EE5959">
                <a:alpha val="50196"/>
              </a:srgbClr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38"/>
          <p:cNvSpPr txBox="1"/>
          <p:nvPr/>
        </p:nvSpPr>
        <p:spPr>
          <a:xfrm>
            <a:off x="6559297" y="3737471"/>
            <a:ext cx="4403675" cy="941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B4250"/>
              </a:buClr>
              <a:buSzPts val="1600"/>
              <a:buFont typeface="Play"/>
              <a:buNone/>
            </a:pPr>
            <a:r>
              <a:rPr lang="ru-RU" sz="1600">
                <a:solidFill>
                  <a:srgbClr val="EB4250"/>
                </a:solidFill>
                <a:latin typeface="Play"/>
                <a:ea typeface="Play"/>
                <a:cs typeface="Play"/>
                <a:sym typeface="Play"/>
              </a:rPr>
              <a:t xml:space="preserve">Синтетические примеры не выдаются за реальные компании</a:t>
            </a:r>
          </a:p>
        </p:txBody>
      </p:sp>
      <p:sp>
        <p:nvSpPr>
          <p:cNvPr id="761" name="Google Shape;761;p38"/>
          <p:cNvSpPr/>
          <p:nvPr/>
        </p:nvSpPr>
        <p:spPr>
          <a:xfrm>
            <a:off x="5759521" y="3737308"/>
            <a:ext cx="626730" cy="626730"/>
          </a:xfrm>
          <a:prstGeom prst="roundRect">
            <a:avLst>
              <a:gd fmla="val 27662" name="adj"/>
            </a:avLst>
          </a:prstGeom>
          <a:solidFill>
            <a:srgbClr val="000000">
              <a:alpha val="60000"/>
            </a:srgbClr>
          </a:solidFill>
          <a:ln cap="flat" cmpd="sng" w="9525">
            <a:solidFill>
              <a:srgbClr val="EE5959">
                <a:alpha val="50196"/>
              </a:srgbClr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64" name="Google Shape;764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39536" y="1156764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5" name="Google Shape;765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939536" y="2535780"/>
            <a:ext cx="2667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6" name="Google Shape;766;p3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939536" y="3912727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68" name="Google Shape;768;p38"/>
          <p:cNvSpPr txBox="1"/>
          <p:nvPr>
            <p:ph type="title"/>
          </p:nvPr>
        </p:nvSpPr>
        <p:spPr>
          <a:xfrm>
            <a:off x="429253" y="2327310"/>
            <a:ext cx="4499229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Разделение фактов и выводов обеспечивает прозрачную логику для принятия решений</a:t>
            </a:r>
          </a:p>
        </p:txBody>
      </p:sp>
      <p:sp>
        <p:nvSpPr>
          <p:cNvPr id="769" name="Google Shape;769;p38"/>
          <p:cNvSpPr/>
          <p:nvPr/>
        </p:nvSpPr>
        <p:spPr>
          <a:xfrm>
            <a:off x="431328" y="3528845"/>
            <a:ext cx="44971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Прозрачная логика критична для принятия обоснованных решений.</a:t>
            </a:r>
          </a:p>
        </p:txBody>
      </p:sp>
      <p:sp>
        <p:nvSpPr>
          <p:cNvPr id="770" name="Rectangle 769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TextBox 770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Синтетические учебные данные.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8" name="Google Shape;388;p18"/>
          <p:cNvSpPr txBox="1"/>
          <p:nvPr>
            <p:ph type="title"/>
          </p:nvPr>
        </p:nvSpPr>
        <p:spPr>
          <a:xfrm>
            <a:off x="429254" y="1609196"/>
            <a:ext cx="480314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Определение влияния выводов на текущие рабочие процессы</a:t>
            </a:r>
          </a:p>
        </p:txBody>
      </p:sp>
      <p:sp>
        <p:nvSpPr>
          <p:cNvPr id="389" name="Google Shape;389;p18"/>
          <p:cNvSpPr txBox="1"/>
          <p:nvPr/>
        </p:nvSpPr>
        <p:spPr>
          <a:xfrm>
            <a:off x="4909649" y="1016001"/>
            <a:ext cx="1594338" cy="69791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77FF"/>
              </a:buClr>
              <a:buSzPts val="4000"/>
              <a:buFont typeface="Play"/>
              <a:buNone/>
            </a:pPr>
            <a:r>
              <a:rPr b="1" i="0" lang="ru-RU" sz="4000" u="none" cap="none" strike="noStrike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1</a:t>
            </a:r>
          </a:p>
        </p:txBody>
      </p:sp>
      <p:sp>
        <p:nvSpPr>
          <p:cNvPr id="390" name="Google Shape;390;p18"/>
          <p:cNvSpPr txBox="1"/>
          <p:nvPr/>
        </p:nvSpPr>
        <p:spPr>
          <a:xfrm>
            <a:off x="4909649" y="2088056"/>
            <a:ext cx="1594338" cy="69791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77FF"/>
              </a:buClr>
              <a:buSzPts val="4000"/>
              <a:buFont typeface="Play"/>
              <a:buNone/>
            </a:pPr>
            <a:r>
              <a:rPr b="1" i="0" lang="ru-RU" sz="4000" u="none" cap="none" strike="noStrike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2</a:t>
            </a:r>
          </a:p>
        </p:txBody>
      </p:sp>
      <p:sp>
        <p:nvSpPr>
          <p:cNvPr id="391" name="Google Shape;391;p18"/>
          <p:cNvSpPr txBox="1"/>
          <p:nvPr/>
        </p:nvSpPr>
        <p:spPr>
          <a:xfrm>
            <a:off x="4909649" y="3160111"/>
            <a:ext cx="1594338" cy="69791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77FF"/>
              </a:buClr>
              <a:buSzPts val="4000"/>
              <a:buFont typeface="Play"/>
              <a:buNone/>
            </a:pPr>
            <a:r>
              <a:rPr b="1" i="0" lang="ru-RU" sz="4000" u="none" cap="none" strike="noStrike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3</a:t>
            </a:r>
          </a:p>
        </p:txBody>
      </p:sp>
      <p:sp>
        <p:nvSpPr>
          <p:cNvPr id="394" name="Google Shape;394;p18"/>
          <p:cNvSpPr txBox="1"/>
          <p:nvPr/>
        </p:nvSpPr>
        <p:spPr>
          <a:xfrm>
            <a:off x="6793020" y="1016001"/>
            <a:ext cx="4969726" cy="59319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</a:pPr>
            <a:r>
              <a:rPr b="0" i="0" lang="ru-RU" sz="2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Оценка прототипа</a:t>
            </a:r>
          </a:p>
        </p:txBody>
      </p:sp>
      <p:sp>
        <p:nvSpPr>
          <p:cNvPr id="395" name="Google Shape;395;p18"/>
          <p:cNvSpPr txBox="1"/>
          <p:nvPr/>
        </p:nvSpPr>
        <p:spPr>
          <a:xfrm>
            <a:off x="6793020" y="2088056"/>
            <a:ext cx="4969726" cy="59319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</a:pPr>
            <a:r>
              <a:rPr b="0" i="0" lang="ru-RU" sz="2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Обратная связь</a:t>
            </a:r>
          </a:p>
        </p:txBody>
      </p:sp>
      <p:sp>
        <p:nvSpPr>
          <p:cNvPr id="396" name="Google Shape;396;p18"/>
          <p:cNvSpPr txBox="1"/>
          <p:nvPr/>
        </p:nvSpPr>
        <p:spPr>
          <a:xfrm>
            <a:off x="6793020" y="3160111"/>
            <a:ext cx="4969726" cy="59319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Play"/>
              <a:buNone/>
            </a:pPr>
            <a:r>
              <a:rPr b="0" i="0" lang="ru-RU" sz="2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Планирование внедрения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TextBox 397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Демонстрационный сценарий.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74" name="Google Shape;874;p44"/>
          <p:cNvSpPr txBox="1"/>
          <p:nvPr>
            <p:ph type="title"/>
          </p:nvPr>
        </p:nvSpPr>
        <p:spPr>
          <a:xfrm>
            <a:off x="429253" y="2291422"/>
            <a:ext cx="4846006" cy="18768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400"/>
              <a:buFont typeface="Play"/>
              <a:buNone/>
            </a:pPr>
            <a:r>
              <a:rPr b="1" lang="ru-RU" sz="2950"/>
              <a:t xml:space="preserve">Благодарим за внимание и готовы ответить на все вопросы о возможностях прототипа.</a:t>
            </a:r>
          </a:p>
        </p:txBody>
      </p:sp>
      <p:sp>
        <p:nvSpPr>
          <p:cNvPr id="875" name="Rectangle 874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TextBox 875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Конец презентации.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3" name="Google Shape;423;p20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1–7 из 201</a:t>
            </a:r>
          </a:p>
        </p:txBody>
      </p:sp>
      <p:sp>
        <p:nvSpPr>
          <p:cNvPr id="436" name="Google Shape;436;p20"/>
          <p:cNvSpPr/>
          <p:nvPr/>
        </p:nvSpPr>
        <p:spPr>
          <a:xfrm>
            <a:off x="5916189" y="1442224"/>
            <a:ext cx="5782981" cy="4969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600" u="none" cap="none" strike="noStrike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Справочная таблица: строки 1–7 из 201; страница 1 из 29.</a:t>
            </a:r>
          </a:p>
        </p:txBody>
      </p:sp>
      <p:graphicFrame>
        <p:nvGraphicFramePr>
          <p:cNvPr id="437" name="Table 436"/>
          <p:cNvGraphicFramePr>
            <a:graphicFrameLocks noGrp="1"/>
          </p:cNvGraphicFramePr>
          <p:nvPr/>
        </p:nvGraphicFramePr>
        <p:xfrm>
          <a:off x="4249646" y="1939164"/>
          <a:ext cx="7513196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6598"/>
                <a:gridCol w="3756598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438" name="Rectangle 437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TextBox 438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1/29; строки источника 2–8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1" name="Google Shape;441;p21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8–14 из 201</a:t>
            </a:r>
          </a:p>
        </p:txBody>
      </p:sp>
      <p:graphicFrame>
        <p:nvGraphicFramePr>
          <p:cNvPr id="452" name="Table 451"/>
          <p:cNvGraphicFramePr>
            <a:graphicFrameLocks noGrp="1"/>
          </p:cNvGraphicFramePr>
          <p:nvPr/>
        </p:nvGraphicFramePr>
        <p:xfrm>
          <a:off x="4739951" y="1188720"/>
          <a:ext cx="7022891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1445"/>
                <a:gridCol w="35114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009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453" name="Rectangle 452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TextBox 453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2/29; строки источника 9–15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7" name="Google Shape;547;p26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15–21 из 201</a:t>
            </a:r>
          </a:p>
        </p:txBody>
      </p:sp>
      <p:graphicFrame>
        <p:nvGraphicFramePr>
          <p:cNvPr id="558" name="Table 557"/>
          <p:cNvGraphicFramePr>
            <a:graphicFrameLocks noGrp="1"/>
          </p:cNvGraphicFramePr>
          <p:nvPr/>
        </p:nvGraphicFramePr>
        <p:xfrm>
          <a:off x="4739951" y="1188720"/>
          <a:ext cx="7022891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1445"/>
                <a:gridCol w="35114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REF-019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019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559" name="Rectangle 558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TextBox 559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3/29; строки источника 16–22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8" name="Google Shape;718;p34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22–28 из 201</a:t>
            </a:r>
          </a:p>
        </p:txBody>
      </p:sp>
      <p:graphicFrame>
        <p:nvGraphicFramePr>
          <p:cNvPr id="719" name="Table 718"/>
          <p:cNvGraphicFramePr>
            <a:graphicFrameLocks noGrp="1"/>
          </p:cNvGraphicFramePr>
          <p:nvPr/>
        </p:nvGraphicFramePr>
        <p:xfrm>
          <a:off x="427939" y="1729423"/>
          <a:ext cx="10438353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9176"/>
                <a:gridCol w="5219177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720" name="Rectangle 719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TextBox 720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4/29; строки источника 23–29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8" name="Google Shape;858;p43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29–35 из 201</a:t>
            </a:r>
          </a:p>
        </p:txBody>
      </p:sp>
      <p:cxnSp>
        <p:nvCxnSpPr>
          <p:cNvPr id="867" name="Google Shape;867;p43"/>
          <p:cNvCxnSpPr>
            <a:stCxn id="863" idx="3"/>
          </p:cNvCxnSpPr>
          <p:nvPr/>
        </p:nvCxnSpPr>
        <p:spPr>
          <a:xfrm>
            <a:off x="2196935" y="3242978"/>
            <a:ext cx="877500" cy="0"/>
          </a:xfrm>
          <a:prstGeom prst="straightConnector1">
            <a:avLst/>
          </a:prstGeom>
          <a:noFill/>
          <a:ln cap="flat" cmpd="sng" w="28575">
            <a:solidFill>
              <a:srgbClr val="0077FF"/>
            </a:solidFill>
            <a:prstDash val="solid"/>
            <a:miter lim="8000"/>
            <a:headEnd len="sm" w="sm" type="none"/>
            <a:tailEnd len="med" w="med" type="stealth"/>
          </a:ln>
        </p:spPr>
      </p:cxnSp>
      <p:cxnSp>
        <p:nvCxnSpPr>
          <p:cNvPr id="868" name="Google Shape;868;p43"/>
          <p:cNvCxnSpPr/>
          <p:nvPr/>
        </p:nvCxnSpPr>
        <p:spPr>
          <a:xfrm>
            <a:off x="5082639" y="3242978"/>
            <a:ext cx="877546" cy="0"/>
          </a:xfrm>
          <a:prstGeom prst="straightConnector1">
            <a:avLst/>
          </a:prstGeom>
          <a:noFill/>
          <a:ln cap="flat" cmpd="sng" w="28575">
            <a:solidFill>
              <a:srgbClr val="0077FF"/>
            </a:solidFill>
            <a:prstDash val="solid"/>
            <a:miter lim="8000"/>
            <a:headEnd len="sm" w="sm" type="none"/>
            <a:tailEnd len="med" w="med" type="stealth"/>
          </a:ln>
        </p:spPr>
      </p:cxnSp>
      <p:cxnSp>
        <p:nvCxnSpPr>
          <p:cNvPr id="869" name="Google Shape;869;p43"/>
          <p:cNvCxnSpPr/>
          <p:nvPr/>
        </p:nvCxnSpPr>
        <p:spPr>
          <a:xfrm>
            <a:off x="7992094" y="3242978"/>
            <a:ext cx="877546" cy="0"/>
          </a:xfrm>
          <a:prstGeom prst="straightConnector1">
            <a:avLst/>
          </a:prstGeom>
          <a:noFill/>
          <a:ln cap="flat" cmpd="sng" w="28575">
            <a:solidFill>
              <a:srgbClr val="0077FF"/>
            </a:solidFill>
            <a:prstDash val="solid"/>
            <a:miter lim="8000"/>
            <a:headEnd len="sm" w="sm" type="none"/>
            <a:tailEnd len="med" w="med" type="stealth"/>
          </a:ln>
        </p:spPr>
      </p:cxnSp>
      <p:graphicFrame>
        <p:nvGraphicFramePr>
          <p:cNvPr id="870" name="Table 869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REF-029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029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871" name="Rectangle 870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TextBox 871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5/29; строки источника 30–36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9" name="Google Shape;459;p2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36–42 из 201</a:t>
            </a:r>
          </a:p>
        </p:txBody>
      </p:sp>
      <p:graphicFrame>
        <p:nvGraphicFramePr>
          <p:cNvPr id="460" name="Table 459"/>
          <p:cNvGraphicFramePr>
            <a:graphicFrameLocks noGrp="1"/>
          </p:cNvGraphicFramePr>
          <p:nvPr/>
        </p:nvGraphicFramePr>
        <p:xfrm>
          <a:off x="427939" y="1729423"/>
          <a:ext cx="10003661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1830"/>
                <a:gridCol w="500183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REF-039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039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461" name="Rectangle 460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TextBox 461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6/29; строки источника 37–43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2" name="Google Shape;702;p32"/>
          <p:cNvSpPr/>
          <p:nvPr/>
        </p:nvSpPr>
        <p:spPr>
          <a:xfrm>
            <a:off x="431328" y="1243208"/>
            <a:ext cx="9699808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AD0D5"/>
                </a:solidFill>
                <a:latin typeface="Play"/>
                <a:ea typeface="Play"/>
                <a:cs typeface="Play"/>
                <a:sym typeface="Play"/>
              </a:rPr>
              <a:t xml:space="preserve">Справочная таблица: строки 43–49 из 201; страница 7 из 29.</a:t>
            </a:r>
          </a:p>
        </p:txBody>
      </p:sp>
      <p:sp>
        <p:nvSpPr>
          <p:cNvPr id="703" name="Google Shape;703;p3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43–49 из 201</a:t>
            </a:r>
          </a:p>
        </p:txBody>
      </p:sp>
      <p:graphicFrame>
        <p:nvGraphicFramePr>
          <p:cNvPr id="704" name="Table 703"/>
          <p:cNvGraphicFramePr>
            <a:graphicFrameLocks noGrp="1"/>
          </p:cNvGraphicFramePr>
          <p:nvPr/>
        </p:nvGraphicFramePr>
        <p:xfrm>
          <a:off x="427939" y="1887449"/>
          <a:ext cx="10003661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1830"/>
                <a:gridCol w="500183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REF-049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049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705" name="Rectangle 704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TextBox 705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7/29; строки источника 44–50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39" name="Google Shape;839;p4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50–56 из 201</a:t>
            </a:r>
          </a:p>
        </p:txBody>
      </p:sp>
      <p:cxnSp>
        <p:nvCxnSpPr>
          <p:cNvPr id="844" name="Google Shape;844;p42"/>
          <p:cNvCxnSpPr/>
          <p:nvPr/>
        </p:nvCxnSpPr>
        <p:spPr>
          <a:xfrm>
            <a:off x="0" y="3401671"/>
            <a:ext cx="12192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graphicFrame>
        <p:nvGraphicFramePr>
          <p:cNvPr id="845" name="Table 844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846" name="Rectangle 84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TextBox 84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8/29; строки источника 51–57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74" name="Google Shape;474;p23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57–63 из 201</a:t>
            </a:r>
          </a:p>
        </p:txBody>
      </p:sp>
      <p:graphicFrame>
        <p:nvGraphicFramePr>
          <p:cNvPr id="475" name="Table 474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REF-059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059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476" name="Rectangle 47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TextBox 47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9/29; строки источника 58–64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10" name="Google Shape;510;p25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64–70 из 201</a:t>
            </a:r>
          </a:p>
        </p:txBody>
      </p:sp>
      <p:graphicFrame>
        <p:nvGraphicFramePr>
          <p:cNvPr id="541" name="Table 540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REF-069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069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542" name="Rectangle 54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10/29; строки источника 65–71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65" name="Google Shape;565;p2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71–77 из 201</a:t>
            </a:r>
          </a:p>
        </p:txBody>
      </p:sp>
      <p:graphicFrame>
        <p:nvGraphicFramePr>
          <p:cNvPr id="566" name="Table 565"/>
          <p:cNvGraphicFramePr>
            <a:graphicFrameLocks noGrp="1"/>
          </p:cNvGraphicFramePr>
          <p:nvPr/>
        </p:nvGraphicFramePr>
        <p:xfrm>
          <a:off x="427939" y="1729423"/>
          <a:ext cx="10003661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1830"/>
                <a:gridCol w="500183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567" name="Rectangle 566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TextBox 567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11/29; строки источника 72–78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13" name="Google Shape;613;p28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78–84 из 201</a:t>
            </a:r>
          </a:p>
        </p:txBody>
      </p:sp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40" name="Table 639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REF-079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079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41" name="Rectangle 640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TextBox 641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12/29; строки источника 79–85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Google Shape;680;p31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85–91 из 201</a:t>
            </a:r>
          </a:p>
        </p:txBody>
      </p:sp>
      <p:sp>
        <p:nvSpPr>
          <p:cNvPr id="684" name="Google Shape;684;p31"/>
          <p:cNvSpPr/>
          <p:nvPr/>
        </p:nvSpPr>
        <p:spPr>
          <a:xfrm>
            <a:off x="423103" y="5533764"/>
            <a:ext cx="6565676" cy="395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Справочная таблица: строки 85–91 из 201; страница 13 из 29.</a:t>
            </a:r>
          </a:p>
        </p:txBody>
      </p:sp>
      <p:graphicFrame>
        <p:nvGraphicFramePr>
          <p:cNvPr id="685" name="Table 684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REF-089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089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86" name="Rectangle 68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TextBox 68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13/29; строки источника 86–92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75" name="Google Shape;775;p3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92–98 из 201</a:t>
            </a:r>
          </a:p>
        </p:txBody>
      </p:sp>
      <p:graphicFrame>
        <p:nvGraphicFramePr>
          <p:cNvPr id="776" name="Table 775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777" name="Rectangle 776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TextBox 777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14/29; строки источника 93–99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3" name="Google Shape;423;p20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99–105 из 201</a:t>
            </a:r>
          </a:p>
        </p:txBody>
      </p:sp>
      <p:sp>
        <p:nvSpPr>
          <p:cNvPr id="436" name="Google Shape;436;p20"/>
          <p:cNvSpPr/>
          <p:nvPr/>
        </p:nvSpPr>
        <p:spPr>
          <a:xfrm>
            <a:off x="5916189" y="1442224"/>
            <a:ext cx="5782981" cy="4969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600" u="none" cap="none" strike="noStrike">
                <a:solidFill>
                  <a:srgbClr val="0077FF"/>
                </a:solidFill>
                <a:latin typeface="Play"/>
                <a:ea typeface="Play"/>
                <a:cs typeface="Play"/>
                <a:sym typeface="Play"/>
              </a:rPr>
              <a:t xml:space="preserve">Справочная таблица: строки 99–105 из 201; страница 15 из 29.</a:t>
            </a:r>
          </a:p>
        </p:txBody>
      </p:sp>
      <p:graphicFrame>
        <p:nvGraphicFramePr>
          <p:cNvPr id="437" name="Table 436"/>
          <p:cNvGraphicFramePr>
            <a:graphicFrameLocks noGrp="1"/>
          </p:cNvGraphicFramePr>
          <p:nvPr/>
        </p:nvGraphicFramePr>
        <p:xfrm>
          <a:off x="4249646" y="1939164"/>
          <a:ext cx="7513196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6598"/>
                <a:gridCol w="3756598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REF-099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099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438" name="Rectangle 437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TextBox 438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15/29; строки источника 100–106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1" name="Google Shape;441;p21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106–112 из 201</a:t>
            </a:r>
          </a:p>
        </p:txBody>
      </p:sp>
      <p:graphicFrame>
        <p:nvGraphicFramePr>
          <p:cNvPr id="452" name="Table 451"/>
          <p:cNvGraphicFramePr>
            <a:graphicFrameLocks noGrp="1"/>
          </p:cNvGraphicFramePr>
          <p:nvPr/>
        </p:nvGraphicFramePr>
        <p:xfrm>
          <a:off x="4739951" y="1188720"/>
          <a:ext cx="7022891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1445"/>
                <a:gridCol w="35114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REF-109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109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453" name="Rectangle 452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TextBox 453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16/29; строки источника 107–113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7" name="Google Shape;547;p26"/>
          <p:cNvSpPr txBox="1"/>
          <p:nvPr>
            <p:ph type="title"/>
          </p:nvPr>
        </p:nvSpPr>
        <p:spPr>
          <a:xfrm>
            <a:off x="429253" y="424691"/>
            <a:ext cx="7827311" cy="6268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113–119 из 201</a:t>
            </a:r>
          </a:p>
        </p:txBody>
      </p:sp>
      <p:graphicFrame>
        <p:nvGraphicFramePr>
          <p:cNvPr id="558" name="Table 557"/>
          <p:cNvGraphicFramePr>
            <a:graphicFrameLocks noGrp="1"/>
          </p:cNvGraphicFramePr>
          <p:nvPr/>
        </p:nvGraphicFramePr>
        <p:xfrm>
          <a:off x="4739951" y="1188720"/>
          <a:ext cx="7022891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1445"/>
                <a:gridCol w="3511446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REF-119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119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559" name="Rectangle 558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TextBox 559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17/29; строки источника 114–120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9" name="Google Shape;709;p33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120–126 из 201</a:t>
            </a:r>
          </a:p>
        </p:txBody>
      </p:sp>
      <p:sp>
        <p:nvSpPr>
          <p:cNvPr id="712" name="Google Shape;712;p33"/>
          <p:cNvSpPr/>
          <p:nvPr/>
        </p:nvSpPr>
        <p:spPr>
          <a:xfrm>
            <a:off x="431328" y="1243208"/>
            <a:ext cx="3630033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>
                <a:solidFill>
                  <a:srgbClr val="CAD0D5"/>
                </a:solidFill>
                <a:latin typeface="Play"/>
                <a:ea typeface="Play"/>
                <a:cs typeface="Play"/>
                <a:sym typeface="Play"/>
              </a:rPr>
              <a:t xml:space="preserve">Справочная таблица: строки 120–126 из 201; страница 18 из 29.</a:t>
            </a:r>
          </a:p>
        </p:txBody>
      </p:sp>
      <p:graphicFrame>
        <p:nvGraphicFramePr>
          <p:cNvPr id="713" name="Table 712"/>
          <p:cNvGraphicFramePr>
            <a:graphicFrameLocks noGrp="1"/>
          </p:cNvGraphicFramePr>
          <p:nvPr/>
        </p:nvGraphicFramePr>
        <p:xfrm>
          <a:off x="427939" y="1887449"/>
          <a:ext cx="10438353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9176"/>
                <a:gridCol w="5219177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714" name="Rectangle 713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TextBox 714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18/29; строки источника 121–127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86" name="Google Shape;486;p24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127–133 из 201</a:t>
            </a:r>
          </a:p>
        </p:txBody>
      </p:sp>
      <p:graphicFrame>
        <p:nvGraphicFramePr>
          <p:cNvPr id="487" name="Table 486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REF-129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129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488" name="Rectangle 487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TextBox 488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19/29; строки источника 128–134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8" name="Google Shape;718;p34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134–140 из 201</a:t>
            </a:r>
          </a:p>
        </p:txBody>
      </p:sp>
      <p:graphicFrame>
        <p:nvGraphicFramePr>
          <p:cNvPr id="719" name="Table 718"/>
          <p:cNvGraphicFramePr>
            <a:graphicFrameLocks noGrp="1"/>
          </p:cNvGraphicFramePr>
          <p:nvPr/>
        </p:nvGraphicFramePr>
        <p:xfrm>
          <a:off x="427939" y="1729423"/>
          <a:ext cx="10438353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9176"/>
                <a:gridCol w="5219177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REF-139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139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720" name="Rectangle 719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TextBox 720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20/29; строки источника 135–141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58" name="Google Shape;858;p43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141–147 из 201</a:t>
            </a:r>
          </a:p>
        </p:txBody>
      </p:sp>
      <p:cxnSp>
        <p:nvCxnSpPr>
          <p:cNvPr id="867" name="Google Shape;867;p43"/>
          <p:cNvCxnSpPr>
            <a:stCxn id="863" idx="3"/>
          </p:cNvCxnSpPr>
          <p:nvPr/>
        </p:nvCxnSpPr>
        <p:spPr>
          <a:xfrm>
            <a:off x="2196935" y="3242978"/>
            <a:ext cx="877500" cy="0"/>
          </a:xfrm>
          <a:prstGeom prst="straightConnector1">
            <a:avLst/>
          </a:prstGeom>
          <a:noFill/>
          <a:ln cap="flat" cmpd="sng" w="28575">
            <a:solidFill>
              <a:srgbClr val="0077FF"/>
            </a:solidFill>
            <a:prstDash val="solid"/>
            <a:miter lim="8000"/>
            <a:headEnd len="sm" w="sm" type="none"/>
            <a:tailEnd len="med" w="med" type="stealth"/>
          </a:ln>
        </p:spPr>
      </p:cxnSp>
      <p:cxnSp>
        <p:nvCxnSpPr>
          <p:cNvPr id="868" name="Google Shape;868;p43"/>
          <p:cNvCxnSpPr/>
          <p:nvPr/>
        </p:nvCxnSpPr>
        <p:spPr>
          <a:xfrm>
            <a:off x="5082639" y="3242978"/>
            <a:ext cx="877546" cy="0"/>
          </a:xfrm>
          <a:prstGeom prst="straightConnector1">
            <a:avLst/>
          </a:prstGeom>
          <a:noFill/>
          <a:ln cap="flat" cmpd="sng" w="28575">
            <a:solidFill>
              <a:srgbClr val="0077FF"/>
            </a:solidFill>
            <a:prstDash val="solid"/>
            <a:miter lim="8000"/>
            <a:headEnd len="sm" w="sm" type="none"/>
            <a:tailEnd len="med" w="med" type="stealth"/>
          </a:ln>
        </p:spPr>
      </p:cxnSp>
      <p:cxnSp>
        <p:nvCxnSpPr>
          <p:cNvPr id="869" name="Google Shape;869;p43"/>
          <p:cNvCxnSpPr/>
          <p:nvPr/>
        </p:nvCxnSpPr>
        <p:spPr>
          <a:xfrm>
            <a:off x="7992094" y="3242978"/>
            <a:ext cx="877546" cy="0"/>
          </a:xfrm>
          <a:prstGeom prst="straightConnector1">
            <a:avLst/>
          </a:prstGeom>
          <a:noFill/>
          <a:ln cap="flat" cmpd="sng" w="28575">
            <a:solidFill>
              <a:srgbClr val="0077FF"/>
            </a:solidFill>
            <a:prstDash val="solid"/>
            <a:miter lim="8000"/>
            <a:headEnd len="sm" w="sm" type="none"/>
            <a:tailEnd len="med" w="med" type="stealth"/>
          </a:ln>
        </p:spPr>
      </p:cxnSp>
      <p:graphicFrame>
        <p:nvGraphicFramePr>
          <p:cNvPr id="870" name="Table 869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871" name="Rectangle 870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TextBox 871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21/29; строки источника 142–148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9" name="Google Shape;459;p2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148–154 из 201</a:t>
            </a:r>
          </a:p>
        </p:txBody>
      </p:sp>
      <p:graphicFrame>
        <p:nvGraphicFramePr>
          <p:cNvPr id="460" name="Table 459"/>
          <p:cNvGraphicFramePr>
            <a:graphicFrameLocks noGrp="1"/>
          </p:cNvGraphicFramePr>
          <p:nvPr/>
        </p:nvGraphicFramePr>
        <p:xfrm>
          <a:off x="427939" y="1729423"/>
          <a:ext cx="10003661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1830"/>
                <a:gridCol w="500183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REF-149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149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461" name="Rectangle 460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TextBox 461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22/29; строки источника 149–155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02" name="Google Shape;702;p32"/>
          <p:cNvSpPr/>
          <p:nvPr/>
        </p:nvSpPr>
        <p:spPr>
          <a:xfrm>
            <a:off x="431328" y="1243208"/>
            <a:ext cx="9699808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>
                <a:solidFill>
                  <a:srgbClr val="CAD0D5"/>
                </a:solidFill>
                <a:latin typeface="Play"/>
                <a:ea typeface="Play"/>
                <a:cs typeface="Play"/>
                <a:sym typeface="Play"/>
              </a:rPr>
              <a:t xml:space="preserve">Справочная таблица: строки 155–161 из 201; страница 23 из 29.</a:t>
            </a:r>
          </a:p>
        </p:txBody>
      </p:sp>
      <p:sp>
        <p:nvSpPr>
          <p:cNvPr id="703" name="Google Shape;703;p3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2000"/>
              <a:t xml:space="preserve">Приложение · Справочник · строки 155–161 из 201</a:t>
            </a:r>
          </a:p>
        </p:txBody>
      </p:sp>
      <p:graphicFrame>
        <p:nvGraphicFramePr>
          <p:cNvPr id="704" name="Table 703"/>
          <p:cNvGraphicFramePr>
            <a:graphicFrameLocks noGrp="1"/>
          </p:cNvGraphicFramePr>
          <p:nvPr/>
        </p:nvGraphicFramePr>
        <p:xfrm>
          <a:off x="427939" y="1887449"/>
          <a:ext cx="10003661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1830"/>
                <a:gridCol w="500183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REF-159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159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705" name="Rectangle 704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TextBox 705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23/29; строки источника 156–162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39" name="Google Shape;839;p42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162–168 из 201</a:t>
            </a:r>
          </a:p>
        </p:txBody>
      </p:sp>
      <p:cxnSp>
        <p:nvCxnSpPr>
          <p:cNvPr id="844" name="Google Shape;844;p42"/>
          <p:cNvCxnSpPr/>
          <p:nvPr/>
        </p:nvCxnSpPr>
        <p:spPr>
          <a:xfrm>
            <a:off x="0" y="3401671"/>
            <a:ext cx="12192000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  <p:graphicFrame>
        <p:nvGraphicFramePr>
          <p:cNvPr id="845" name="Table 844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846" name="Rectangle 84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TextBox 84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24/29; строки источника 163–169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74" name="Google Shape;474;p23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169–175 из 201</a:t>
            </a:r>
          </a:p>
        </p:txBody>
      </p:sp>
      <p:graphicFrame>
        <p:nvGraphicFramePr>
          <p:cNvPr id="475" name="Table 474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REF-169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169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172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476" name="Rectangle 47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TextBox 47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25/29; строки источника 170–176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10" name="Google Shape;510;p25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176–182 из 201</a:t>
            </a:r>
          </a:p>
        </p:txBody>
      </p:sp>
      <p:graphicFrame>
        <p:nvGraphicFramePr>
          <p:cNvPr id="541" name="Table 540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177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178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REF-179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179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542" name="Rectangle 541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TextBox 542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26/29; строки источника 177–183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65" name="Google Shape;565;p2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183–189 из 201</a:t>
            </a:r>
          </a:p>
        </p:txBody>
      </p:sp>
      <p:graphicFrame>
        <p:nvGraphicFramePr>
          <p:cNvPr id="566" name="Table 565"/>
          <p:cNvGraphicFramePr>
            <a:graphicFrameLocks noGrp="1"/>
          </p:cNvGraphicFramePr>
          <p:nvPr/>
        </p:nvGraphicFramePr>
        <p:xfrm>
          <a:off x="427939" y="1729423"/>
          <a:ext cx="10003661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01830"/>
                <a:gridCol w="500183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183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REF-184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184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185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REF-186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186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REF-189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189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567" name="Rectangle 566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TextBox 567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27/29; строки источника 184–190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13" name="Google Shape;613;p28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190–196 из 201</a:t>
            </a:r>
          </a:p>
        </p:txBody>
      </p:sp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640" name="Table 639"/>
          <p:cNvGraphicFramePr>
            <a:graphicFrameLocks noGrp="1"/>
          </p:cNvGraphicFramePr>
          <p:nvPr/>
        </p:nvGraphicFramePr>
        <p:xfrm>
          <a:off x="427939" y="1729423"/>
          <a:ext cx="11334902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190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REF-191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191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192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REF-193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193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194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REF-195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195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196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41" name="Rectangle 640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TextBox 641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28/29; строки источника 191–197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Google Shape;680;p31"/>
          <p:cNvSpPr txBox="1"/>
          <p:nvPr>
            <p:ph type="title"/>
          </p:nvPr>
        </p:nvSpPr>
        <p:spPr>
          <a:xfrm>
            <a:off x="427864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</a:pPr>
            <a:r>
              <a:rPr lang="ru-RU" sz="3600"/>
              <a:t xml:space="preserve">Приложение · Справочник · строки 197–201 из 201</a:t>
            </a:r>
          </a:p>
        </p:txBody>
      </p:sp>
      <p:sp>
        <p:nvSpPr>
          <p:cNvPr id="684" name="Google Shape;684;p31"/>
          <p:cNvSpPr/>
          <p:nvPr/>
        </p:nvSpPr>
        <p:spPr>
          <a:xfrm>
            <a:off x="423103" y="5533764"/>
            <a:ext cx="6565676" cy="395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rPr>
              <a:t xml:space="preserve">Справочная таблица: строки 197–201 из 201; страница 29 из 29.</a:t>
            </a:r>
          </a:p>
        </p:txBody>
      </p:sp>
      <p:graphicFrame>
        <p:nvGraphicFramePr>
          <p:cNvPr id="685" name="Table 684"/>
          <p:cNvGraphicFramePr>
            <a:graphicFrameLocks noGrp="1"/>
          </p:cNvGraphicFramePr>
          <p:nvPr/>
        </p:nvGraphicFramePr>
        <p:xfrm>
          <a:off x="427939" y="1729423"/>
          <a:ext cx="1133490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451"/>
                <a:gridCol w="5667451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reference_id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label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197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REF-198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198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REF-199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199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REF-200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200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REF-201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Reference item 201</a:t>
                      </a:r>
                    </a:p>
                  </a:txBody>
                  <a:tcPr>
                    <a:solidFill>
                      <a:srgbClr val="212121"/>
                    </a:solidFill>
                  </a:tcPr>
                </a:tc>
              </a:tr>
            </a:tbl>
          </a:graphicData>
        </a:graphic>
      </p:graphicFrame>
      <p:sp>
        <p:nvSpPr>
          <p:cNvPr id="686" name="Rectangle 685"/>
          <p:cNvSpPr/>
          <p:nvPr/>
        </p:nvSpPr>
        <p:spPr>
          <a:xfrm>
            <a:off x="0" y="6240780"/>
            <a:ext cx="12192000" cy="61722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TextBox 686"/>
          <p:cNvSpPr txBox="1"/>
          <p:nvPr/>
        </p:nvSpPr>
        <p:spPr>
          <a:xfrm>
            <a:off x="487680" y="6343650"/>
            <a:ext cx="1121664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Play"/>
              </a:rPr>
              <a:t>Источник: reference_201.csv · 201 исходных строк</a:t>
            </a:r>
          </a:p>
          <a:p>
            <a:r>
              <a:rPr sz="800" b="0">
                <a:solidFill>
                  <a:srgbClr val="FFFFFF"/>
                </a:solidFill>
                <a:latin typeface="Play"/>
              </a:rPr>
              <a:t>Охват: страница 29/29; строки источника 198–202 из 201; пропуски показаны как в источнике.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