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leads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leads</c:v>
                </c:pt>
              </c:strCache>
            </c:strRef>
          </c:tx>
          <c:spPr>
            <a:solidFill>
              <a:srgbClr val="FFFFFF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actual leads · target leads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00D3E6"/>
              </a:solidFill>
            </c:spPr>
          </c:dPt>
          <c:cat>
            <c:strRef>
              <c:f>Sheet1!$A$2:$A$4</c:f>
              <c:strCache>
                <c:ptCount val="3"/>
                <c:pt idx="0">
                  <c:v>Resolved</c:v>
                </c:pt>
                <c:pt idx="1">
                  <c:v>Pending</c:v>
                </c:pt>
                <c:pt idx="2">
                  <c:v>Escalated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Requests,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покажем, как работает процесс анализа данных и подготовки слайдов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подчеркнуть, что мы работаем с учебным материалом, чтобы избежать неверных выводов о реальных бизнес-процессах.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Четкое разделение этих двух категорий помогает избежать смешения фактов с субъективными оценками.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готовы обсудить, какие решения нужны и каковы следующие шаги в работе с аналитикой.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3.xml"/><Relationship Id="rId8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350"/>
              <a:t xml:space="preserve">Прототип превращает синтетические учебные данные в структурированные выводы, четко разделяя наблюдения и интерпретации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actual leads: максимум 240 — «Search»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category_comparison.csv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tickets: «Resolved» — 62.00% показанной суммы</a:t>
            </a:r>
          </a:p>
        </p:txBody>
      </p:sp>
      <p:graphicFrame>
        <p:nvGraphicFramePr>
          <p:cNvPr id="686" name="Chart 685"/>
          <p:cNvGraphicFramePr>
            <a:graphicFrameLocks noGrp="1"/>
          </p:cNvGraphicFramePr>
          <p:nvPr/>
        </p:nvGraphicFramePr>
        <p:xfrm>
          <a:off x="285293" y="1110022"/>
          <a:ext cx="8382412" cy="34676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category_shares.json · 3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Распределение Значение: от 18 до 95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distribution.csv · 25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Requests: максимум 120 — «North»</a:t>
            </a:r>
          </a:p>
        </p:txBody>
      </p:sp>
      <p:graphicFrame>
        <p:nvGraphicFramePr>
          <p:cNvPr id="769" name="Chart 768"/>
          <p:cNvGraphicFramePr>
            <a:graphicFrameLocks noGrp="1"/>
          </p:cNvGraphicFramePr>
          <p:nvPr/>
        </p:nvGraphicFramePr>
        <p:xfrm>
          <a:off x="285293" y="1110022"/>
          <a:ext cx="8382412" cy="34676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embedded_table.md · # Regional service snapshot · Source: synthetic test data. Units: requests and resolved requests, counts for Apr…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Справочник · строки 1–4 из 4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/>
                <a:gridCol w="2143125"/>
                <a:gridCol w="2143125"/>
                <a:gridCol w="2143125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period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actual_units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planned_units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note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Week 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observed zero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Week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actual missing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Week 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planned missing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Week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actual zero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missing_zero.csv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1/1; строки источника 2–5 из 4;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201 строк справочника сохранены в приложении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855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2255" name="Rectangle 225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TextBox 225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Всего 201 строк; полный постраничный показ — в приложении.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Выручка: +36000 USD между 2026-01 и 2026-06 (+30.00%)</a:t>
            </a:r>
          </a:p>
        </p:txBody>
      </p:sp>
      <p:graphicFrame>
        <p:nvGraphicFramePr>
          <p:cNvPr id="873" name="Chart 872"/>
          <p:cNvGraphicFramePr>
            <a:graphicFrameLocks noGrp="1"/>
          </p:cNvGraphicFramePr>
          <p:nvPr/>
        </p:nvGraphicFramePr>
        <p:xfrm>
          <a:off x="285293" y="1139190"/>
          <a:ext cx="8382412" cy="34385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time_series.xlsx · лист «Monthly revenue» · 6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Все примеры в презентации используют учебные данные, что исключает возможность их интерпретации как реальных рыночных результатов.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Учебный характер данных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Отсутствие реальных компаний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Сохранение контекста источника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Google Shape;429;p4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250"/>
              <a:t xml:space="preserve">Разделение фактов и выводов позволяет аудитории самостоятельно оценивать обоснованность интерпретаций</a:t>
            </a:r>
          </a:p>
        </p:txBody>
      </p:sp>
      <p:sp>
        <p:nvSpPr>
          <p:cNvPr id="430" name="Google Shape;430;p45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Наблюдения: фактические цифры и события из таблицы «Пакет данных»</a:t>
            </a:r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900"/>
              <a:t xml:space="preserve">Интерпретации: выводы и значения итогов для принятия решений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250"/>
              <a:t xml:space="preserve">Аудитория оценивает прототип и определяет необходимые решения на основе представленных итогов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1–7 из 201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1/29; строки источника 2–8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8–14 из 201</a:t>
            </a:r>
          </a:p>
        </p:txBody>
      </p:sp>
      <p:graphicFrame>
        <p:nvGraphicFramePr>
          <p:cNvPr id="1051" name="Table 1050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009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052" name="Rectangle 1051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2/29; строки источника 9–15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15–21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3/29; строки источника 16–22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22–28 из 201</a:t>
            </a:r>
          </a:p>
        </p:txBody>
      </p:sp>
      <p:graphicFrame>
        <p:nvGraphicFramePr>
          <p:cNvPr id="1110" name="Table 1109"/>
          <p:cNvGraphicFramePr>
            <a:graphicFrameLocks noGrp="1"/>
          </p:cNvGraphicFramePr>
          <p:nvPr/>
        </p:nvGraphicFramePr>
        <p:xfrm>
          <a:off x="285293" y="1139190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111" name="Rectangle 111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4/29; строки источника 23–29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29–35 из 201</a:t>
            </a:r>
          </a:p>
        </p:txBody>
      </p:sp>
      <p:graphicFrame>
        <p:nvGraphicFramePr>
          <p:cNvPr id="686" name="Table 685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5/29; строки источника 30–36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36–42 из 201</a:t>
            </a:r>
          </a:p>
        </p:txBody>
      </p:sp>
      <p:graphicFrame>
        <p:nvGraphicFramePr>
          <p:cNvPr id="769" name="Table 768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039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6/29; строки источника 37–43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43–49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049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7/29; строки источника 44–50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50–56 из 201</a:t>
            </a:r>
          </a:p>
        </p:txBody>
      </p:sp>
      <p:graphicFrame>
        <p:nvGraphicFramePr>
          <p:cNvPr id="873" name="Table 872"/>
          <p:cNvGraphicFramePr>
            <a:graphicFrameLocks noGrp="1"/>
          </p:cNvGraphicFramePr>
          <p:nvPr/>
        </p:nvGraphicFramePr>
        <p:xfrm>
          <a:off x="285293" y="1139190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8/29; строки источника 51–57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57–63 из 201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9/29; строки источника 58–64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64–70 из 201</a:t>
            </a:r>
          </a:p>
        </p:txBody>
      </p:sp>
      <p:graphicFrame>
        <p:nvGraphicFramePr>
          <p:cNvPr id="1051" name="Table 1050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069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052" name="Rectangle 1051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10/29; строки источника 65–71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71–77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11/29; строки источника 72–78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Приложение · Справочник · строки 78–84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079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12/29; строки источника 79–85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85–91 из 201</a:t>
            </a:r>
          </a:p>
        </p:txBody>
      </p:sp>
      <p:graphicFrame>
        <p:nvGraphicFramePr>
          <p:cNvPr id="1110" name="Table 1109"/>
          <p:cNvGraphicFramePr>
            <a:graphicFrameLocks noGrp="1"/>
          </p:cNvGraphicFramePr>
          <p:nvPr/>
        </p:nvGraphicFramePr>
        <p:xfrm>
          <a:off x="285293" y="1139190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111" name="Rectangle 111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13/29; строки источника 86–92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92–98 из 201</a:t>
            </a:r>
          </a:p>
        </p:txBody>
      </p:sp>
      <p:graphicFrame>
        <p:nvGraphicFramePr>
          <p:cNvPr id="686" name="Table 685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14/29; строки источника 93–99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99–105 из 201</a:t>
            </a:r>
          </a:p>
        </p:txBody>
      </p:sp>
      <p:graphicFrame>
        <p:nvGraphicFramePr>
          <p:cNvPr id="769" name="Table 768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099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15/29; строки источника 100–106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106–112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109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16/29; строки источника 107–113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113–119 из 201</a:t>
            </a:r>
          </a:p>
        </p:txBody>
      </p:sp>
      <p:graphicFrame>
        <p:nvGraphicFramePr>
          <p:cNvPr id="873" name="Table 872"/>
          <p:cNvGraphicFramePr>
            <a:graphicFrameLocks noGrp="1"/>
          </p:cNvGraphicFramePr>
          <p:nvPr/>
        </p:nvGraphicFramePr>
        <p:xfrm>
          <a:off x="285293" y="1139190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17/29; строки источника 114–120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120–126 из 201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18/29; строки источника 121–127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127–133 из 201</a:t>
            </a:r>
          </a:p>
        </p:txBody>
      </p:sp>
      <p:graphicFrame>
        <p:nvGraphicFramePr>
          <p:cNvPr id="1051" name="Table 1050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052" name="Rectangle 1051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19/29; строки источника 128–134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134–140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139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20/29; строки источника 135–141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Приложение · Справочник · строки 141–147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21/29; строки источника 142–148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148–154 из 201</a:t>
            </a:r>
          </a:p>
        </p:txBody>
      </p:sp>
      <p:graphicFrame>
        <p:nvGraphicFramePr>
          <p:cNvPr id="1110" name="Table 1109"/>
          <p:cNvGraphicFramePr>
            <a:graphicFrameLocks noGrp="1"/>
          </p:cNvGraphicFramePr>
          <p:nvPr/>
        </p:nvGraphicFramePr>
        <p:xfrm>
          <a:off x="285293" y="1139190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149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111" name="Rectangle 111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22/29; строки источника 149–155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155–161 из 201</a:t>
            </a:r>
          </a:p>
        </p:txBody>
      </p:sp>
      <p:graphicFrame>
        <p:nvGraphicFramePr>
          <p:cNvPr id="2252" name="Table 2251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253" name="Rectangle 2252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TextBox 2253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23/29; строки источника 156–162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162–168 из 201</a:t>
            </a:r>
          </a:p>
        </p:txBody>
      </p:sp>
      <p:graphicFrame>
        <p:nvGraphicFramePr>
          <p:cNvPr id="686" name="Table 685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24/29; строки источника 163–169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169–175 из 201</a:t>
            </a:r>
          </a:p>
        </p:txBody>
      </p:sp>
      <p:graphicFrame>
        <p:nvGraphicFramePr>
          <p:cNvPr id="769" name="Table 768"/>
          <p:cNvGraphicFramePr>
            <a:graphicFrameLocks noGrp="1"/>
          </p:cNvGraphicFramePr>
          <p:nvPr/>
        </p:nvGraphicFramePr>
        <p:xfrm>
          <a:off x="285293" y="1110022"/>
          <a:ext cx="838241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206"/>
                <a:gridCol w="4191206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169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25/29; строки источника 170–176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176–182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179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26/29; строки источника 177–183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183–189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27/29; строки источника 184–190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190–196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28/29; строки источника 191–197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197–201 из 201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199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200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Reference item 201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29/29; строки источника 198–202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