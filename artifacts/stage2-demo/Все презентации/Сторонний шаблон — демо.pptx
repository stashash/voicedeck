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leads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leads</c:v>
                </c:pt>
              </c:strCache>
            </c:strRef>
          </c:tx>
          <c:spPr>
            <a:solidFill>
              <a:srgbClr val="14B8A6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actual leads · target leads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713CDA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EEF2F7"/>
              </a:solidFill>
            </c:spPr>
          </c:dPt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Pending</c:v>
                </c:pt>
                <c:pt idx="2">
                  <c:v>Escalated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Requests,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713CDA"/>
            </a:solidFill>
            <a:ln>
              <a:solidFill>
                <a:srgbClr val="713CD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пожаловать. Сегодня мы обсудим итоги учебного пилота и примем решения о следующих шагах.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 USD;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Подчеркнём, что данные синтетические и предназначены для учебного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Обратим внимание, что без решений пилот не приведёт к практическим результатам.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Призыв к действию: давайте обсудим и зафиксируем следующие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1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11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Итоги учебного пилота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62032"/>
                </a:solidFill>
                <a:latin typeface="Play"/>
              </a:rPr>
              <a:t>Обсуждение результатов и определение дальнейших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Итоги учебного пилота. Все значения синтетические.</a:t>
            </a:r>
          </a:p>
        </p:txBody>
      </p:sp>
      <p:pic>
        <p:nvPicPr>
          <p:cNvPr id="6" name="Picture 5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actual leads: максимум 240 — «Search»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Среди 4 полных наблюдений по полю «actual_leads» максимальное значение 240: «Search».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tickets: «Resolved» — 62.00% показанной суммы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Максимальная доля: «Resolved», 620 из 1000 (62.00%, округлено до 2 знаков). Доли относятся только к показанным строкам. Структура показанной суммы: «Resolved»: 62.00%; «Pending»: 25.00%; «Escalated»: 13.00%.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 · 3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Распределение Значение: от 18 до 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25 полных наблюдений Значение: минимум 18, максимум 95; все наблюдения, включая выбросы, сохранены.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 · 25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Requests: максимум 120 — «North»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Среди 3 полных наблюдений по полю «Requests» максимальное значение 120: «North».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 · # Regional service snapshot · Source: synthetic test data. Units: requests and resolved requests, counts for Apr…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73"/>
                <a:gridCol w="2682173"/>
                <a:gridCol w="2682173"/>
                <a:gridCol w="2682173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period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actual_units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planned_units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note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observed zero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missing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planned missing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zero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Справочник · строки 1–4 из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1–4 из 4; страница 1 из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1/1; строки источника 2–5 из 4;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201 строк справочника сохранены в приложении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64592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201  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Всего 201 строк; полный постраничный показ — в приложении.</a:t>
            </a:r>
          </a:p>
        </p:txBody>
      </p:sp>
      <p:pic>
        <p:nvPicPr>
          <p:cNvPr id="6" name="Picture 5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Выручка: +36000 USD между 2026-01 и 2026-06 (+30.00%)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Выручка: от 120000 USD (2026-01) до 156000 USD (2026-06); изменение между крайними наблюдениями +36000 USD. Промежуточные значения могут колебаться. Относительно первого наблюдения: +30.00% (округлено до 2 знаков).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Пилот завершён, данные готовы к анализу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64592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Завершение пилота — Учебный пилот завершён, все данные собраны.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253746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Синтетические данные — Все значения являются синтетическими, как указано в брифе.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342900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Готовность к анализу — Данные готовы к обсуждению и интерпретации.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Все значения синтетические.</a:t>
            </a:r>
          </a:p>
        </p:txBody>
      </p:sp>
      <p:pic>
        <p:nvPicPr>
          <p:cNvPr id="8" name="Picture 7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Решения нужны для продолжения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64592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Необходимость решений — Требуется принять решения на основе итогов пилота.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253746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Следующие шаги — Следующие шаги зависят от принятых решений.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3429000"/>
            <a:ext cx="9753356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62032"/>
                </a:solidFill>
                <a:latin typeface="Play"/>
              </a:rPr>
              <a:t>Ответственность аудитории — Аудитория должна определить приоритеты дальнейшей работы.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какие решения нужны и следующие шаги.</a:t>
            </a:r>
          </a:p>
        </p:txBody>
      </p:sp>
      <p:pic>
        <p:nvPicPr>
          <p:cNvPr id="8" name="Picture 7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Примем решения о следующих шагах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62032"/>
                </a:solidFill>
                <a:latin typeface="Play"/>
              </a:rPr>
              <a:t>Обсудим и зафиксируем приоритеты для продолжения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какие решения нужны и следующие шаги.</a:t>
            </a:r>
          </a:p>
        </p:txBody>
      </p:sp>
      <p:pic>
        <p:nvPicPr>
          <p:cNvPr id="6" name="Picture 5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1–7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1–7 из 201; страница 1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1/29; строки источника 2–8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8–14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8–14 из 201; страница 2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2/29; строки источника 9–15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15–21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15–21 из 201; страница 3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3/29; строки источника 16–22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22–28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22–28 из 201; страница 4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4/29; строки источника 23–29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29–35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29–35 из 201; страница 5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5/29; строки источника 30–36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36–42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36–42 из 201; страница 6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6/29; строки источника 37–43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43–49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43–49 из 201; страница 7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7/29; строки источника 44–50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50–56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50–56 из 201; страница 8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8/29; строки источника 51–57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57–63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57–63 из 201; страница 9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9/29; строки источника 58–64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64–70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64–70 из 201; страница 10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10/29; строки источника 65–71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71–77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71–77 из 201; страница 11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11/29; строки источника 72–78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78–84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78–84 из 201; страница 12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12/29; строки источника 79–85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85–91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85–91 из 201; страница 13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13/29; строки источника 86–92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92–98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92–98 из 201; страница 14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14/29; строки источника 93–99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99–105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99–105 из 201; страница 15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15/29; строки источника 100–106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106–112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106–112 из 201; страница 16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16/29; строки источника 107–113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113–119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113–119 из 201; страница 17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17/29; строки источника 114–120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120–126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120–126 из 201; страница 18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18/29; строки источника 121–127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127–133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127–133 из 201; страница 19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19/29; строки источника 128–134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134–140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134–140 из 201; страница 20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20/29; строки источника 135–141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141–147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141–147 из 201; страница 21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21/29; строки источника 142–148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148–154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148–154 из 201; страница 22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22/29; строки источника 149–155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155–161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155–161 из 201; страница 23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23/29; строки источника 156–162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162–168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162–168 из 201; страница 24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24/29; строки источника 163–169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169–175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169–175 из 201; страница 25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25/29; строки источника 170–176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176–182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176–182 из 201; страница 26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26/29; строки источника 177–183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183–189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183–189 из 201; страница 27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27/29; строки источника 184–190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190–196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190–196 из 201; страница 28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28/29; строки источника 191–197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Приложение · Справочник · строки 197–201 из 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62032"/>
                </a:solidFill>
                <a:latin typeface="Play"/>
              </a:rPr>
              <a:t>Справочная таблица: строки 197–201 из 201; страница 29 из 29.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29/29; строки источника 198–202 из 201; пропуски показаны как в источнике.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