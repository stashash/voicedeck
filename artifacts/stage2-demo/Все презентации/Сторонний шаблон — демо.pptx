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17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Лиды (факт)</c:v>
                </c:pt>
              </c:strCache>
            </c:strRef>
          </c:tx>
          <c:spPr>
            <a:solidFill>
              <a:srgbClr val="713CDA"/>
            </a:solidFill>
          </c:spPr>
          <c:cat>
            <c:strRef>
              <c:f>Sheet1!$A$2:$A$5</c:f>
              <c:strCache>
                <c:ptCount val="4"/>
                <c:pt idx="0">
                  <c:v>Поиск</c:v>
                </c:pt>
                <c:pt idx="1">
                  <c:v>Социальные сети</c:v>
                </c:pt>
                <c:pt idx="2">
                  <c:v>Партнёры</c:v>
                </c:pt>
                <c:pt idx="3">
                  <c:v>Электронная почта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240.0</c:v>
                </c:pt>
                <c:pt idx="1">
                  <c:v>150.0</c:v>
                </c:pt>
                <c:pt idx="2">
                  <c:v>180.0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Лиды (цель)</c:v>
                </c:pt>
              </c:strCache>
            </c:strRef>
          </c:tx>
          <c:spPr>
            <a:solidFill>
              <a:srgbClr val="291E3E"/>
            </a:solidFill>
          </c:spPr>
          <c:cat>
            <c:strRef>
              <c:f>Sheet1!$A$2:$A$5</c:f>
              <c:strCache>
                <c:ptCount val="4"/>
                <c:pt idx="0">
                  <c:v>Поиск</c:v>
                </c:pt>
                <c:pt idx="1">
                  <c:v>Социальные сети</c:v>
                </c:pt>
                <c:pt idx="2">
                  <c:v>Партнёры</c:v>
                </c:pt>
                <c:pt idx="3">
                  <c:v>Электронная почта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220.0</c:v>
                </c:pt>
                <c:pt idx="1">
                  <c:v>180.0</c:v>
                </c:pt>
                <c:pt idx="2">
                  <c:v>160.0</c:v>
                </c:pt>
                <c:pt idx="3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Канал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DE3EB"/>
              </a:solidFill>
            </a:ln>
          </c:spPr>
        </c:majorGridlines>
        <c:title>
          <c:tx>
            <c:rich>
              <a:bodyPr/>
              <a:lstStyle/>
              <a:p>
                <a:r>
                  <a:t>Лиды (факт) · Лиды (цель)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Play"/>
            </a:defRPr>
          </a:pPr>
        </a:p>
      </c:txPr>
    </c:legend>
    <c:dispBlanksAs val="gap"/>
  </c:chart>
  <c:txPr>
    <a:bodyPr/>
    <a:lstStyle/>
    <a:p>
      <a:pPr>
        <a:defRPr sz="1200">
          <a:latin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Обращения</c:v>
                </c:pt>
              </c:strCache>
            </c:strRef>
          </c:tx>
          <c:dPt>
            <c:idx val="0"/>
            <c:spPr>
              <a:solidFill>
                <a:srgbClr val="713CDA"/>
              </a:solidFill>
            </c:spPr>
          </c:dPt>
          <c:dPt>
            <c:idx val="1"/>
            <c:spPr>
              <a:solidFill>
                <a:srgbClr val="291E3E"/>
              </a:solidFill>
            </c:spPr>
          </c:dPt>
          <c:dPt>
            <c:idx val="2"/>
            <c:spPr>
              <a:solidFill>
                <a:srgbClr val="9C78E2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>
                      <a:solidFill>
                        <a:srgbClr val="000000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Решено</c:v>
                </c:pt>
                <c:pt idx="1">
                  <c:v>В ожидании</c:v>
                </c:pt>
                <c:pt idx="2">
                  <c:v>На эскалации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620.0</c:v>
                </c:pt>
                <c:pt idx="1">
                  <c:v>250.0</c:v>
                </c:pt>
                <c:pt idx="2">
                  <c:v>130.0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200">
              <a:latin typeface="Play"/>
            </a:defRPr>
          </a:pPr>
        </a:p>
      </c:txPr>
    </c:legend>
    <c:dispBlanksAs val="gap"/>
  </c:chart>
  <c:txPr>
    <a:bodyPr/>
    <a:lstStyle/>
    <a:p>
      <a:pPr>
        <a:defRPr sz="1200">
          <a:latin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наблюдений</c:v>
                </c:pt>
              </c:strCache>
            </c:strRef>
          </c:tx>
          <c:spPr>
            <a:solidFill>
              <a:srgbClr val="713CDA"/>
            </a:solidFill>
          </c:spPr>
          <c:cat>
            <c:strRef>
              <c:f>Sheet1!$A$2:$A$6</c:f>
              <c:strCache>
                <c:ptCount val="5"/>
                <c:pt idx="0">
                  <c:v>[18–33.4)</c:v>
                </c:pt>
                <c:pt idx="1">
                  <c:v>[33.4–48.8)</c:v>
                </c:pt>
                <c:pt idx="2">
                  <c:v>[48.8–64.2)</c:v>
                </c:pt>
                <c:pt idx="3">
                  <c:v>[64.2–79.6)</c:v>
                </c:pt>
                <c:pt idx="4">
                  <c:v>[79.6–95]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Значение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DE3EB"/>
              </a:solidFill>
            </a:ln>
          </c:spPr>
        </c:majorGridlines>
        <c:title>
          <c:tx>
            <c:rich>
              <a:bodyPr/>
              <a:lstStyle/>
              <a:p>
                <a:r>
                  <a:t>Число наблюдений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Play"/>
            </a:defRPr>
          </a:pPr>
        </a:p>
      </c:txPr>
    </c:legend>
    <c:dispBlanksAs val="gap"/>
  </c:chart>
  <c:txPr>
    <a:bodyPr/>
    <a:lstStyle/>
    <a:p>
      <a:pPr>
        <a:defRPr sz="1200">
          <a:latin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713CDA"/>
            </a:solidFill>
          </c:spPr>
          <c:cat>
            <c:strRef>
              <c:f>Sheet1!$A$2:$A$4</c:f>
              <c:strCache>
                <c:ptCount val="3"/>
                <c:pt idx="0">
                  <c:v>Север</c:v>
                </c:pt>
                <c:pt idx="1">
                  <c:v>Центр</c:v>
                </c:pt>
                <c:pt idx="2">
                  <c:v>Юг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120.0</c:v>
                </c:pt>
                <c:pt idx="1">
                  <c:v>95.0</c:v>
                </c:pt>
                <c:pt idx="2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t>Регион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DDE3EB"/>
              </a:solidFill>
            </a:ln>
          </c:spPr>
        </c:majorGridlines>
        <c:title>
          <c:tx>
            <c:rich>
              <a:bodyPr/>
              <a:lstStyle/>
              <a:p>
                <a:r>
                  <a:t>Запросы, шт.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latin typeface="Play"/>
            </a:defRPr>
          </a:pPr>
        </a:p>
      </c:txPr>
    </c:legend>
    <c:dispBlanksAs val="gap"/>
  </c:chart>
  <c:txPr>
    <a:bodyPr/>
    <a:lstStyle/>
    <a:p>
      <a:pPr>
        <a:defRPr sz="1200">
          <a:latin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713CDA"/>
            </a:solidFill>
            <a:ln>
              <a:solidFill>
                <a:srgbClr val="713CDA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2026-01</c:v>
                </c:pt>
                <c:pt idx="1">
                  <c:v>2026-02</c:v>
                </c:pt>
                <c:pt idx="2">
                  <c:v>2026-03</c:v>
                </c:pt>
                <c:pt idx="3">
                  <c:v>2026-04</c:v>
                </c:pt>
                <c:pt idx="4">
                  <c:v>2026-05</c:v>
                </c:pt>
                <c:pt idx="5">
                  <c:v>2026-06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120000.0</c:v>
                </c:pt>
                <c:pt idx="1">
                  <c:v>126000.0</c:v>
                </c:pt>
                <c:pt idx="2">
                  <c:v>123000.0</c:v>
                </c:pt>
                <c:pt idx="3">
                  <c:v>135000.0</c:v>
                </c:pt>
                <c:pt idx="4">
                  <c:v>141000.0</c:v>
                </c:pt>
                <c:pt idx="5">
                  <c:v>156000.0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Период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DE3EB"/>
              </a:solidFill>
            </a:ln>
          </c:spPr>
        </c:majorGridlines>
        <c:title>
          <c:tx>
            <c:rich>
              <a:bodyPr/>
              <a:lstStyle/>
              <a:p>
                <a:r>
                  <a:t>Выручка, USD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200">
              <a:latin typeface="Play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Добро пожаловать. Сегодня мы обсудим итоги учебного пилота и определим следующие шаги.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category_comparison.csv · 4 исходных строк. Расчёт: max(actual_leads) = 240; совпадений максимума: 1; без суммирования категорий. Сопоставление рядов внутри каждой категории; значения не суммировались.. Данные: 0f3664992f7f3ba37fb32ad060f098bdad697af085c9f3c4fd2d9aaf5d20e064; SHA-256: 1b8306279ba7a59d13cf3e1ace73ff0665a4cb9a20cb8159d9fadffa983cad5d.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category_shares.json · 3 исходных строк. Расчёт: 620 / 1000 × 100 = 62.00% (округлено до 2 знаков); знаменатель — сумма показанных значений.. Данные: 46d12a475c2e6a7916a2af73f3d4bde93bab9c14f6e1af9c32eaa269ff4f8034; SHA-256: 958e61881f379dba570806f1f0dbe558403f12b47404963ee94b5ca66175a760.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distribution.csv · 25 исходных строк. Расчёт: min(value) = 18; max(value) = 95; n = 25. Freedman–Diaconis, ограничение читаемости min(8, ceil(sqrt(n))); 5 равных интервалов; подписи границ до 4 значащих цифр, при совпадении — полная точность; сумма частот = 25; n = 25.. Данные: 84b11d9a0857b181fc55a3e3ebc961f5340eb0be37af16fcaf5ce2d32c8b91c7; SHA-256: fb86dcad3232d0f8dc5ab8eecc4c4276fb9303665b827b6d5f365b6f3e4aa793.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embedded_table.md · # Regional service snapshot · Source: synthetic test data. Units: requests and resolved requests, counts for April 2026. · 3 исходных строк. Расчёт: max(Requests) = 120; совпадений максимума: 1; без суммирования категорий.. Данные: 735bdc5cb146877cadeab47f182744b1157e011833283fe3cc40b7f68003efc3; SHA-256: 4bda1b7852b68289daae9a5b85b93818aa2b298f8a185697ed2864d929ba241a.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missing_zero.csv · 4 исходных строк. Расчёт: Постраничный показ исходных строк; 4 строк всего; без агрегации.. Данные: 9f0ba4567b42cf421c1d6ee0bc54b9dcdf61f99f3bb55bea1e86103d08339142; SHA-256: d9939d5f76ca2a726e94d4829a4445559226171c3ffc50b9390a8489591773d0.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Количество строк источника; значения не агрегировались..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time_series.xlsx · лист «Monthly revenue» · 6 исходных строк. Расчёт: revenue_usd: последнее − первое = 156000 − 120000 = +36000 USD; без агрегации. Относительное изменение = (+36000) / 120000 × 100 = +30.00%.. Данные: b721d5d52b33eba845062116b253a2e43014c2db40da3f5b25967306e9b782a4; SHA-256: f182812cd77a6e7ca2d2881c980b5bc070a9c67d5f6f210226bc92a785fed4c0.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с выводами по каждой теме уже готовы. Мы не будем их повторять, а сосредоточимся на их значении для вашего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ваша задача — рассмотреть итоги, оценить их значение для вашего решения и определить конкретные следующие шаги.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Я готов ответить на ваши вопросы и обсудить следующие шаги.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2.xml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1.xml"/><Relationship Id="rId4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4.xml"/><Relationship Id="rId4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5.xml"/><Relationship Id="rId4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6.xml"/><Relationship Id="rId4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7.xml"/><Relationship Id="rId4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8.xml"/><Relationship Id="rId4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9.xml"/><Relationship Id="rId4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0.xml"/><Relationship Id="rId4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1.xml"/><Relationship Id="rId4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2.xml"/><Relationship Id="rId4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3.xml"/><Relationship Id="rId4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4.xml"/><Relationship Id="rId4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5.xml"/><Relationship Id="rId4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6.xml"/><Relationship Id="rId4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7.xml"/><Relationship Id="rId4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8.xml"/><Relationship Id="rId4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39.xml"/><Relationship Id="rId4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0.xml"/><Relationship Id="rId4" Type="http://schemas.openxmlformats.org/officeDocument/2006/relationships/image" Target="../media/image11.png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Итоги учебного пилота: от наблюдений к решениям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62032"/>
                </a:solidFill>
                <a:latin typeface="Play"/>
              </a:rPr>
              <a:t>Мы собрались, чтобы обсудить результаты учебного пилота и определить следующие шаги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Бриф: Итоги учебного пилота. Все значения синтетические.</a:t>
            </a:r>
          </a:p>
        </p:txBody>
      </p:sp>
      <p:pic>
        <p:nvPicPr>
          <p:cNvPr id="6" name="Picture 5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731502" y="2057400"/>
          <a:ext cx="10728692" cy="3977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Лиды (факт): максимум 240 — «Поиск»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Среди 4 полных наблюдений по полю «Лиды (факт)» максимальное значение 240: «Поиск».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category_comparison.csv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731502" y="2057400"/>
          <a:ext cx="10728692" cy="3977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Обращения: «Решено» — 62.00% показанной суммы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Максимальная доля: «Решено», 620 из 1000 (62.00%, округлено до 2 знаков). Доли относятся только к показанным строкам. Структура показанной суммы: «Решено»: 62.00%; «В ожидании»: 25.00%; «На эскалации»: 13.00%.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category_shares.json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731502" y="2057400"/>
          <a:ext cx="10728692" cy="3977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Распределение Значение: от 18 до 95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25 полных наблюдений Значение: минимум 18, максимум 95; все наблюдения, включая выбросы, сохранены.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distribution.csv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25 из 25 строк; исключено: 0.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731502" y="2057400"/>
          <a:ext cx="10728692" cy="3977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Запросы: максимум 120 — «Север»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Среди 3 полных наблюдений по полю «Запросы» максимальное значение 120: «Север».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embedded_table.md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73"/>
                <a:gridCol w="2682173"/>
                <a:gridCol w="2682173"/>
                <a:gridCol w="2682173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Период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Количество (факт)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Количество (план)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Примечание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Наблюдаемое нулевое значение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/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Факт отсутствует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/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План отсутствует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Фактическое значение равно нулю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Справочник · строки 1–4 из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1–4 из 4; страница 1 из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missing_zero.csv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 Страница 1/1.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201 строк справочника сохранены в приложении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169" y="1645920"/>
            <a:ext cx="9753356" cy="802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62032"/>
                </a:solidFill>
                <a:latin typeface="Play"/>
              </a:rPr>
              <a:t>201  Полный справочник: 29 страниц в приложении после основных выводов; исходные значения сохранены.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Показано: 0.</a:t>
            </a:r>
          </a:p>
        </p:txBody>
      </p:sp>
      <p:pic>
        <p:nvPicPr>
          <p:cNvPr id="6" name="Picture 5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731502" y="2057400"/>
          <a:ext cx="10728692" cy="3977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Выручка: +36000 USD между 2026-01 и 2026-06 (+30.00%)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Выручка: от 120000 USD (2026-01) до 156000 USD (2026-06); изменение между крайними наблюдениями +36000 USD. Промежуточные значения могут колебаться. Относительно первого наблюдения: +30.00% (округлено до 2 знаков).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time_series.xlsx · лист «Monthly revenue»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6 из 6 строк; исключено: 0.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Данные пилота готовы к анализу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169" y="1645920"/>
            <a:ext cx="9753356" cy="802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62032"/>
                </a:solidFill>
                <a:latin typeface="Play"/>
              </a:rPr>
              <a:t>Готовые слайды — По каждой теме из таблицы «Пакет данных» уже есть слайды с выводами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2537460"/>
            <a:ext cx="9753356" cy="802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62032"/>
                </a:solidFill>
                <a:latin typeface="Play"/>
              </a:rPr>
              <a:t>Отдельные темы — Каждая метрика представлена на отдельном слайде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3429000"/>
            <a:ext cx="9753356" cy="802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62032"/>
                </a:solidFill>
                <a:latin typeface="Play"/>
              </a:rPr>
              <a:t>Синтетические данные — Все значения в пилоте являются синтетическими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Бриф: Слайды с выводами из таблицы «Пакет данных» уже готовы, по одному на тему.</a:t>
            </a:r>
          </a:p>
        </p:txBody>
      </p:sp>
      <p:pic>
        <p:nvPicPr>
          <p:cNvPr id="8" name="Picture 7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Следующие шаги: от наблюдений к решениям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169" y="1645920"/>
            <a:ext cx="9753356" cy="802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62032"/>
                </a:solidFill>
                <a:latin typeface="Play"/>
              </a:rPr>
              <a:t>Рассмотреть итоги — Изучите готовые слайды с выводами по каждой теме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9169" y="2537460"/>
            <a:ext cx="9753356" cy="802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62032"/>
                </a:solidFill>
                <a:latin typeface="Play"/>
              </a:rPr>
              <a:t>Оценить значение — Определите, что эти итоги значат для вашего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169" y="3429000"/>
            <a:ext cx="9753356" cy="802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62032"/>
                </a:solidFill>
                <a:latin typeface="Play"/>
              </a:rPr>
              <a:t>Принять решения — Определите, какие решения нужны на основе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169" y="4320540"/>
            <a:ext cx="9753356" cy="802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62032"/>
                </a:solidFill>
                <a:latin typeface="Play"/>
              </a:rPr>
              <a:t>Следующие шаги — Зафиксируйте конкретные действия и сроки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Бриф: что эти итоги значат для решения аудитории, какие решения нужны и следующие шаги.</a:t>
            </a:r>
          </a:p>
        </p:txBody>
      </p:sp>
      <p:pic>
        <p:nvPicPr>
          <p:cNvPr id="9" name="Picture 8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Готовы к обсуждению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9169" y="1920240"/>
            <a:ext cx="97533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62032"/>
                </a:solidFill>
                <a:latin typeface="Play"/>
              </a:rPr>
              <a:t>Пожалуйста, задайте вопросы по готовым слайдам и предложите следующие шаги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Бриф: какие решения нужны и следующие шаги.</a:t>
            </a:r>
          </a:p>
        </p:txBody>
      </p:sp>
      <p:pic>
        <p:nvPicPr>
          <p:cNvPr id="6" name="Picture 5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1–7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1–7 из 201; страница 1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8–14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8–14 из 201; страница 2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15–21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15–21 из 201; страница 3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3/29.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22–28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22–28 из 201; страница 4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4/29.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29–35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29–35 из 201; страница 5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5/29.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36–42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36–42 из 201; страница 6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6/29.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43–49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43–49 из 201; страница 7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7/29.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50–56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50–56 из 201; страница 8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8/29.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57–63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57–63 из 201; страница 9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9/29.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64–70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64–70 из 201; страница 10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10/29.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71–77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71–77 из 201; страница 11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11/29.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78–84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78–84 из 201; страница 12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12/29.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85–91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85–91 из 201; страница 13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13/29.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92–98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92–98 из 201; страница 14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14/29.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99–105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99–105 из 201; страница 15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15/29.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106–112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106–112 из 201; страница 16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16/29.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113–119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113–119 из 201; страница 17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17/29.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120–126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120–126 из 201; страница 18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18/29.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127–133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127–133 из 201; страница 19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19/29.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134–140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134–140 из 201; страница 20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20/29.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141–147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141–147 из 201; страница 21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21/29.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148–154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148–154 из 201; страница 22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22/29.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155–161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155–161 из 201; страница 23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23/29.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162–168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162–168 из 201; страница 24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24/29.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169–175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169–175 из 201; страница 25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25/29.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178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176–182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176–182 из 201; страница 26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26/29.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183–189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183–189 из 201; страница 27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27/29.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190–196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190–196 из 201; страница 28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28/29. Показано: 7.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31502" y="2057400"/>
          <a:ext cx="1072869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64346"/>
                <a:gridCol w="53643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713CD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197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199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200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REF-201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201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731501" y="411480"/>
            <a:ext cx="9570481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62032"/>
                </a:solidFill>
                <a:latin typeface="Play"/>
              </a:rPr>
              <a:t>Приложение · Справочник · строки 197–201 из 201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01" y="1405890"/>
            <a:ext cx="10728691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62032"/>
                </a:solidFill>
                <a:latin typeface="Play"/>
              </a:rPr>
              <a:t>Справочная таблица: строки 197–201 из 201; страница 29 из 29.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40780"/>
            <a:ext cx="12191695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7667" y="6343650"/>
            <a:ext cx="1121635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29/29. Показано: 5.</a:t>
            </a:r>
          </a:p>
        </p:txBody>
      </p:sp>
      <p:pic>
        <p:nvPicPr>
          <p:cNvPr id="7" name="Picture 6" descr="loca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4857" y="293373"/>
            <a:ext cx="1219169" cy="3047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