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Инциденты в месяц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Sheet1!$A$2:$A$3</c:f>
              <c:strCache>
                <c:ptCount val="2"/>
                <c:pt idx="0">
                  <c:v>До перехода</c:v>
                </c:pt>
                <c:pt idx="1">
                  <c:v>После перехода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9.0</c:v>
                </c:pt>
                <c:pt idx="1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шт.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Доброе утро. Сегодня мы обсуждаем инициативу по оптимизации отчётности, которая позволит бизнесу принимать решения на 2.5 часа раньше.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Главная выгода для бизнеса — данные становятся доступными к 8:30, а не к 11:00.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Графика показывает резкое снижение количества сбоев в доставке отчётов.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Пилотный проект был завершён за 6 недель, что подтверждает реалистичность сроков.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Стоимость перехода на потоковую модель увеличилась на 12%, что является приемлемым уровнем.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Прямое сравнение двух подходов демонстрирует преимущества новой модели по времени и надёжности.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Эти три ключевых результата доказывают эффективность инициативы.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предлагаем поэтапную миграцию для снижения рисков.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Сводная таблица для быстрого сравнения показателей.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Прошу ваше решение о запуске полного перехода до конца квартала.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7.png"/><Relationship Id="rId3" Type="http://schemas.openxmlformats.org/officeDocument/2006/relationships/image" Target="../media/image228.png"/><Relationship Id="rId4" Type="http://schemas.openxmlformats.org/officeDocument/2006/relationships/image" Target="../media/image229.png"/><Relationship Id="rId5" Type="http://schemas.openxmlformats.org/officeDocument/2006/relationships/image" Target="../media/image230.png"/><Relationship Id="rId6" Type="http://schemas.openxmlformats.org/officeDocument/2006/relationships/image" Target="../media/image231.png"/><Relationship Id="rId7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8" Type="http://schemas.openxmlformats.org/officeDocument/2006/relationships/image" Target="../media/image258.png"/><Relationship Id="rId9" Type="http://schemas.openxmlformats.org/officeDocument/2006/relationships/image" Target="../media/image259.png"/><Relationship Id="rId10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3" Type="http://schemas.openxmlformats.org/officeDocument/2006/relationships/image" Target="../media/image237.png"/><Relationship Id="rId4" Type="http://schemas.openxmlformats.org/officeDocument/2006/relationships/image" Target="../media/image229.png"/><Relationship Id="rId5" Type="http://schemas.openxmlformats.org/officeDocument/2006/relationships/image" Target="../media/image238.png"/><Relationship Id="rId6" Type="http://schemas.openxmlformats.org/officeDocument/2006/relationships/image" Target="../media/image260.png"/><Relationship Id="rId7" Type="http://schemas.openxmlformats.org/officeDocument/2006/relationships/image" Target="../media/image261.png"/><Relationship Id="rId8" Type="http://schemas.openxmlformats.org/officeDocument/2006/relationships/image" Target="../media/image262.png"/><Relationship Id="rId9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57.png"/><Relationship Id="rId3" Type="http://schemas.openxmlformats.org/officeDocument/2006/relationships/notesSlide" Target="../notesSlides/notesSlide65.xml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sz="1400"/>
              <a:t xml:space="preserve">Предлагаем перевести все витрины на потоковую модель для получения данных к 8:30 утра.</a:t>
            </a:r>
          </a:p>
        </p:txBody>
      </p:sp>
      <p:sp>
        <p:nvSpPr>
          <p:cNvPr id="237" name="Google Shape;237;p33"/>
          <p:cNvSpPr txBox="1"/>
          <p:nvPr>
            <p:ph type="title"/>
          </p:nvPr>
        </p:nvSpPr>
        <p:spPr>
          <a:xfrm>
            <a:off x="622261" y="2921912"/>
            <a:ext cx="516705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2000"/>
              <a:t xml:space="preserve">Перевод всех витрин на потоковую модель загрузки обеспечит получение данных к 8:30 утра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3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5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200"/>
              <a:t xml:space="preserve">Отчёт по продажам будет готов к 8:30 утра</a:t>
            </a:r>
          </a:p>
        </p:txBody>
      </p:sp>
      <p:sp>
        <p:nvSpPr>
          <p:cNvPr id="447" name="Google Shape;447;p50"/>
          <p:cNvSpPr txBox="1"/>
          <p:nvPr>
            <p:ph idx="4" type="body"/>
          </p:nvPr>
        </p:nvSpPr>
        <p:spPr>
          <a:xfrm>
            <a:off x="8112125" y="2139491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endParaRPr lang="ru-RU"/>
          </a:p>
        </p:txBody>
      </p:sp>
      <p:sp>
        <p:nvSpPr>
          <p:cNvPr id="448" name="Google Shape;448;p50"/>
          <p:cNvSpPr txBox="1"/>
          <p:nvPr>
            <p:ph idx="5" type="body"/>
          </p:nvPr>
        </p:nvSpPr>
        <p:spPr>
          <a:xfrm>
            <a:off x="8112126" y="3204251"/>
            <a:ext cx="4494461" cy="75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 xml:space="preserve">Новое время готовности — ключевой показатель эффективности инициативы</a:t>
            </a:r>
          </a:p>
        </p:txBody>
      </p:sp>
      <p:sp>
        <p:nvSpPr>
          <p:cNvPr id="449" name="Google Shape;449;p5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0"/>
          <p:cNvSpPr txBox="1"/>
          <p:nvPr/>
        </p:nvSpPr>
        <p:spPr>
          <a:xfrm>
            <a:off x="1022258" y="2740903"/>
            <a:ext cx="5417327" cy="2437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900"/>
              <a:buFont typeface="Arial"/>
              <a:buNone/>
            </a:pPr>
            <a:r>
              <a:rPr b="1" i="0" lang="ru-RU" sz="14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 xml:space="preserve">8:30</a:t>
            </a:r>
          </a:p>
        </p:txBody>
      </p:sp>
      <p:sp>
        <p:nvSpPr>
          <p:cNvPr id="451" name="Google Shape;451;p50"/>
          <p:cNvSpPr txBox="1"/>
          <p:nvPr/>
        </p:nvSpPr>
        <p:spPr>
          <a:xfrm>
            <a:off x="1134802" y="5213202"/>
            <a:ext cx="5417326" cy="850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Это сокращает время ожидания данных с 11:00 до 8:30, давая операционным командам больше времени на анализ.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6" name="Google Shape;946;p7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Число инцидентов с опозданием снизилось в 4.5 раза</a:t>
            </a:r>
          </a:p>
        </p:txBody>
      </p:sp>
      <p:grpSp>
        <p:nvGrpSpPr>
          <p:cNvPr id="947" name="Google Shape;947;p75"/>
          <p:cNvGrpSpPr/>
          <p:nvPr/>
        </p:nvGrpSpPr>
        <p:grpSpPr>
          <a:xfrm>
            <a:off x="620176" y="1913757"/>
            <a:ext cx="11003859" cy="4036070"/>
            <a:chOff x="1361698" y="2081183"/>
            <a:chExt cx="10292923" cy="3775309"/>
          </a:xfrm>
        </p:grpSpPr>
        <p:grpSp>
          <p:nvGrpSpPr>
            <p:cNvPr id="965" name="Google Shape;965;p75"/>
            <p:cNvGrpSpPr/>
            <p:nvPr/>
          </p:nvGrpSpPr>
          <p:grpSpPr>
            <a:xfrm>
              <a:off x="2471370" y="2230394"/>
              <a:ext cx="8860528" cy="2553236"/>
              <a:chOff x="0" y="0"/>
              <a:chExt cx="17721052" cy="5106469"/>
            </a:xfrm>
          </p:grpSpPr>
          <p:cxnSp>
            <p:nvCxnSpPr>
              <p:cNvPr id="970" name="Google Shape;970;p75"/>
              <p:cNvCxnSpPr/>
              <p:nvPr/>
            </p:nvCxnSpPr>
            <p:spPr>
              <a:xfrm>
                <a:off x="0" y="0"/>
                <a:ext cx="17721052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E1E1E1"/>
                </a:solidFill>
                <a:prstDash val="solid"/>
                <a:miter lim="4000"/>
                <a:headEnd len="sm" w="sm" type="none"/>
                <a:tailEnd len="sm" w="sm" type="none"/>
              </a:ln>
            </p:spPr>
          </p:cxnSp>
        </p:grpSp>
      </p:grpSp>
      <p:graphicFrame>
        <p:nvGraphicFramePr>
          <p:cNvPr id="971" name="Chart 970"/>
          <p:cNvGraphicFramePr>
            <a:graphicFrameLocks noGrp="1"/>
          </p:cNvGraphicFramePr>
          <p:nvPr/>
        </p:nvGraphicFramePr>
        <p:xfrm>
          <a:off x="623011" y="1473551"/>
          <a:ext cx="11142269" cy="472745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3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5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Пилотное внедрение на двух витринах заняло 6 недель, что позволяет прогнозировать сроки полного перехода</a:t>
            </a:r>
          </a:p>
        </p:txBody>
      </p:sp>
      <p:sp>
        <p:nvSpPr>
          <p:cNvPr id="447" name="Google Shape;447;p50"/>
          <p:cNvSpPr txBox="1"/>
          <p:nvPr>
            <p:ph idx="4" type="body"/>
          </p:nvPr>
        </p:nvSpPr>
        <p:spPr>
          <a:xfrm>
            <a:off x="8112125" y="2139491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endParaRPr lang="ru-RU"/>
          </a:p>
        </p:txBody>
      </p:sp>
      <p:sp>
        <p:nvSpPr>
          <p:cNvPr id="448" name="Google Shape;448;p50"/>
          <p:cNvSpPr txBox="1"/>
          <p:nvPr>
            <p:ph idx="5" type="body"/>
          </p:nvPr>
        </p:nvSpPr>
        <p:spPr>
          <a:xfrm>
            <a:off x="8112126" y="3204251"/>
            <a:ext cx="4494461" cy="75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 xml:space="preserve">Время, затраченное на тестирование на двух витринах</a:t>
            </a:r>
          </a:p>
        </p:txBody>
      </p:sp>
      <p:sp>
        <p:nvSpPr>
          <p:cNvPr id="449" name="Google Shape;449;p5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0"/>
          <p:cNvSpPr txBox="1"/>
          <p:nvPr/>
        </p:nvSpPr>
        <p:spPr>
          <a:xfrm>
            <a:off x="1022258" y="2740903"/>
            <a:ext cx="5417327" cy="2437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900"/>
              <a:buFont typeface="Arial"/>
              <a:buNone/>
            </a:pPr>
            <a:r>
              <a:rPr b="1" i="0" lang="ru-RU" sz="73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 xml:space="preserve">6 недель</a:t>
            </a:r>
          </a:p>
        </p:txBody>
      </p:sp>
      <p:sp>
        <p:nvSpPr>
          <p:cNvPr id="451" name="Google Shape;451;p50"/>
          <p:cNvSpPr txBox="1"/>
          <p:nvPr/>
        </p:nvSpPr>
        <p:spPr>
          <a:xfrm>
            <a:off x="1134802" y="5213202"/>
            <a:ext cx="5417326" cy="850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Срок внедрения на малом масштабе позволяет прогнозировать сроки для полного перехода.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3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5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Рост затрат на инфраструктуру составил 12 %</a:t>
            </a:r>
          </a:p>
        </p:txBody>
      </p:sp>
      <p:sp>
        <p:nvSpPr>
          <p:cNvPr id="447" name="Google Shape;447;p50"/>
          <p:cNvSpPr txBox="1"/>
          <p:nvPr>
            <p:ph idx="4" type="body"/>
          </p:nvPr>
        </p:nvSpPr>
        <p:spPr>
          <a:xfrm>
            <a:off x="8112125" y="2139491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endParaRPr lang="ru-RU"/>
          </a:p>
        </p:txBody>
      </p:sp>
      <p:sp>
        <p:nvSpPr>
          <p:cNvPr id="448" name="Google Shape;448;p50"/>
          <p:cNvSpPr txBox="1"/>
          <p:nvPr>
            <p:ph idx="5" type="body"/>
          </p:nvPr>
        </p:nvSpPr>
        <p:spPr>
          <a:xfrm>
            <a:off x="8112126" y="3204251"/>
            <a:ext cx="4494461" cy="75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 xml:space="preserve">Процентный рост расходов на инфраструктуру</a:t>
            </a:r>
          </a:p>
        </p:txBody>
      </p:sp>
      <p:sp>
        <p:nvSpPr>
          <p:cNvPr id="449" name="Google Shape;449;p5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0"/>
          <p:cNvSpPr txBox="1"/>
          <p:nvPr/>
        </p:nvSpPr>
        <p:spPr>
          <a:xfrm>
            <a:off x="1022258" y="2740903"/>
            <a:ext cx="5417327" cy="2437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900"/>
              <a:buFont typeface="Arial"/>
              <a:buNone/>
            </a:pPr>
            <a:r>
              <a:rPr b="1" i="0" lang="ru-RU" sz="14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 xml:space="preserve">12 %</a:t>
            </a:r>
          </a:p>
        </p:txBody>
      </p:sp>
      <p:sp>
        <p:nvSpPr>
          <p:cNvPr id="451" name="Google Shape;451;p50"/>
          <p:cNvSpPr txBox="1"/>
          <p:nvPr/>
        </p:nvSpPr>
        <p:spPr>
          <a:xfrm>
            <a:off x="1134802" y="5213202"/>
            <a:ext cx="5417326" cy="850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Финансовые издержки на поддержание новой архитектуры умеренны и оправданы эффектом от ускорения.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63" name="Google Shape;763;p58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Потоковая загрузка обеспечивает более раннюю доступность данных и меньшее количество сбоев</a:t>
            </a:r>
          </a:p>
        </p:txBody>
      </p:sp>
      <p:sp>
        <p:nvSpPr>
          <p:cNvPr id="764" name="Google Shape;764;p58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58"/>
          <p:cNvSpPr txBox="1"/>
          <p:nvPr/>
        </p:nvSpPr>
        <p:spPr>
          <a:xfrm>
            <a:off x="658811" y="3774296"/>
            <a:ext cx="2880000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Пакетная загрузка: отчёт к 11:00, 9 инцидентов в месяц</a:t>
            </a:r>
          </a:p>
        </p:txBody>
      </p:sp>
      <p:sp>
        <p:nvSpPr>
          <p:cNvPr id="766" name="Google Shape;766;p58"/>
          <p:cNvSpPr txBox="1"/>
          <p:nvPr/>
        </p:nvSpPr>
        <p:spPr>
          <a:xfrm>
            <a:off x="4385469" y="3774296"/>
            <a:ext cx="2880000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Потоковая загрузка: отчёт к 8:30, 2 инцидента в месяц</a:t>
            </a:r>
          </a:p>
        </p:txBody>
      </p:sp>
      <p:sp>
        <p:nvSpPr>
          <p:cNvPr id="767" name="Google Shape;767;p58"/>
          <p:cNvSpPr txBox="1"/>
          <p:nvPr/>
        </p:nvSpPr>
        <p:spPr>
          <a:xfrm>
            <a:off x="8112126" y="3774296"/>
            <a:ext cx="2880000" cy="1464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ru-RU"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68" name="Google Shape;768;p58"/>
          <p:cNvSpPr/>
          <p:nvPr/>
        </p:nvSpPr>
        <p:spPr>
          <a:xfrm>
            <a:off x="671513" y="2555950"/>
            <a:ext cx="866700" cy="866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769" name="Google Shape;769;p5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9438" y="2763875"/>
            <a:ext cx="450850" cy="45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8171" y="2555950"/>
            <a:ext cx="866700" cy="8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5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06096" y="2763875"/>
            <a:ext cx="450850" cy="45085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58"/>
          <p:cNvSpPr txBox="1"/>
          <p:nvPr/>
        </p:nvSpPr>
        <p:spPr>
          <a:xfrm>
            <a:off x="658811" y="6003053"/>
            <a:ext cx="6421611" cy="325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ru-RU"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94" name="Google Shape;794;p6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Пилотный проект на двух витринах подтвердил техническую и экономическую целесообразность решения</a:t>
            </a:r>
          </a:p>
        </p:txBody>
      </p:sp>
      <p:sp>
        <p:nvSpPr>
          <p:cNvPr id="795" name="Google Shape;795;p6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60"/>
          <p:cNvSpPr txBox="1"/>
          <p:nvPr/>
        </p:nvSpPr>
        <p:spPr>
          <a:xfrm>
            <a:off x="658811" y="6003053"/>
            <a:ext cx="6421611" cy="325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ru-RU"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797" name="Google Shape;797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4961" y="2594667"/>
            <a:ext cx="450850" cy="45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6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49400" y="2594667"/>
            <a:ext cx="450851" cy="45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6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07181" y="2594667"/>
            <a:ext cx="450850" cy="45085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0"/>
          <p:cNvSpPr txBox="1"/>
          <p:nvPr/>
        </p:nvSpPr>
        <p:spPr>
          <a:xfrm>
            <a:off x="658811" y="3273458"/>
            <a:ext cx="1722219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Данные доступны к 8:30 вместо 11:00</a:t>
            </a:r>
          </a:p>
        </p:txBody>
      </p:sp>
      <p:sp>
        <p:nvSpPr>
          <p:cNvPr id="801" name="Google Shape;801;p60"/>
          <p:cNvSpPr txBox="1"/>
          <p:nvPr/>
        </p:nvSpPr>
        <p:spPr>
          <a:xfrm>
            <a:off x="3101030" y="3273458"/>
            <a:ext cx="1722219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Инциденты упали с 9 до 2 в месяц</a:t>
            </a:r>
          </a:p>
        </p:txBody>
      </p:sp>
      <p:sp>
        <p:nvSpPr>
          <p:cNvPr id="802" name="Google Shape;802;p60"/>
          <p:cNvSpPr txBox="1"/>
          <p:nvPr/>
        </p:nvSpPr>
        <p:spPr>
          <a:xfrm>
            <a:off x="8112126" y="3273458"/>
            <a:ext cx="2880000" cy="1464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Успешное тестирование на двух витринах подтвердило техническую и экономическую целесообразность.</a:t>
            </a:r>
          </a:p>
        </p:txBody>
      </p:sp>
      <p:sp>
        <p:nvSpPr>
          <p:cNvPr id="803" name="Google Shape;801;p60"/>
          <p:cNvSpPr txBox="1"/>
          <p:nvPr/>
        </p:nvSpPr>
        <p:spPr>
          <a:xfrm>
            <a:off x="5543250" y="3273458"/>
            <a:ext cx="1722219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Рост инфраструктуры на 12 %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490" name="Google Shape;490;p53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Поэтапный перевод 14 витрин минимизирует риски и позволяет контролировать качество на каждом этапе</a:t>
            </a:r>
          </a:p>
        </p:txBody>
      </p:sp>
      <p:grpSp>
        <p:nvGrpSpPr>
          <p:cNvPr id="491" name="Google Shape;491;p53"/>
          <p:cNvGrpSpPr/>
          <p:nvPr/>
        </p:nvGrpSpPr>
        <p:grpSpPr>
          <a:xfrm>
            <a:off x="658812" y="2232530"/>
            <a:ext cx="10639191" cy="3299588"/>
            <a:chOff x="658812" y="2232530"/>
            <a:chExt cx="9830124" cy="3048668"/>
          </a:xfrm>
        </p:grpSpPr>
        <p:sp>
          <p:nvSpPr>
            <p:cNvPr id="492" name="Google Shape;492;p53"/>
            <p:cNvSpPr txBox="1"/>
            <p:nvPr/>
          </p:nvSpPr>
          <p:spPr>
            <a:xfrm>
              <a:off x="4000456" y="3260026"/>
              <a:ext cx="3147921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Миграция пачками — перевод витрин группами по 3-4</a:t>
              </a:r>
            </a:p>
          </p:txBody>
        </p:sp>
        <p:sp>
          <p:nvSpPr>
            <p:cNvPr id="493" name="Google Shape;493;p53"/>
            <p:cNvSpPr txBox="1"/>
            <p:nvPr/>
          </p:nvSpPr>
          <p:spPr>
            <a:xfrm>
              <a:off x="7342101" y="3260026"/>
              <a:ext cx="3147921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Верификация — проверка точности и сроков доставки</a:t>
              </a:r>
            </a:p>
          </p:txBody>
        </p:sp>
        <p:sp>
          <p:nvSpPr>
            <p:cNvPr id="495" name="Google Shape;495;p53"/>
            <p:cNvSpPr txBox="1"/>
            <p:nvPr/>
          </p:nvSpPr>
          <p:spPr>
            <a:xfrm>
              <a:off x="658812" y="3260026"/>
              <a:ext cx="3147921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Аудит витрин — оценка готовности данных к потоковой обработке</a:t>
              </a:r>
            </a:p>
          </p:txBody>
        </p:sp>
        <p:sp>
          <p:nvSpPr>
            <p:cNvPr id="496" name="Google Shape;496;p53"/>
            <p:cNvSpPr/>
            <p:nvPr/>
          </p:nvSpPr>
          <p:spPr>
            <a:xfrm>
              <a:off x="658813" y="2232530"/>
              <a:ext cx="1090083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1</a:t>
              </a:r>
            </a:p>
          </p:txBody>
        </p:sp>
        <p:sp>
          <p:nvSpPr>
            <p:cNvPr id="497" name="Google Shape;497;p53"/>
            <p:cNvSpPr/>
            <p:nvPr/>
          </p:nvSpPr>
          <p:spPr>
            <a:xfrm>
              <a:off x="4000458" y="2232530"/>
              <a:ext cx="1090083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2</a:t>
              </a:r>
            </a:p>
          </p:txBody>
        </p:sp>
        <p:sp>
          <p:nvSpPr>
            <p:cNvPr id="498" name="Google Shape;498;p53"/>
            <p:cNvSpPr/>
            <p:nvPr/>
          </p:nvSpPr>
          <p:spPr>
            <a:xfrm>
              <a:off x="7342102" y="2232530"/>
              <a:ext cx="1090083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3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Google Shape;887;p7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Переход привёл к улучшению всех ключевых показателей эффективности</a:t>
            </a:r>
          </a:p>
        </p:txBody>
      </p:sp>
      <p:sp>
        <p:nvSpPr>
          <p:cNvPr id="888" name="Google Shape;888;p70"/>
          <p:cNvSpPr txBox="1"/>
          <p:nvPr>
            <p:ph idx="4294967295" type="body"/>
          </p:nvPr>
        </p:nvSpPr>
        <p:spPr>
          <a:xfrm>
            <a:off x="677863" y="1773238"/>
            <a:ext cx="445452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5588" lvl="1" marL="2555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ru-RU" sz="1600"/>
              <a:t xml:space="preserve">Таблица наглядно демонстрирует улучшение всех ключевых показателей эффективности.</a:t>
            </a:r>
          </a:p>
        </p:txBody>
      </p:sp>
      <p:graphicFrame>
        <p:nvGraphicFramePr>
          <p:cNvPr id="889" name="Table 888"/>
          <p:cNvGraphicFramePr>
            <a:graphicFrameLocks noGrp="1"/>
          </p:cNvGraphicFramePr>
          <p:nvPr/>
        </p:nvGraphicFramePr>
        <p:xfrm>
          <a:off x="5132388" y="1473551"/>
          <a:ext cx="6632892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0964"/>
                <a:gridCol w="2210964"/>
                <a:gridCol w="2210964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Показатель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До перехода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После перехода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Время готовности отчёта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11:00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8:30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Инциденты в месяц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Затраты на инфраструктуру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База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+12 %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5" name="Google Shape;1075;p84"/>
          <p:cNvSpPr txBox="1"/>
          <p:nvPr>
            <p:ph type="title"/>
          </p:nvPr>
        </p:nvSpPr>
        <p:spPr>
          <a:xfrm>
            <a:off x="620713" y="2483712"/>
            <a:ext cx="515869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lang="ru-RU" sz="3200"/>
              <a:t xml:space="preserve">Утвердите перевод 14 витрин до конца квартала</a:t>
            </a:r>
          </a:p>
        </p:txBody>
      </p:sp>
      <p:pic>
        <p:nvPicPr>
          <p:cNvPr id="1076" name="Google Shape;1076;p84"/>
          <p:cNvPicPr preferRelativeResize="0"/>
          <p:nvPr>
            <p:ph idx="2" type="pic"/>
          </p:nvPr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84"/>
          <p:cNvSpPr txBox="1"/>
          <p:nvPr>
            <p:ph idx="1" type="body"/>
          </p:nvPr>
        </p:nvSpPr>
        <p:spPr>
          <a:xfrm>
            <a:off x="658813" y="4161565"/>
            <a:ext cx="5120598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</a:pPr>
            <a:r>
              <a:rPr lang="ru-RU" sz="1200"/>
              <a:t xml:space="preserve">Запустите миграцию оставшихся витрин в текущем квартале.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