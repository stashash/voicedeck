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Было</c:v>
                </c:pt>
                <c:pt idx="1">
                  <c:v>Стало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Добрый день, коллеги. Сегодня я представлю инициативу по оптимизации процесса формирования отчётов.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Главное преимущество инициативы — значительное сокращение времени ожидания отчётов.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наглядно демонстрирует улучшение надёжности сервиса.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проект показал, что миграция возможна в сжатые сроки.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Стоимость перехода оправдана получением более свежих данных и высокой стабильности.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Эти четыре показателя формируют основу для масштабирования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Дорожная карта включает четыре ключевых этапа реализации.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Прямое сравнение моделей показывает преимущество нового подхода.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Инициатива напрямую влияет на продуктивность команд направлений.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Прошу вас поддержать инициативу и утвердить план работ.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Благодарю за время, готов к обсуждению.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/>
          <p:nvPr>
            <p:ph idx="1" type="body"/>
          </p:nvPr>
        </p:nvSpPr>
        <p:spPr>
          <a:xfrm>
            <a:off x="658813" y="4866865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4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5" name="Google Shape;8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8" name="Google Shape;8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2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2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/>
          </a:p>
        </p:txBody>
      </p:sp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8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1" name="Google Shape;13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0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1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2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8" name="Google Shape;15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9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8" name="Google Shape;22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image" Target="../media/image258.png"/><Relationship Id="rId9" Type="http://schemas.openxmlformats.org/officeDocument/2006/relationships/image" Target="../media/image259.png"/><Relationship Id="rId10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image" Target="../media/image260.png"/><Relationship Id="rId7" Type="http://schemas.openxmlformats.org/officeDocument/2006/relationships/image" Target="../media/image261.png"/><Relationship Id="rId8" Type="http://schemas.openxmlformats.org/officeDocument/2006/relationships/image" Target="../media/image262.png"/><Relationship Id="rId9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3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400"/>
              <a:t xml:space="preserve">Команда предлагает масштабировать пилот на все витрины для ускорения получения данных.</a:t>
            </a:r>
          </a:p>
        </p:txBody>
      </p:sp>
      <p:sp>
        <p:nvSpPr>
          <p:cNvPr id="237" name="Google Shape;237;p33"/>
          <p:cNvSpPr txBox="1"/>
          <p:nvPr>
            <p:ph type="title"/>
          </p:nvPr>
        </p:nvSpPr>
        <p:spPr>
          <a:xfrm>
            <a:off x="622261" y="2921912"/>
            <a:ext cx="516705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000"/>
              <a:t xml:space="preserve">Перевод ночных отчётов на потоковую загрузку позволит ускорить получение данных во всех витринах платформы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Отчёты готовы на 2,5 часа раньше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3653155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3653154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Новое время готовности — данные доступны к началу рабочего дня.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4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8:30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Переход на потоковую загрузку сокращает время ожидания данных с 11:00 до 8:30 утра.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6" name="Google Shape;946;p7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Число инцидентов с опозданием снизилось в 4,5 раза</a:t>
            </a:r>
          </a:p>
        </p:txBody>
      </p:sp>
      <p:grpSp>
        <p:nvGrpSpPr>
          <p:cNvPr id="947" name="Google Shape;947;p75"/>
          <p:cNvGrpSpPr/>
          <p:nvPr/>
        </p:nvGrpSpPr>
        <p:grpSpPr>
          <a:xfrm>
            <a:off x="620176" y="1913757"/>
            <a:ext cx="11003859" cy="4036070"/>
            <a:chOff x="1361698" y="2081183"/>
            <a:chExt cx="10292923" cy="3775309"/>
          </a:xfrm>
        </p:grpSpPr>
        <p:grpSp>
          <p:nvGrpSpPr>
            <p:cNvPr id="965" name="Google Shape;965;p75"/>
            <p:cNvGrpSpPr/>
            <p:nvPr/>
          </p:nvGrpSpPr>
          <p:grpSpPr>
            <a:xfrm>
              <a:off x="2471370" y="2230394"/>
              <a:ext cx="8860528" cy="2553236"/>
              <a:chOff x="0" y="0"/>
              <a:chExt cx="17721052" cy="5106469"/>
            </a:xfrm>
          </p:grpSpPr>
          <p:cxnSp>
            <p:nvCxnSpPr>
              <p:cNvPr id="970" name="Google Shape;970;p75"/>
              <p:cNvCxnSpPr/>
              <p:nvPr/>
            </p:nvCxnSpPr>
            <p:spPr>
              <a:xfrm>
                <a:off x="0" y="0"/>
                <a:ext cx="17721052" cy="0"/>
              </a:xfrm>
              <a:prstGeom prst="straightConnector1">
                <a:avLst/>
              </a:prstGeom>
              <a:noFill/>
              <a:ln cap="flat" cmpd="sng" w="25400">
                <a:solidFill>
                  <a:srgbClr val="E1E1E1"/>
                </a:solidFill>
                <a:prstDash val="solid"/>
                <a:miter lim="4000"/>
                <a:headEnd len="sm" w="sm" type="none"/>
                <a:tailEnd len="sm" w="sm" type="none"/>
              </a:ln>
            </p:spPr>
          </p:cxnSp>
        </p:grpSp>
      </p:grpSp>
      <p:graphicFrame>
        <p:nvGraphicFramePr>
          <p:cNvPr id="971" name="Chart 970"/>
          <p:cNvGraphicFramePr>
            <a:graphicFrameLocks noGrp="1"/>
          </p:cNvGraphicFramePr>
          <p:nvPr/>
        </p:nvGraphicFramePr>
        <p:xfrm>
          <a:off x="623011" y="1473551"/>
          <a:ext cx="11142269" cy="472745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Скорость внедрения подтверждена практикой: пилот на двух витринах выполнен за 6 недель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3653155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3653154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Длительность пилота — срок реализации на двух витринах.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73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6 недель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b="0" i="0" lang="ru-RU" sz="24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Рост затрат на инфраструктуру составил 12 %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3653155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3653154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Прирост расходов на инфраструктуру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4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12 %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Финансовые издержки на переход к потоковой модели остаются умеренными.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4" name="Google Shape;274;p39"/>
          <p:cNvSpPr/>
          <p:nvPr/>
        </p:nvSpPr>
        <p:spPr>
          <a:xfrm>
            <a:off x="671512" y="1773238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Отчёты готовы к 8:30 вместо 11:00</a:t>
            </a:r>
          </a:p>
        </p:txBody>
      </p:sp>
      <p:sp>
        <p:nvSpPr>
          <p:cNvPr id="275" name="Google Shape;275;p39"/>
          <p:cNvSpPr/>
          <p:nvPr/>
        </p:nvSpPr>
        <p:spPr>
          <a:xfrm>
            <a:off x="6154737" y="1773238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Инциденты упали с 9 до 2 в месяц</a:t>
            </a:r>
          </a:p>
        </p:txBody>
      </p:sp>
      <p:sp>
        <p:nvSpPr>
          <p:cNvPr id="276" name="Google Shape;276;p39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2000">
                <a:solidFill>
                  <a:schemeClr val="dk2"/>
                </a:solidFill>
              </a:rPr>
              <a:t xml:space="preserve">Практика подтвердила техническую и экономическую целесообразность инициативы</a:t>
            </a:r>
          </a:p>
        </p:txBody>
      </p:sp>
      <p:sp>
        <p:nvSpPr>
          <p:cNvPr id="277" name="Google Shape;277;p39"/>
          <p:cNvSpPr/>
          <p:nvPr/>
        </p:nvSpPr>
        <p:spPr>
          <a:xfrm>
            <a:off x="671512" y="4043137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Пилот занял 6 недель</a:t>
            </a:r>
          </a:p>
        </p:txBody>
      </p:sp>
      <p:sp>
        <p:nvSpPr>
          <p:cNvPr id="278" name="Google Shape;278;p39"/>
          <p:cNvSpPr/>
          <p:nvPr/>
        </p:nvSpPr>
        <p:spPr>
          <a:xfrm>
            <a:off x="6154737" y="4043137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Рост инфраструктуры на 12 %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490" name="Google Shape;490;p53"/>
          <p:cNvSpPr txBox="1"/>
          <p:nvPr>
            <p:ph type="title"/>
          </p:nvPr>
        </p:nvSpPr>
        <p:spPr>
          <a:xfrm>
            <a:off x="677863" y="692150"/>
            <a:ext cx="10874375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200"/>
              <a:t xml:space="preserve">Все 14 витрин будут переведены на новую архитектуру до конца квартала</a:t>
            </a:r>
          </a:p>
        </p:txBody>
      </p:sp>
      <p:grpSp>
        <p:nvGrpSpPr>
          <p:cNvPr id="491" name="Google Shape;491;p53"/>
          <p:cNvGrpSpPr/>
          <p:nvPr/>
        </p:nvGrpSpPr>
        <p:grpSpPr>
          <a:xfrm>
            <a:off x="658812" y="2232530"/>
            <a:ext cx="10639191" cy="3299588"/>
            <a:chOff x="658812" y="2232530"/>
            <a:chExt cx="9830124" cy="3048668"/>
          </a:xfrm>
        </p:grpSpPr>
        <p:sp>
          <p:nvSpPr>
            <p:cNvPr id="492" name="Google Shape;492;p53"/>
            <p:cNvSpPr txBox="1"/>
            <p:nvPr/>
          </p:nvSpPr>
          <p:spPr>
            <a:xfrm>
              <a:off x="3165045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Миграция: перевод 14 витрин на новую архитектуру</a:t>
              </a:r>
            </a:p>
          </p:txBody>
        </p:sp>
        <p:sp>
          <p:nvSpPr>
            <p:cNvPr id="493" name="Google Shape;493;p53"/>
            <p:cNvSpPr txBox="1"/>
            <p:nvPr/>
          </p:nvSpPr>
          <p:spPr>
            <a:xfrm>
              <a:off x="5671279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Тестирование: проверка стабильности и точности данных</a:t>
              </a:r>
            </a:p>
          </p:txBody>
        </p:sp>
        <p:sp>
          <p:nvSpPr>
            <p:cNvPr id="494" name="Google Shape;494;p53"/>
            <p:cNvSpPr txBox="1"/>
            <p:nvPr/>
          </p:nvSpPr>
          <p:spPr>
            <a:xfrm>
              <a:off x="8177512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Запуск: полный переход до конца квартала</a:t>
              </a:r>
            </a:p>
          </p:txBody>
        </p:sp>
        <p:sp>
          <p:nvSpPr>
            <p:cNvPr id="495" name="Google Shape;495;p53"/>
            <p:cNvSpPr txBox="1"/>
            <p:nvPr/>
          </p:nvSpPr>
          <p:spPr>
            <a:xfrm>
              <a:off x="658812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Аудит витрин: оценка готовности данных к потоковой загрузке</a:t>
              </a:r>
            </a:p>
          </p:txBody>
        </p:sp>
        <p:sp>
          <p:nvSpPr>
            <p:cNvPr id="496" name="Google Shape;496;p53"/>
            <p:cNvSpPr/>
            <p:nvPr/>
          </p:nvSpPr>
          <p:spPr>
            <a:xfrm>
              <a:off x="658813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1</a:t>
              </a:r>
            </a:p>
          </p:txBody>
        </p:sp>
        <p:sp>
          <p:nvSpPr>
            <p:cNvPr id="497" name="Google Shape;497;p53"/>
            <p:cNvSpPr/>
            <p:nvPr/>
          </p:nvSpPr>
          <p:spPr>
            <a:xfrm>
              <a:off x="3165046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2</a:t>
              </a:r>
            </a:p>
          </p:txBody>
        </p:sp>
        <p:sp>
          <p:nvSpPr>
            <p:cNvPr id="498" name="Google Shape;498;p53"/>
            <p:cNvSpPr/>
            <p:nvPr/>
          </p:nvSpPr>
          <p:spPr>
            <a:xfrm>
              <a:off x="5671280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3</a:t>
              </a:r>
            </a:p>
          </p:txBody>
        </p:sp>
        <p:sp>
          <p:nvSpPr>
            <p:cNvPr id="499" name="Google Shape;499;p53"/>
            <p:cNvSpPr/>
            <p:nvPr/>
          </p:nvSpPr>
          <p:spPr>
            <a:xfrm>
              <a:off x="8177513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4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3" name="Google Shape;763;p58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Потоковая загрузка обеспечивает более оперативное и стабильное получение данных</a:t>
            </a:r>
          </a:p>
        </p:txBody>
      </p:sp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58"/>
          <p:cNvSpPr txBox="1"/>
          <p:nvPr/>
        </p:nvSpPr>
        <p:spPr>
          <a:xfrm>
            <a:off x="658811" y="3774296"/>
            <a:ext cx="2880000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загрузка: отчёты к 11:00, 9 инцидентов в месяц</a:t>
            </a:r>
          </a:p>
        </p:txBody>
      </p:sp>
      <p:sp>
        <p:nvSpPr>
          <p:cNvPr id="766" name="Google Shape;766;p58"/>
          <p:cNvSpPr txBox="1"/>
          <p:nvPr/>
        </p:nvSpPr>
        <p:spPr>
          <a:xfrm>
            <a:off x="4385469" y="3774296"/>
            <a:ext cx="2880000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Потоковая загрузка: отчёты к 8:30, 2 инцидента в месяц</a:t>
            </a:r>
          </a:p>
        </p:txBody>
      </p:sp>
      <p:sp>
        <p:nvSpPr>
          <p:cNvPr id="767" name="Google Shape;767;p58"/>
          <p:cNvSpPr txBox="1"/>
          <p:nvPr/>
        </p:nvSpPr>
        <p:spPr>
          <a:xfrm>
            <a:off x="8112126" y="3774296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lang="ru-RU" sz="16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68" name="Google Shape;768;p58"/>
          <p:cNvSpPr/>
          <p:nvPr/>
        </p:nvSpPr>
        <p:spPr>
          <a:xfrm>
            <a:off x="671513" y="255595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69" name="Google Shape;769;p5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79438" y="276387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98171" y="255595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5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606096" y="276387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58"/>
          <p:cNvSpPr txBox="1"/>
          <p:nvPr/>
        </p:nvSpPr>
        <p:spPr>
          <a:xfrm>
            <a:off x="658811" y="6003053"/>
            <a:ext cx="6421611" cy="3255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2500"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ru-RU" sz="16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4" name="Google Shape;794;p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Раннее получение данных ускоряет принятие управленческих решений</a:t>
            </a:r>
          </a:p>
        </p:txBody>
      </p:sp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60"/>
          <p:cNvSpPr txBox="1"/>
          <p:nvPr/>
        </p:nvSpPr>
        <p:spPr>
          <a:xfrm>
            <a:off x="658811" y="6003053"/>
            <a:ext cx="6421611" cy="3255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2500"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ru-RU" sz="16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97" name="Google Shape;797;p6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4961" y="2594667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8" name="Google Shape;798;p6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549400" y="2594667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9" name="Google Shape;799;p6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07181" y="2594667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Google Shape;800;p60"/>
          <p:cNvSpPr txBox="1"/>
          <p:nvPr/>
        </p:nvSpPr>
        <p:spPr>
          <a:xfrm>
            <a:off x="658811" y="3273458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Оперативность: данные доступны к началу рабочего дня</a:t>
            </a:r>
          </a:p>
        </p:txBody>
      </p:sp>
      <p:sp>
        <p:nvSpPr>
          <p:cNvPr id="801" name="Google Shape;801;p60"/>
          <p:cNvSpPr txBox="1"/>
          <p:nvPr/>
        </p:nvSpPr>
        <p:spPr>
          <a:xfrm>
            <a:off x="3101030" y="3273458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Надёжность: снижение риска задержки отчётов</a:t>
            </a:r>
          </a:p>
        </p:txBody>
      </p:sp>
      <p:sp>
        <p:nvSpPr>
          <p:cNvPr id="802" name="Google Shape;802;p60"/>
          <p:cNvSpPr txBox="1"/>
          <p:nvPr/>
        </p:nvSpPr>
        <p:spPr>
          <a:xfrm>
            <a:off x="8112126" y="3273458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Оперативность: данные доступны к началу рабочего дня. Надёжность: снижение риска задержки отчётов. Эффективность: меньше времени на ожидание данных.</a:t>
            </a:r>
          </a:p>
        </p:txBody>
      </p:sp>
      <p:sp>
        <p:nvSpPr>
          <p:cNvPr id="803" name="Google Shape;801;p60"/>
          <p:cNvSpPr txBox="1"/>
          <p:nvPr/>
        </p:nvSpPr>
        <p:spPr>
          <a:xfrm>
            <a:off x="5543250" y="3273458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Эффективность: меньше времени на ожидание данных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75" name="Google Shape;1075;p84"/>
          <p:cNvSpPr txBox="1"/>
          <p:nvPr>
            <p:ph type="title"/>
          </p:nvPr>
        </p:nvSpPr>
        <p:spPr>
          <a:xfrm>
            <a:off x="620713" y="2483712"/>
            <a:ext cx="5158698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lang="ru-RU" sz="3200"/>
              <a:t xml:space="preserve">Необходимо утвердить план масштабирования до конца квартала</a:t>
            </a:r>
          </a:p>
        </p:txBody>
      </p:sp>
      <p:pic>
        <p:nvPicPr>
          <p:cNvPr id="1076" name="Google Shape;1076;p84"/>
          <p:cNvPicPr preferRelativeResize="0"/>
          <p:nvPr>
            <p:ph idx="2" type="pic"/>
          </p:nvPr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pic>
      <p:sp>
        <p:nvSpPr>
          <p:cNvPr id="1077" name="Google Shape;1077;p84"/>
          <p:cNvSpPr txBox="1"/>
          <p:nvPr>
            <p:ph idx="1" type="body"/>
          </p:nvPr>
        </p:nvSpPr>
        <p:spPr>
          <a:xfrm>
            <a:off x="658813" y="4161565"/>
            <a:ext cx="5120598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</a:pPr>
            <a:endParaRPr lang="ru-RU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5" name="Google Shape;255;p36"/>
          <p:cNvSpPr txBox="1"/>
          <p:nvPr>
            <p:ph idx="1" type="body"/>
          </p:nvPr>
        </p:nvSpPr>
        <p:spPr>
          <a:xfrm>
            <a:off x="658813" y="4866865"/>
            <a:ext cx="5130504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</a:p>
        </p:txBody>
      </p:sp>
      <p:sp>
        <p:nvSpPr>
          <p:cNvPr id="256" name="Google Shape;256;p36"/>
          <p:cNvSpPr txBox="1"/>
          <p:nvPr>
            <p:ph type="title"/>
          </p:nvPr>
        </p:nvSpPr>
        <p:spPr>
          <a:xfrm>
            <a:off x="622261" y="2921912"/>
            <a:ext cx="516705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sz="2000"/>
              <a:t xml:space="preserve">Спасибо за внимание: готов ответить на вопросы по деталям инициативы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