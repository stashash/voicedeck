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Relationship Id="rId72" Type="http://schemas.openxmlformats.org/officeDocument/2006/relationships/slide" Target="slides/slide64.xml"/><Relationship Id="rId73" Type="http://schemas.openxmlformats.org/officeDocument/2006/relationships/slide" Target="slides/slide65.xml"/><Relationship Id="rId74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Инциденты в месяц</c:v>
                </c:pt>
              </c:strCache>
            </c:strRef>
          </c:tx>
          <c:spPr>
            <a:solidFill>
              <a:srgbClr val="0077FF"/>
            </a:solidFill>
          </c:spPr>
          <c:cat>
            <c:strRef>
              <c:f>Sheet1!$A$2:$A$3</c:f>
              <c:strCache>
                <c:ptCount val="2"/>
                <c:pt idx="0">
                  <c:v>До пилота</c:v>
                </c:pt>
                <c:pt idx="1">
                  <c:v>После пилота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9.0</c:v>
                </c:pt>
                <c:pt idx="1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0077FF"/>
              </a:solidFill>
            </a:ln>
          </c:spPr>
        </c:majorGridlines>
        <c:title>
          <c:tx>
            <c:rich>
              <a:bodyPr/>
              <a:lstStyle/>
              <a:p>
                <a:r>
                  <a:t>шт.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400">
          <a:latin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Доброе утро. Сегодня мы обсуждаем инициативу по оптимизации отчётности.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разберем текущие боли, покажем цифры пилота и попросим одобрить план.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мы зависим от пакетного режима, который не дает гибкости.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 позволит начать операционные решения сразу после открытия офиса.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Наблюдаем устойчивое снижение количества опозданий на пилотных витринах.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суммирует все ключевые изменения, зафиксированные за 6 недель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Этот срок включает настройку, тестирование и стабилизацию потока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расходы окупаются за счет снижения рисков и ускорения 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предлагаем двигаться по проверенному пилотному сценарию.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Без вашего решения мы не сможем выделить ресурсы на следующий этап.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Готовы ответить на вопросы по деталям реализации и бюджету.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3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7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" name="Google Shape;60;p3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3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3" name="Google Shape;6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"/>
          <p:cNvSpPr txBox="1"/>
          <p:nvPr>
            <p:ph idx="1" type="body"/>
          </p:nvPr>
        </p:nvSpPr>
        <p:spPr>
          <a:xfrm>
            <a:off x="658813" y="4866865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" name="Google Shape;66;p4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" name="Google Shape;68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5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" name="Google Shape;72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4" name="Google Shape;74;p5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5" name="Google Shape;7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8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5" name="Google Shape;85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9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88" name="Google Shape;88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0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1" name="Google Shape;91;p1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0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11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1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0" name="Google Shape;100;p11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3" name="Google Shape;103;p12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4" name="Google Shape;104;p12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5" name="Google Shape;105;p12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/>
          </a:p>
        </p:txBody>
      </p:sp>
      <p:sp>
        <p:nvSpPr>
          <p:cNvPr id="106" name="Google Shape;106;p12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3" name="Google Shape;113;p14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5" name="Google Shape;115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4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15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15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6" name="Google Shape;126;p17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7" name="Google Shape;127;p17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0" name="Google Shape;130;p18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1" name="Google Shape;13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9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9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36" name="Google Shape;136;p19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37" name="Google Shape;13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20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0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2" name="Google Shape;142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21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21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2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53" name="Google Shape;153;p22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54" name="Google Shape;154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8" name="Google Shape;158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61" name="Google Shape;161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6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26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2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1" name="Google Shape;171;p27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7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5" name="Google Shape;175;p28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9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79" name="Google Shape;179;p29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29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1" name="Google Shape;181;p29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2" name="Google Shape;182;p29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8" name="Google Shape;228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31" name="Google Shape;231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6" r:id="rId1"/>
    <p:sldLayoutId id="2147483677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7.png"/><Relationship Id="rId3" Type="http://schemas.openxmlformats.org/officeDocument/2006/relationships/image" Target="../media/image228.png"/><Relationship Id="rId4" Type="http://schemas.openxmlformats.org/officeDocument/2006/relationships/image" Target="../media/image229.png"/><Relationship Id="rId5" Type="http://schemas.openxmlformats.org/officeDocument/2006/relationships/image" Target="../media/image230.png"/><Relationship Id="rId6" Type="http://schemas.openxmlformats.org/officeDocument/2006/relationships/image" Target="../media/image231.png"/><Relationship Id="rId7" Type="http://schemas.openxmlformats.org/officeDocument/2006/relationships/hyperlink" Target="https://www.figma.com/file/sVARvsqs7Npc84xaHlniX7/%F0%9F%A7%A9-VKUI-Icons-Library?type=design&amp;node-id=94%3A6307&amp;mode=design&amp;t=5iYjSQsap5UdmwiW-1" TargetMode="External"/><Relationship Id="rId8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257.png"/><Relationship Id="rId3" Type="http://schemas.openxmlformats.org/officeDocument/2006/relationships/notesSlide" Target="../notesSlides/notesSlide66.xml"/></Relationships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3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200"/>
              <a:t xml:space="preserve">Предложено перевести оставшиеся витрины на потоковую архитектуру для ускорения доступности данных.</a:t>
            </a:r>
          </a:p>
        </p:txBody>
      </p:sp>
      <p:sp>
        <p:nvSpPr>
          <p:cNvPr id="237" name="Google Shape;237;p33"/>
          <p:cNvSpPr txBox="1"/>
          <p:nvPr>
            <p:ph type="title"/>
          </p:nvPr>
        </p:nvSpPr>
        <p:spPr>
          <a:xfrm>
            <a:off x="622261" y="2921912"/>
            <a:ext cx="516705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000"/>
              <a:t xml:space="preserve">Перевод оставшихся витрин на потоковую архитектуру для ускорения доступности данных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274" name="Google Shape;274;p39"/>
          <p:cNvSpPr/>
          <p:nvPr/>
        </p:nvSpPr>
        <p:spPr>
          <a:xfrm>
            <a:off x="671512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Текущее состояние: как сейчас работают ночные отчёты</a:t>
            </a:r>
          </a:p>
        </p:txBody>
      </p:sp>
      <p:sp>
        <p:nvSpPr>
          <p:cNvPr id="275" name="Google Shape;275;p39"/>
          <p:cNvSpPr/>
          <p:nvPr/>
        </p:nvSpPr>
        <p:spPr>
          <a:xfrm>
            <a:off x="6154737" y="1773238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Результаты пилота: ключевые метрики после перехода двух витрин</a:t>
            </a:r>
          </a:p>
        </p:txBody>
      </p:sp>
      <p:sp>
        <p:nvSpPr>
          <p:cNvPr id="276" name="Google Shape;276;p39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 sz="2000">
                <a:solidFill>
                  <a:schemeClr val="dk2"/>
                </a:solidFill>
              </a:rPr>
              <a:t xml:space="preserve">Обсудим текущую ситуацию, результаты пилота и предложения по масштабированию</a:t>
            </a:r>
          </a:p>
        </p:txBody>
      </p:sp>
      <p:sp>
        <p:nvSpPr>
          <p:cNvPr id="277" name="Google Shape;277;p39"/>
          <p:cNvSpPr/>
          <p:nvPr/>
        </p:nvSpPr>
        <p:spPr>
          <a:xfrm>
            <a:off x="671512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План масштабирования: сроки и объемы перевода остальных витрин</a:t>
            </a:r>
          </a:p>
        </p:txBody>
      </p:sp>
      <p:sp>
        <p:nvSpPr>
          <p:cNvPr id="278" name="Google Shape;278;p39"/>
          <p:cNvSpPr/>
          <p:nvPr/>
        </p:nvSpPr>
        <p:spPr>
          <a:xfrm>
            <a:off x="6154737" y="4043137"/>
            <a:ext cx="5391150" cy="2156481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Решение руководства: что требуется от директоров направлений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pic>
        <p:nvPicPr>
          <p:cNvPr id="762" name="Google Shape;76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05070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63" name="Google Shape;763;p5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Задержка данных до 11 утра снижает оперативность решений</a:t>
            </a:r>
          </a:p>
        </p:txBody>
      </p:sp>
      <p:sp>
        <p:nvSpPr>
          <p:cNvPr id="764" name="Google Shape;764;p58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58"/>
          <p:cNvSpPr txBox="1"/>
          <p:nvPr/>
        </p:nvSpPr>
        <p:spPr>
          <a:xfrm>
            <a:off x="658811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Пакетная загрузка данных ночью одним блоком</a:t>
            </a:r>
          </a:p>
        </p:txBody>
      </p:sp>
      <p:sp>
        <p:nvSpPr>
          <p:cNvPr id="766" name="Google Shape;766;p58"/>
          <p:cNvSpPr txBox="1"/>
          <p:nvPr/>
        </p:nvSpPr>
        <p:spPr>
          <a:xfrm>
            <a:off x="3101030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Аналитики получают данные поздно утром</a:t>
            </a:r>
          </a:p>
        </p:txBody>
      </p:sp>
      <p:sp>
        <p:nvSpPr>
          <p:cNvPr id="767" name="Google Shape;767;p58"/>
          <p:cNvSpPr txBox="1"/>
          <p:nvPr/>
        </p:nvSpPr>
        <p:spPr>
          <a:xfrm>
            <a:off x="8112126" y="3774296"/>
            <a:ext cx="2880000" cy="14649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Отчёт по продажам доступен только к 11 утра, что тормозит утренние совещания.</a:t>
            </a:r>
          </a:p>
        </p:txBody>
      </p:sp>
      <p:sp>
        <p:nvSpPr>
          <p:cNvPr id="768" name="Google Shape;768;p58"/>
          <p:cNvSpPr/>
          <p:nvPr/>
        </p:nvSpPr>
        <p:spPr>
          <a:xfrm>
            <a:off x="671513" y="256230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pic>
        <p:nvPicPr>
          <p:cNvPr id="771" name="Google Shape;771;p5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85469" y="2562300"/>
            <a:ext cx="866700" cy="8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58"/>
          <p:cNvSpPr txBox="1"/>
          <p:nvPr/>
        </p:nvSpPr>
        <p:spPr>
          <a:xfrm>
            <a:off x="658811" y="6003053"/>
            <a:ext cx="6421611" cy="3255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92500"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endParaRPr lang="ru-RU" sz="16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774" name="Google Shape;766;p58"/>
          <p:cNvSpPr txBox="1"/>
          <p:nvPr/>
        </p:nvSpPr>
        <p:spPr>
          <a:xfrm>
            <a:off x="5543250" y="3774296"/>
            <a:ext cx="1722219" cy="12336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lang="ru-RU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Инциденты с задержкой случаются регулярно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/>
              <a:t xml:space="preserve">Отчёт будет готов на 2.5 часа раньше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Новое время готовности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8:30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После перехода на потоковую загрузку отчёт по продажам будет доступен к 8:30.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46" name="Google Shape;946;p7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Число инцидентов с опозданием снизилось в 4.5 раза</a:t>
            </a:r>
          </a:p>
        </p:txBody>
      </p:sp>
      <p:grpSp>
        <p:nvGrpSpPr>
          <p:cNvPr id="947" name="Google Shape;947;p75"/>
          <p:cNvGrpSpPr/>
          <p:nvPr/>
        </p:nvGrpSpPr>
        <p:grpSpPr>
          <a:xfrm>
            <a:off x="620176" y="1913757"/>
            <a:ext cx="11003859" cy="4036070"/>
            <a:chOff x="1361698" y="2081183"/>
            <a:chExt cx="10292923" cy="3775309"/>
          </a:xfrm>
        </p:grpSpPr>
        <p:sp>
          <p:nvSpPr>
            <p:cNvPr id="957" name="Google Shape;957;p75"/>
            <p:cNvSpPr txBox="1"/>
            <p:nvPr/>
          </p:nvSpPr>
          <p:spPr>
            <a:xfrm>
              <a:off x="2292470" y="5535671"/>
              <a:ext cx="489465" cy="32082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5700" lIns="35700" spcFirstLastPara="1" rIns="35700" wrap="square" tIns="35700">
              <a:noAutofit/>
            </a:bodyPr>
            <a:lstStyle/>
            <a:p>
              <a:pPr indent="0" lvl="0" marL="0" marR="0" rtl="0" algn="ctr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16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Сбои</a:t>
              </a:r>
            </a:p>
          </p:txBody>
        </p:sp>
        <p:grpSp>
          <p:nvGrpSpPr>
            <p:cNvPr id="965" name="Google Shape;965;p75"/>
            <p:cNvGrpSpPr/>
            <p:nvPr/>
          </p:nvGrpSpPr>
          <p:grpSpPr>
            <a:xfrm>
              <a:off x="2471370" y="2230394"/>
              <a:ext cx="8860528" cy="2553236"/>
              <a:chOff x="0" y="0"/>
              <a:chExt cx="17721052" cy="5106469"/>
            </a:xfrm>
          </p:grpSpPr>
          <p:cxnSp>
            <p:nvCxnSpPr>
              <p:cNvPr id="970" name="Google Shape;970;p75"/>
              <p:cNvCxnSpPr/>
              <p:nvPr/>
            </p:nvCxnSpPr>
            <p:spPr>
              <a:xfrm>
                <a:off x="0" y="0"/>
                <a:ext cx="17721052" cy="0"/>
              </a:xfrm>
              <a:prstGeom prst="straightConnector1">
                <a:avLst/>
              </a:prstGeom>
              <a:noFill/>
              <a:ln cap="flat" cmpd="sng" w="25400">
                <a:solidFill>
                  <a:srgbClr val="E1E1E1"/>
                </a:solidFill>
                <a:prstDash val="solid"/>
                <a:miter lim="4000"/>
                <a:headEnd len="sm" w="sm" type="none"/>
                <a:tailEnd len="sm" w="sm" type="none"/>
              </a:ln>
            </p:spPr>
          </p:cxnSp>
        </p:grpSp>
      </p:grpSp>
      <p:graphicFrame>
        <p:nvGraphicFramePr>
          <p:cNvPr id="971" name="Chart 970"/>
          <p:cNvGraphicFramePr>
            <a:graphicFrameLocks noGrp="1"/>
          </p:cNvGraphicFramePr>
          <p:nvPr/>
        </p:nvGraphicFramePr>
        <p:xfrm>
          <a:off x="623011" y="1473551"/>
          <a:ext cx="11142269" cy="41332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7" name="Google Shape;887;p7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Итоги пилота: скорость и стабильность выросли</a:t>
            </a:r>
          </a:p>
        </p:txBody>
      </p:sp>
      <p:sp>
        <p:nvSpPr>
          <p:cNvPr id="888" name="Google Shape;888;p70"/>
          <p:cNvSpPr txBox="1"/>
          <p:nvPr>
            <p:ph idx="4294967295" type="body"/>
          </p:nvPr>
        </p:nvSpPr>
        <p:spPr>
          <a:xfrm>
            <a:off x="677863" y="1773238"/>
            <a:ext cx="445452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55588" lvl="1" marL="255588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600"/>
              <a:buChar char="•"/>
            </a:pPr>
            <a:r>
              <a:rPr lang="ru-RU" sz="1600"/>
              <a:t xml:space="preserve">Переход двух витрин на потоковую загрузку дал измеримый эффект по срокам и надежности.</a:t>
            </a:r>
          </a:p>
        </p:txBody>
      </p:sp>
      <p:graphicFrame>
        <p:nvGraphicFramePr>
          <p:cNvPr id="889" name="Table 888"/>
          <p:cNvGraphicFramePr>
            <a:graphicFrameLocks noGrp="1"/>
          </p:cNvGraphicFramePr>
          <p:nvPr/>
        </p:nvGraphicFramePr>
        <p:xfrm>
          <a:off x="5132388" y="1473551"/>
          <a:ext cx="6632892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0964"/>
                <a:gridCol w="2210964"/>
                <a:gridCol w="2210964"/>
              </a:tblGrid>
              <a:tr h="438912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Показатель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Было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FFFFFF"/>
                          </a:solidFill>
                          <a:latin typeface="Play"/>
                        </a:rPr>
                        <a:t>Стало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Время готовности отчёта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11:00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8:30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Инциденты с опозданием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9 в месяц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2 в месяц</a:t>
                      </a:r>
                    </a:p>
                  </a:txBody>
                  <a:tcPr>
                    <a:noFill/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Затраты на инфраструктуру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Базовый уровень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latin typeface="Play"/>
                        </a:rPr>
                        <a:t>+12 %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Перевод двух витрин на новую архитектуру занял 6 недель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Длительность пилота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73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6 недель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Время, необходимое для перевода двух витрин на новую архитектуру, составило 6 недель.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43" name="Google Shape;443;p50"/>
          <p:cNvSpPr/>
          <p:nvPr/>
        </p:nvSpPr>
        <p:spPr>
          <a:xfrm>
            <a:off x="658813" y="1794065"/>
            <a:ext cx="6130294" cy="4406709"/>
          </a:xfrm>
          <a:prstGeom prst="roundRect">
            <a:avLst>
              <a:gd fmla="val 4444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5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Переход на потоковую загрузку потребовал увеличения бюджета на инфраструктуру на 12 %</a:t>
            </a:r>
          </a:p>
        </p:txBody>
      </p:sp>
      <p:sp>
        <p:nvSpPr>
          <p:cNvPr id="447" name="Google Shape;447;p50"/>
          <p:cNvSpPr txBox="1"/>
          <p:nvPr>
            <p:ph idx="4" type="body"/>
          </p:nvPr>
        </p:nvSpPr>
        <p:spPr>
          <a:xfrm>
            <a:off x="8112125" y="2139491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</a:pPr>
            <a:endParaRPr lang="ru-RU"/>
          </a:p>
        </p:txBody>
      </p:sp>
      <p:sp>
        <p:nvSpPr>
          <p:cNvPr id="448" name="Google Shape;448;p50"/>
          <p:cNvSpPr txBox="1"/>
          <p:nvPr>
            <p:ph idx="5" type="body"/>
          </p:nvPr>
        </p:nvSpPr>
        <p:spPr>
          <a:xfrm>
            <a:off x="8112126" y="3204251"/>
            <a:ext cx="4494461" cy="755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ru-RU" sz="1600"/>
              <a:t xml:space="preserve">Рост затрат</a:t>
            </a:r>
          </a:p>
        </p:txBody>
      </p:sp>
      <p:sp>
        <p:nvSpPr>
          <p:cNvPr id="449" name="Google Shape;449;p50"/>
          <p:cNvSpPr txBox="1"/>
          <p:nvPr/>
        </p:nvSpPr>
        <p:spPr>
          <a:xfrm>
            <a:off x="18692059" y="4674436"/>
            <a:ext cx="4304330" cy="6781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50"/>
          <p:cNvSpPr txBox="1"/>
          <p:nvPr/>
        </p:nvSpPr>
        <p:spPr>
          <a:xfrm>
            <a:off x="1022258" y="2740903"/>
            <a:ext cx="5417327" cy="2437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non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3900"/>
              <a:buFont typeface="Arial"/>
              <a:buNone/>
            </a:pPr>
            <a:r>
              <a:rPr b="1" i="0" lang="ru-RU" sz="14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 xml:space="preserve">12 %</a:t>
            </a:r>
          </a:p>
        </p:txBody>
      </p:sp>
      <p:sp>
        <p:nvSpPr>
          <p:cNvPr id="451" name="Google Shape;451;p50"/>
          <p:cNvSpPr txBox="1"/>
          <p:nvPr/>
        </p:nvSpPr>
        <p:spPr>
          <a:xfrm>
            <a:off x="1134802" y="5213202"/>
            <a:ext cx="5417326" cy="8504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ru-RU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 xml:space="preserve">Рост затрат на инфраструктуру составил 12 %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490" name="Google Shape;490;p53"/>
          <p:cNvSpPr txBox="1"/>
          <p:nvPr>
            <p:ph type="title"/>
          </p:nvPr>
        </p:nvSpPr>
        <p:spPr>
          <a:xfrm>
            <a:off x="677863" y="692150"/>
            <a:ext cx="10874375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2000"/>
              <a:t xml:space="preserve">Поэтапное масштабирование перевода оставшихся 14 витрин завершится до конца текущего квартала</a:t>
            </a:r>
          </a:p>
        </p:txBody>
      </p:sp>
      <p:grpSp>
        <p:nvGrpSpPr>
          <p:cNvPr id="491" name="Google Shape;491;p53"/>
          <p:cNvGrpSpPr/>
          <p:nvPr/>
        </p:nvGrpSpPr>
        <p:grpSpPr>
          <a:xfrm>
            <a:off x="658812" y="2232530"/>
            <a:ext cx="10639191" cy="3299588"/>
            <a:chOff x="658812" y="2232530"/>
            <a:chExt cx="9830124" cy="3048668"/>
          </a:xfrm>
        </p:grpSpPr>
        <p:sp>
          <p:nvSpPr>
            <p:cNvPr id="492" name="Google Shape;492;p53"/>
            <p:cNvSpPr txBox="1"/>
            <p:nvPr/>
          </p:nvSpPr>
          <p:spPr>
            <a:xfrm>
              <a:off x="3165045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Перенос групп витрин на потоковую загрузку</a:t>
              </a:r>
            </a:p>
          </p:txBody>
        </p:sp>
        <p:sp>
          <p:nvSpPr>
            <p:cNvPr id="493" name="Google Shape;493;p53"/>
            <p:cNvSpPr txBox="1"/>
            <p:nvPr/>
          </p:nvSpPr>
          <p:spPr>
            <a:xfrm>
              <a:off x="5671279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Контроль метрик стабильности и сроков</a:t>
              </a:r>
            </a:p>
          </p:txBody>
        </p:sp>
        <p:sp>
          <p:nvSpPr>
            <p:cNvPr id="494" name="Google Shape;494;p53"/>
            <p:cNvSpPr txBox="1"/>
            <p:nvPr/>
          </p:nvSpPr>
          <p:spPr>
            <a:xfrm>
              <a:off x="81775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Финализация перевода всех витрин</a:t>
              </a:r>
            </a:p>
          </p:txBody>
        </p:sp>
        <p:sp>
          <p:nvSpPr>
            <p:cNvPr id="495" name="Google Shape;495;p53"/>
            <p:cNvSpPr txBox="1"/>
            <p:nvPr/>
          </p:nvSpPr>
          <p:spPr>
            <a:xfrm>
              <a:off x="658812" y="3260026"/>
              <a:ext cx="2312510" cy="202117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Arial"/>
                <a:buNone/>
              </a:pPr>
              <a:r>
                <a:rPr lang="ru-RU" sz="1200">
                  <a:solidFill>
                    <a:schemeClr val="dk1"/>
                  </a:solidFill>
                  <a:latin typeface="Play"/>
                  <a:ea typeface="Play"/>
                  <a:cs typeface="Play"/>
                  <a:sym typeface="Play"/>
                </a:rPr>
                <a:t xml:space="preserve">Аудит готовности каждой из 14 витрин</a:t>
              </a:r>
            </a:p>
          </p:txBody>
        </p:sp>
        <p:sp>
          <p:nvSpPr>
            <p:cNvPr id="496" name="Google Shape;496;p53"/>
            <p:cNvSpPr/>
            <p:nvPr/>
          </p:nvSpPr>
          <p:spPr>
            <a:xfrm>
              <a:off x="658813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1</a:t>
              </a:r>
            </a:p>
          </p:txBody>
        </p:sp>
        <p:sp>
          <p:nvSpPr>
            <p:cNvPr id="497" name="Google Shape;497;p53"/>
            <p:cNvSpPr/>
            <p:nvPr/>
          </p:nvSpPr>
          <p:spPr>
            <a:xfrm>
              <a:off x="3165046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2</a:t>
              </a:r>
            </a:p>
          </p:txBody>
        </p:sp>
        <p:sp>
          <p:nvSpPr>
            <p:cNvPr id="498" name="Google Shape;498;p53"/>
            <p:cNvSpPr/>
            <p:nvPr/>
          </p:nvSpPr>
          <p:spPr>
            <a:xfrm>
              <a:off x="5671279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3</a:t>
              </a:r>
            </a:p>
          </p:txBody>
        </p:sp>
        <p:sp>
          <p:nvSpPr>
            <p:cNvPr id="499" name="Google Shape;499;p53"/>
            <p:cNvSpPr/>
            <p:nvPr/>
          </p:nvSpPr>
          <p:spPr>
            <a:xfrm>
              <a:off x="8177512" y="2232530"/>
              <a:ext cx="800791" cy="800791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-RU" sz="3200">
                  <a:solidFill>
                    <a:schemeClr val="lt2"/>
                  </a:solidFill>
                  <a:latin typeface="Play"/>
                  <a:ea typeface="Play"/>
                  <a:cs typeface="Play"/>
                  <a:sym typeface="Play"/>
                </a:rPr>
                <a:t xml:space="preserve">4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6" name="Google Shape;456;p51"/>
          <p:cNvSpPr txBox="1"/>
          <p:nvPr>
            <p:ph idx="1" type="body"/>
          </p:nvPr>
        </p:nvSpPr>
        <p:spPr>
          <a:xfrm>
            <a:off x="3359150" y="579395"/>
            <a:ext cx="7520885" cy="45491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None/>
            </a:pPr>
            <a:r>
              <a:rPr lang="ru-RU" sz="4000">
                <a:solidFill>
                  <a:schemeClr val="dk1"/>
                </a:solidFill>
              </a:rPr>
              <a:t xml:space="preserve">Для начала масштабирования требуется одобрение перевода остальных 14 витрин до конца квартала</a:t>
            </a:r>
          </a:p>
        </p:txBody>
      </p:sp>
      <p:sp>
        <p:nvSpPr>
          <p:cNvPr id="457" name="Google Shape;457;p51"/>
          <p:cNvSpPr txBox="1"/>
          <p:nvPr>
            <p:ph idx="2" type="body"/>
          </p:nvPr>
        </p:nvSpPr>
        <p:spPr>
          <a:xfrm>
            <a:off x="3359150" y="5738829"/>
            <a:ext cx="8200516" cy="461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</a:pPr>
            <a:r>
              <a:rPr lang="ru-RU" sz="2000"/>
              <a:t xml:space="preserve">Для начала масштабирования требуется одобрение перевода остальных 14 витрин до конца квартала.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75" name="Google Shape;1075;p84"/>
          <p:cNvSpPr txBox="1"/>
          <p:nvPr>
            <p:ph type="title"/>
          </p:nvPr>
        </p:nvSpPr>
        <p:spPr>
          <a:xfrm>
            <a:off x="620713" y="2483712"/>
            <a:ext cx="5158698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2000"/>
              <a:t xml:space="preserve">Просим директоров направлений поддержать инициативу и утвердить план масштабирования</a:t>
            </a:r>
          </a:p>
        </p:txBody>
      </p:sp>
      <p:pic>
        <p:nvPicPr>
          <p:cNvPr id="1076" name="Google Shape;1076;p84"/>
          <p:cNvPicPr preferRelativeResize="0"/>
          <p:nvPr>
            <p:ph idx="2" type="pic"/>
          </p:nvPr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pic>
      <p:sp>
        <p:nvSpPr>
          <p:cNvPr id="1077" name="Google Shape;1077;p84"/>
          <p:cNvSpPr txBox="1"/>
          <p:nvPr>
            <p:ph idx="1" type="body"/>
          </p:nvPr>
        </p:nvSpPr>
        <p:spPr>
          <a:xfrm>
            <a:off x="658813" y="4161565"/>
            <a:ext cx="5120598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</a:pPr>
            <a:r>
              <a:rPr lang="ru-RU" sz="1200"/>
              <a:t xml:space="preserve">Поддержите инициативу и утвердите план масштабирования.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