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перехода</c:v>
                </c:pt>
                <c:pt idx="1">
                  <c:v>После перехода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инициативу по оптимизации отчётности, которая позволит бизнесу принимать решения на 2.5 часа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выгода для бизнеса — данные становятся доступными к 8:30, а не к 11:00.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Графика показывает резкое снижение количества сбоев в доставке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был завершён за 6 недель, что подтверждает реалистичность сроков.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на потоковую модель увеличилась на 12%, что является приемлемым уровнем.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сравнение двух подходов демонстрирует преимущества новой модели по времени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три ключевых результата доказывают эффективность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поэтапную миграцию для снижения рисков.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Сводная таблица для быстрого сравнения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ваше решение о запуске полного перехода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400"/>
              <a:t xml:space="preserve">Предлагаем перевести все витрины на потоковую модель для получения данных к 8:30 утра.</a:t>
            </a: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622262" y="2598003"/>
            <a:ext cx="753542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/>
              <a:t xml:space="preserve">Перевод всех витрин на потоковую модель позволит получать данные к 8:30 утра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Отчёт по продажам будет готов к 8:30 утра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Новое время готовности отчёта по продажам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Сокращение времени ожидания данных с 11:00 до 8:30 даёт операционным командам больше времени на анализ.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6" name="Google Shape;946;p7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4.5 раза</a:t>
            </a:r>
          </a:p>
        </p:txBody>
      </p:sp>
      <p:grpSp>
        <p:nvGrpSpPr>
          <p:cNvPr id="947" name="Google Shape;947;p75"/>
          <p:cNvGrpSpPr/>
          <p:nvPr/>
        </p:nvGrpSpPr>
        <p:grpSpPr>
          <a:xfrm>
            <a:off x="620176" y="1913757"/>
            <a:ext cx="11003859" cy="4036070"/>
            <a:chOff x="1361698" y="2081183"/>
            <a:chExt cx="10292923" cy="3775309"/>
          </a:xfrm>
        </p:grpSpPr>
        <p:grpSp>
          <p:nvGrpSpPr>
            <p:cNvPr id="965" name="Google Shape;965;p75"/>
            <p:cNvGrpSpPr/>
            <p:nvPr/>
          </p:nvGrpSpPr>
          <p:grpSpPr>
            <a:xfrm>
              <a:off x="2471370" y="2230394"/>
              <a:ext cx="8860528" cy="2553236"/>
              <a:chOff x="0" y="0"/>
              <a:chExt cx="17721052" cy="5106469"/>
            </a:xfrm>
          </p:grpSpPr>
          <p:cxnSp>
            <p:nvCxnSpPr>
              <p:cNvPr id="970" name="Google Shape;970;p75"/>
              <p:cNvCxnSpPr/>
              <p:nvPr/>
            </p:nvCxnSpPr>
            <p:spPr>
              <a:xfrm>
                <a:off x="0" y="0"/>
                <a:ext cx="1772105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E1E1E1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971" name="Chart 970"/>
          <p:cNvGraphicFramePr>
            <a:graphicFrameLocks noGrp="1"/>
          </p:cNvGraphicFramePr>
          <p:nvPr/>
        </p:nvGraphicFramePr>
        <p:xfrm>
          <a:off x="623011" y="1473551"/>
          <a:ext cx="11142269" cy="4727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Пилот на двух витринах занял 6 недель, что позволяет прогнозировать сроки полного перехода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Время, затраченное на тестирование на двух витринах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7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Срок внедрения на малом масштабе позволяет прогнозировать сроки для полного перехода.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Процентный рост расходов на инфраструктуру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Финансовые издержки на поддержание новой архитектуры умеренны и оправданы эффектом от ускорения.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1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Пакетная загрузка: отчёт к 11:00, 9 инцидентов в месяц</a:t>
            </a:r>
          </a:p>
        </p:txBody>
      </p:sp>
      <p:sp>
        <p:nvSpPr>
          <p:cNvPr id="542" name="Google Shape;542;p56"/>
          <p:cNvSpPr txBox="1"/>
          <p:nvPr>
            <p:ph idx="2" type="body"/>
          </p:nvPr>
        </p:nvSpPr>
        <p:spPr>
          <a:xfrm>
            <a:off x="622882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Потоковая загрузка: отчёт к 8:30, 2 инцидента в месяц</a:t>
            </a:r>
          </a:p>
        </p:txBody>
      </p:sp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более раннюю доступность данных и меньшее количество сбоев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Google Shape;274;p39"/>
          <p:cNvSpPr/>
          <p:nvPr/>
        </p:nvSpPr>
        <p:spPr>
          <a:xfrm>
            <a:off x="671512" y="1773238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Данные доступны к 8:30 вместо 11:00</a:t>
            </a:r>
          </a:p>
        </p:txBody>
      </p:sp>
      <p:sp>
        <p:nvSpPr>
          <p:cNvPr id="275" name="Google Shape;275;p39"/>
          <p:cNvSpPr/>
          <p:nvPr/>
        </p:nvSpPr>
        <p:spPr>
          <a:xfrm>
            <a:off x="6154737" y="1773238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Инциденты упали с 9 до 2 в месяц</a:t>
            </a:r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Пилотный проект на двух витринах подтвердил техническую и экономическую целесообразность решения</a:t>
            </a:r>
          </a:p>
        </p:txBody>
      </p:sp>
      <p:sp>
        <p:nvSpPr>
          <p:cNvPr id="277" name="Google Shape;277;p39"/>
          <p:cNvSpPr/>
          <p:nvPr/>
        </p:nvSpPr>
        <p:spPr>
          <a:xfrm>
            <a:off x="671512" y="4043137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Рост инфраструктуры на 12 %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04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Поэтапный перевод 14 витрин минимизирует риски и обеспечивает контроль качества</a:t>
            </a:r>
          </a:p>
        </p:txBody>
      </p:sp>
      <p:grpSp>
        <p:nvGrpSpPr>
          <p:cNvPr id="505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506" name="Google Shape;506;p54"/>
            <p:cNvSpPr txBox="1"/>
            <p:nvPr/>
          </p:nvSpPr>
          <p:spPr>
            <a:xfrm>
              <a:off x="4152327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Миграция пачками: перевод витрин группами по 3-4</a:t>
              </a:r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7645841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Верификация: проверка точности и сроков доставки</a:t>
              </a:r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658813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Аудит витрин: оценка готовности данных к потоковой обработке</a:t>
              </a: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658813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4152327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513" name="Google Shape;513;p54"/>
            <p:cNvSpPr/>
            <p:nvPr/>
          </p:nvSpPr>
          <p:spPr>
            <a:xfrm>
              <a:off x="7645841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Таблица наглядно демонстрирует улучшение всех ключевых показателей эффективности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089"/>
                <a:gridCol w="3714089"/>
                <a:gridCol w="371409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До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После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Время готовности отчёта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Инциденты в месяц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Затраты на инфраструктуру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База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+12 %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658813" y="4866865"/>
            <a:ext cx="5130504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</a:p>
        </p:txBody>
      </p:sp>
      <p:sp>
        <p:nvSpPr>
          <p:cNvPr id="256" name="Google Shape;256;p36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2000"/>
              <a:t xml:space="preserve">Необходимо утвердить инициативу для запуска миграции оставшихся 14 витрин в текущем квартале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