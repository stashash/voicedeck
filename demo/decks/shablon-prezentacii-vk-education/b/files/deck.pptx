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</p:sldIdLst>
  <p:sldSz cy="6858000" cx="12192000"/>
  <p:notesSz cx="6858000" cy="9144000"/>
  <p:embeddedFontLst>
    <p:embeddedFont>
      <p:font typeface="Play"/>
      <p:regular r:id="rId62"/>
      <p:bold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2006A8-8AF6-428E-B8E6-5754F7C527DE}">
  <a:tblStyle styleId="{552006A8-8AF6-428E-B8E6-5754F7C527DE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D62A05B1-10D2-4378-96B9-F810E7567A26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62" Type="http://schemas.openxmlformats.org/officeDocument/2006/relationships/font" Target="fonts/Play-regular.fntdata"/><Relationship Id="rId63" Type="http://schemas.openxmlformats.org/officeDocument/2006/relationships/font" Target="fonts/Play-bold.fntdata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перехода</c:v>
                </c:pt>
                <c:pt idx="1">
                  <c:v>После перехода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Доброе утро. Сегодня мы обсуждаем инициативу по оптимизации отчётности, которая позволит бизнесу принимать решения на 2.5 часа раньше.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Главная выгода для бизнеса — данные становятся доступными к 8:30, а не к 11:00.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Графика показывает резкое снижение количества сбоев в доставке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Пилотный проект был завершён за 6 недель, что подтверждает реалистичность сроков.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на потоковую модель увеличилась на 12%, что является приемлемым уровнем.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Прямое сравнение двух подходов демонстрирует преимущества новой модели по времени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Эти три ключевых результата доказывают эффективность инициативы.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поэтапную миграцию для снижения рисков.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Сводная таблица для быстрого сравнения показателей.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ваше решение о запуске полного перехода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accen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">
  <p:cSld name="3_Титульный слайд">
    <p:bg>
      <p:bgPr>
        <a:solidFill>
          <a:schemeClr val="accen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  <a:defRPr sz="2000">
                <a:solidFill>
                  <a:schemeClr val="lt2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03845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/>
          <p:nvPr>
            <p:ph idx="1" type="body"/>
          </p:nvPr>
        </p:nvSpPr>
        <p:spPr>
          <a:xfrm>
            <a:off x="658813" y="4866865"/>
            <a:ext cx="10224000" cy="5539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"/>
          <p:cNvSpPr txBox="1"/>
          <p:nvPr>
            <p:ph type="title"/>
          </p:nvPr>
        </p:nvSpPr>
        <p:spPr>
          <a:xfrm>
            <a:off x="622261" y="2921912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Титульный слайд">
  <p:cSld name="4_Титульный слайд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/>
          <p:nvPr/>
        </p:nvSpPr>
        <p:spPr>
          <a:xfrm>
            <a:off x="3358342" y="482138"/>
            <a:ext cx="72768" cy="362141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36000" spcFirstLastPara="1" rIns="36000" wrap="square" tIns="360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2772300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>
            <p:ph idx="1" type="body"/>
          </p:nvPr>
        </p:nvSpPr>
        <p:spPr>
          <a:xfrm>
            <a:off x="658813" y="4728001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5"/>
          <p:cNvSpPr txBox="1"/>
          <p:nvPr>
            <p:ph type="title"/>
          </p:nvPr>
        </p:nvSpPr>
        <p:spPr>
          <a:xfrm>
            <a:off x="622261" y="2598003"/>
            <a:ext cx="10220325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о спикером">
  <p:cSld name="Слайд со спикером">
    <p:bg>
      <p:bgPr>
        <a:solidFill>
          <a:schemeClr val="dk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>
            <p:ph type="title"/>
          </p:nvPr>
        </p:nvSpPr>
        <p:spPr>
          <a:xfrm>
            <a:off x="658813" y="692150"/>
            <a:ext cx="6192838" cy="1380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"/>
          <p:cNvSpPr txBox="1"/>
          <p:nvPr>
            <p:ph idx="1" type="body"/>
          </p:nvPr>
        </p:nvSpPr>
        <p:spPr>
          <a:xfrm>
            <a:off x="658813" y="2357767"/>
            <a:ext cx="5142954" cy="2142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None/>
              <a:defRPr b="0" i="0" sz="200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9" name="Google Shape;7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Заголовок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раздела">
  <p:cSld name="Титульный слайд раздела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1342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 раздела">
  <p:cSld name="2_Титульный слайд раздела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Play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8" name="Google Shape;88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в 2 строки + объект">
  <p:cSld name="Заголовок в 2 строки + объект">
    <p:bg>
      <p:bgPr>
        <a:solidFill>
          <a:schemeClr val="lt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671513" y="2040889"/>
            <a:ext cx="5424487" cy="415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фактоида + текст">
  <p:cSld name="2 фактоида + текст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 txBox="1"/>
          <p:nvPr>
            <p:ph idx="1" type="body"/>
          </p:nvPr>
        </p:nvSpPr>
        <p:spPr>
          <a:xfrm>
            <a:off x="671514" y="1773238"/>
            <a:ext cx="5135728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2" type="body"/>
          </p:nvPr>
        </p:nvSpPr>
        <p:spPr>
          <a:xfrm>
            <a:off x="6097339" y="3864033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3" type="body"/>
          </p:nvPr>
        </p:nvSpPr>
        <p:spPr>
          <a:xfrm>
            <a:off x="6097338" y="5058095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4" type="body"/>
          </p:nvPr>
        </p:nvSpPr>
        <p:spPr>
          <a:xfrm>
            <a:off x="6096000" y="1773238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  <a:defRPr b="1" i="0" sz="8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5" type="body"/>
          </p:nvPr>
        </p:nvSpPr>
        <p:spPr>
          <a:xfrm>
            <a:off x="6096000" y="2967300"/>
            <a:ext cx="5417327" cy="356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без фото">
  <p:cSld name="Цитата без фото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idx="1" type="body"/>
          </p:nvPr>
        </p:nvSpPr>
        <p:spPr>
          <a:xfrm>
            <a:off x="3359150" y="692151"/>
            <a:ext cx="8174038" cy="1609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2"/>
          <p:cNvSpPr txBox="1"/>
          <p:nvPr>
            <p:ph idx="2" type="body"/>
          </p:nvPr>
        </p:nvSpPr>
        <p:spPr>
          <a:xfrm>
            <a:off x="3359150" y="5738829"/>
            <a:ext cx="8200516" cy="4619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12"/>
          <p:cNvSpPr txBox="1"/>
          <p:nvPr>
            <p:ph idx="3" type="body"/>
          </p:nvPr>
        </p:nvSpPr>
        <p:spPr>
          <a:xfrm>
            <a:off x="3366814" y="2459421"/>
            <a:ext cx="8174038" cy="16096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i="0" sz="2400">
                <a:latin typeface="Play"/>
                <a:ea typeface="Play"/>
                <a:cs typeface="Play"/>
                <a:sym typeface="Play"/>
              </a:defRPr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 sz="180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2"/>
          <p:cNvSpPr txBox="1"/>
          <p:nvPr/>
        </p:nvSpPr>
        <p:spPr>
          <a:xfrm>
            <a:off x="544512" y="-1049150"/>
            <a:ext cx="2058988" cy="4478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288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«</a:t>
            </a:r>
            <a:endParaRPr/>
          </a:p>
        </p:txBody>
      </p:sp>
      <p:sp>
        <p:nvSpPr>
          <p:cNvPr id="106" name="Google Shape;106;p12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Заголовок + текст в две колонки">
  <p:cSld name="2_Заголовок + текст в две колонки">
    <p:bg>
      <p:bgPr>
        <a:solidFill>
          <a:schemeClr val="lt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 txBox="1"/>
          <p:nvPr>
            <p:ph idx="1" type="body"/>
          </p:nvPr>
        </p:nvSpPr>
        <p:spPr>
          <a:xfrm>
            <a:off x="677334" y="1773238"/>
            <a:ext cx="53043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2" type="body"/>
          </p:nvPr>
        </p:nvSpPr>
        <p:spPr>
          <a:xfrm>
            <a:off x="6228824" y="1773239"/>
            <a:ext cx="5304364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Мокап телефона ">
  <p:cSld name="Мокап телефона 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71514" y="2055970"/>
            <a:ext cx="5418666" cy="4144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677334" y="692150"/>
            <a:ext cx="5418666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5" name="Google Shape;11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82421" y="452282"/>
            <a:ext cx="3174791" cy="599138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/>
          <p:nvPr>
            <p:ph idx="2" type="pic"/>
          </p:nvPr>
        </p:nvSpPr>
        <p:spPr>
          <a:xfrm>
            <a:off x="7951157" y="814745"/>
            <a:ext cx="2430752" cy="526077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скриншот (1)">
  <p:cSld name="Заголовок + скриншот (1)">
    <p:bg>
      <p:bgPr>
        <a:solidFill>
          <a:schemeClr val="lt2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idx="1" type="body"/>
          </p:nvPr>
        </p:nvSpPr>
        <p:spPr>
          <a:xfrm>
            <a:off x="6096000" y="692150"/>
            <a:ext cx="5437187" cy="550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2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текст">
  <p:cSld name="Заголовок + текст"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671513" y="1773238"/>
            <a:ext cx="10861675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ттерн + фото">
  <p:cSld name="Паттерн + фото">
    <p:bg>
      <p:bgPr>
        <a:solidFill>
          <a:schemeClr val="l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2">
            <a:alphaModFix/>
          </a:blip>
          <a:srcRect b="39" l="621" r="0" t="0"/>
          <a:stretch/>
        </p:blipFill>
        <p:spPr>
          <a:xfrm>
            <a:off x="5335631" y="0"/>
            <a:ext cx="6872200" cy="6855356"/>
          </a:xfrm>
          <a:custGeom>
            <a:rect b="b" l="l" r="r" t="t"/>
            <a:pathLst>
              <a:path extrusionOk="0" h="6855356" w="6872200">
                <a:moveTo>
                  <a:pt x="5172532" y="3455219"/>
                </a:moveTo>
                <a:cubicBezTo>
                  <a:pt x="5499707" y="3455219"/>
                  <a:pt x="5792960" y="3528040"/>
                  <a:pt x="6052290" y="3673628"/>
                </a:cubicBezTo>
                <a:cubicBezTo>
                  <a:pt x="6311647" y="3819244"/>
                  <a:pt x="6513116" y="4021018"/>
                  <a:pt x="6656750" y="4278950"/>
                </a:cubicBezTo>
                <a:cubicBezTo>
                  <a:pt x="6800384" y="4532724"/>
                  <a:pt x="6872200" y="4823927"/>
                  <a:pt x="6872200" y="5152588"/>
                </a:cubicBezTo>
                <a:cubicBezTo>
                  <a:pt x="6872200" y="5481249"/>
                  <a:pt x="6800384" y="5774545"/>
                  <a:pt x="6656750" y="6032478"/>
                </a:cubicBezTo>
                <a:cubicBezTo>
                  <a:pt x="6513116" y="6286251"/>
                  <a:pt x="6311647" y="6485932"/>
                  <a:pt x="6052290" y="6631548"/>
                </a:cubicBezTo>
                <a:cubicBezTo>
                  <a:pt x="5792960" y="6777135"/>
                  <a:pt x="5499707" y="6849957"/>
                  <a:pt x="5172532" y="6849957"/>
                </a:cubicBezTo>
                <a:cubicBezTo>
                  <a:pt x="4845384" y="6849957"/>
                  <a:pt x="4552131" y="6777135"/>
                  <a:pt x="4292801" y="6631548"/>
                </a:cubicBezTo>
                <a:cubicBezTo>
                  <a:pt x="4037443" y="6485932"/>
                  <a:pt x="3835948" y="6286251"/>
                  <a:pt x="3688342" y="6032478"/>
                </a:cubicBezTo>
                <a:cubicBezTo>
                  <a:pt x="3544708" y="5774545"/>
                  <a:pt x="3472891" y="5481249"/>
                  <a:pt x="3472891" y="5152588"/>
                </a:cubicBezTo>
                <a:cubicBezTo>
                  <a:pt x="3472891" y="4823927"/>
                  <a:pt x="3544708" y="4532724"/>
                  <a:pt x="3688342" y="4278950"/>
                </a:cubicBezTo>
                <a:cubicBezTo>
                  <a:pt x="3835948" y="4021018"/>
                  <a:pt x="4037443" y="3819244"/>
                  <a:pt x="4292801" y="3673628"/>
                </a:cubicBezTo>
                <a:cubicBezTo>
                  <a:pt x="4552131" y="3528040"/>
                  <a:pt x="4845384" y="3455219"/>
                  <a:pt x="5172532" y="3455219"/>
                </a:cubicBezTo>
                <a:close/>
                <a:moveTo>
                  <a:pt x="2986720" y="3455219"/>
                </a:moveTo>
                <a:cubicBezTo>
                  <a:pt x="3221752" y="3455219"/>
                  <a:pt x="3412299" y="3645508"/>
                  <a:pt x="3412299" y="3880250"/>
                </a:cubicBezTo>
                <a:lnTo>
                  <a:pt x="3412299" y="6430352"/>
                </a:lnTo>
                <a:cubicBezTo>
                  <a:pt x="3412299" y="6665066"/>
                  <a:pt x="3221752" y="6855356"/>
                  <a:pt x="2986720" y="6855356"/>
                </a:cubicBezTo>
                <a:cubicBezTo>
                  <a:pt x="2751660" y="6855356"/>
                  <a:pt x="2561116" y="6665066"/>
                  <a:pt x="2561116" y="6430352"/>
                </a:cubicBezTo>
                <a:lnTo>
                  <a:pt x="2561116" y="3880250"/>
                </a:lnTo>
                <a:cubicBezTo>
                  <a:pt x="2561116" y="3645508"/>
                  <a:pt x="2751660" y="3455219"/>
                  <a:pt x="2986720" y="3455219"/>
                </a:cubicBezTo>
                <a:close/>
                <a:moveTo>
                  <a:pt x="0" y="3455219"/>
                </a:moveTo>
                <a:lnTo>
                  <a:pt x="2285195" y="3455219"/>
                </a:lnTo>
                <a:lnTo>
                  <a:pt x="2285195" y="6855356"/>
                </a:lnTo>
                <a:cubicBezTo>
                  <a:pt x="1415843" y="6855356"/>
                  <a:pt x="981165" y="6855356"/>
                  <a:pt x="659952" y="6663607"/>
                </a:cubicBezTo>
                <a:cubicBezTo>
                  <a:pt x="467707" y="6548838"/>
                  <a:pt x="306935" y="6388295"/>
                  <a:pt x="192014" y="6196299"/>
                </a:cubicBezTo>
                <a:cubicBezTo>
                  <a:pt x="0" y="5875515"/>
                  <a:pt x="0" y="5441450"/>
                  <a:pt x="0" y="4573266"/>
                </a:cubicBezTo>
                <a:close/>
                <a:moveTo>
                  <a:pt x="5160091" y="0"/>
                </a:moveTo>
                <a:lnTo>
                  <a:pt x="5164453" y="0"/>
                </a:lnTo>
                <a:lnTo>
                  <a:pt x="5275907" y="52"/>
                </a:lnTo>
                <a:cubicBezTo>
                  <a:pt x="5524640" y="425"/>
                  <a:pt x="5662733" y="3407"/>
                  <a:pt x="5779943" y="27266"/>
                </a:cubicBezTo>
                <a:cubicBezTo>
                  <a:pt x="6312557" y="135674"/>
                  <a:pt x="6728787" y="551352"/>
                  <a:pt x="6837340" y="1083241"/>
                </a:cubicBezTo>
                <a:cubicBezTo>
                  <a:pt x="6864644" y="1217025"/>
                  <a:pt x="6864644" y="1378040"/>
                  <a:pt x="6864644" y="1700070"/>
                </a:cubicBezTo>
                <a:lnTo>
                  <a:pt x="6864644" y="3400137"/>
                </a:lnTo>
                <a:lnTo>
                  <a:pt x="5162272" y="3400137"/>
                </a:lnTo>
                <a:cubicBezTo>
                  <a:pt x="4839813" y="3400137"/>
                  <a:pt x="4678583" y="3400137"/>
                  <a:pt x="4544602" y="3372869"/>
                </a:cubicBezTo>
                <a:cubicBezTo>
                  <a:pt x="4012014" y="3264463"/>
                  <a:pt x="3595758" y="2848797"/>
                  <a:pt x="3487205" y="2316902"/>
                </a:cubicBezTo>
                <a:cubicBezTo>
                  <a:pt x="3459901" y="2183117"/>
                  <a:pt x="3459901" y="2022101"/>
                  <a:pt x="3459901" y="1700070"/>
                </a:cubicBezTo>
                <a:cubicBezTo>
                  <a:pt x="3459901" y="1378040"/>
                  <a:pt x="3459901" y="1217025"/>
                  <a:pt x="3487205" y="1083241"/>
                </a:cubicBezTo>
                <a:cubicBezTo>
                  <a:pt x="3595758" y="551352"/>
                  <a:pt x="4012014" y="135674"/>
                  <a:pt x="4544602" y="27266"/>
                </a:cubicBezTo>
                <a:cubicBezTo>
                  <a:pt x="4661835" y="3407"/>
                  <a:pt x="4799931" y="425"/>
                  <a:pt x="5048646" y="52"/>
                </a:cubicBezTo>
                <a:close/>
                <a:moveTo>
                  <a:pt x="1702374" y="0"/>
                </a:moveTo>
                <a:lnTo>
                  <a:pt x="3404743" y="0"/>
                </a:lnTo>
                <a:lnTo>
                  <a:pt x="3404743" y="3400137"/>
                </a:lnTo>
                <a:lnTo>
                  <a:pt x="1702374" y="3400137"/>
                </a:lnTo>
                <a:cubicBezTo>
                  <a:pt x="762181" y="3400137"/>
                  <a:pt x="0" y="2638994"/>
                  <a:pt x="0" y="1700071"/>
                </a:cubicBezTo>
                <a:cubicBezTo>
                  <a:pt x="0" y="761147"/>
                  <a:pt x="762178" y="0"/>
                  <a:pt x="1702374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аттерн + фото">
  <p:cSld name="1_Паттерн + фото">
    <p:bg>
      <p:bgPr>
        <a:solidFill>
          <a:schemeClr val="lt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671514" y="2558715"/>
            <a:ext cx="4165182" cy="3642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18"/>
          <p:cNvSpPr txBox="1"/>
          <p:nvPr>
            <p:ph type="title"/>
          </p:nvPr>
        </p:nvSpPr>
        <p:spPr>
          <a:xfrm>
            <a:off x="677334" y="692149"/>
            <a:ext cx="3180792" cy="1348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1" name="Google Shape;13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33139" y="0"/>
            <a:ext cx="6858000" cy="6858000"/>
          </a:xfrm>
          <a:custGeom>
            <a:rect b="b" l="l" r="r" t="t"/>
            <a:pathLst>
              <a:path extrusionOk="0" h="6858000" w="6858000">
                <a:moveTo>
                  <a:pt x="1708713" y="3459856"/>
                </a:moveTo>
                <a:cubicBezTo>
                  <a:pt x="2035880" y="3459856"/>
                  <a:pt x="2329130" y="3532775"/>
                  <a:pt x="2588468" y="3678558"/>
                </a:cubicBezTo>
                <a:cubicBezTo>
                  <a:pt x="2847820" y="3824369"/>
                  <a:pt x="3049288" y="4026414"/>
                  <a:pt x="3192922" y="4284692"/>
                </a:cubicBezTo>
                <a:cubicBezTo>
                  <a:pt x="3336556" y="4538807"/>
                  <a:pt x="3408373" y="4830401"/>
                  <a:pt x="3408373" y="5159502"/>
                </a:cubicBezTo>
                <a:cubicBezTo>
                  <a:pt x="3408373" y="5488604"/>
                  <a:pt x="3336556" y="5782294"/>
                  <a:pt x="3192922" y="6040572"/>
                </a:cubicBezTo>
                <a:cubicBezTo>
                  <a:pt x="3049288" y="6294687"/>
                  <a:pt x="2847820" y="6494635"/>
                  <a:pt x="2588468" y="6640446"/>
                </a:cubicBezTo>
                <a:cubicBezTo>
                  <a:pt x="2393965" y="6749783"/>
                  <a:pt x="2180386" y="6818135"/>
                  <a:pt x="1947729" y="6845477"/>
                </a:cubicBezTo>
                <a:lnTo>
                  <a:pt x="1728785" y="6858000"/>
                </a:lnTo>
                <a:lnTo>
                  <a:pt x="1688642" y="6858000"/>
                </a:lnTo>
                <a:lnTo>
                  <a:pt x="1469698" y="6845477"/>
                </a:lnTo>
                <a:cubicBezTo>
                  <a:pt x="1237042" y="6818135"/>
                  <a:pt x="1023462" y="6749783"/>
                  <a:pt x="828957" y="6640446"/>
                </a:cubicBezTo>
                <a:cubicBezTo>
                  <a:pt x="573607" y="6494635"/>
                  <a:pt x="372123" y="6294687"/>
                  <a:pt x="224498" y="6040572"/>
                </a:cubicBezTo>
                <a:cubicBezTo>
                  <a:pt x="80865" y="5782294"/>
                  <a:pt x="9049" y="5488604"/>
                  <a:pt x="9049" y="5159502"/>
                </a:cubicBezTo>
                <a:cubicBezTo>
                  <a:pt x="9049" y="4830401"/>
                  <a:pt x="80865" y="4538807"/>
                  <a:pt x="224498" y="4284692"/>
                </a:cubicBezTo>
                <a:cubicBezTo>
                  <a:pt x="372123" y="4026414"/>
                  <a:pt x="573607" y="3824369"/>
                  <a:pt x="828957" y="3678558"/>
                </a:cubicBezTo>
                <a:cubicBezTo>
                  <a:pt x="1088296" y="3532775"/>
                  <a:pt x="1381548" y="3459856"/>
                  <a:pt x="1708713" y="3459856"/>
                </a:cubicBezTo>
                <a:close/>
                <a:moveTo>
                  <a:pt x="3453272" y="3457153"/>
                </a:moveTo>
                <a:lnTo>
                  <a:pt x="5155643" y="3457153"/>
                </a:lnTo>
                <a:cubicBezTo>
                  <a:pt x="5478130" y="3457153"/>
                  <a:pt x="5639387" y="3457153"/>
                  <a:pt x="5773314" y="3484484"/>
                </a:cubicBezTo>
                <a:cubicBezTo>
                  <a:pt x="6305846" y="3592953"/>
                  <a:pt x="6722213" y="4009315"/>
                  <a:pt x="6830683" y="4541840"/>
                </a:cubicBezTo>
                <a:cubicBezTo>
                  <a:pt x="6854599" y="4659024"/>
                  <a:pt x="6857588" y="4797132"/>
                  <a:pt x="6857962" y="5045867"/>
                </a:cubicBezTo>
                <a:lnTo>
                  <a:pt x="6858000" y="5127440"/>
                </a:lnTo>
                <a:lnTo>
                  <a:pt x="6858000" y="6858000"/>
                </a:lnTo>
                <a:lnTo>
                  <a:pt x="3453272" y="6858000"/>
                </a:lnTo>
                <a:close/>
                <a:moveTo>
                  <a:pt x="6442695" y="0"/>
                </a:moveTo>
                <a:cubicBezTo>
                  <a:pt x="6618970" y="0"/>
                  <a:pt x="6770221" y="107180"/>
                  <a:pt x="6834829" y="259930"/>
                </a:cubicBezTo>
                <a:lnTo>
                  <a:pt x="6858000" y="334574"/>
                </a:lnTo>
                <a:lnTo>
                  <a:pt x="6858000" y="3070133"/>
                </a:lnTo>
                <a:lnTo>
                  <a:pt x="6834829" y="3144774"/>
                </a:lnTo>
                <a:cubicBezTo>
                  <a:pt x="6770221" y="3297517"/>
                  <a:pt x="6618970" y="3404698"/>
                  <a:pt x="6442695" y="3404698"/>
                </a:cubicBezTo>
                <a:cubicBezTo>
                  <a:pt x="6207636" y="3404698"/>
                  <a:pt x="6017089" y="3214154"/>
                  <a:pt x="6017089" y="2979125"/>
                </a:cubicBezTo>
                <a:lnTo>
                  <a:pt x="6017089" y="425587"/>
                </a:lnTo>
                <a:cubicBezTo>
                  <a:pt x="6017089" y="190543"/>
                  <a:pt x="6207636" y="0"/>
                  <a:pt x="6442695" y="0"/>
                </a:cubicBezTo>
                <a:close/>
                <a:moveTo>
                  <a:pt x="3455975" y="0"/>
                </a:moveTo>
                <a:lnTo>
                  <a:pt x="5741184" y="0"/>
                </a:lnTo>
                <a:lnTo>
                  <a:pt x="5741184" y="3404698"/>
                </a:lnTo>
                <a:cubicBezTo>
                  <a:pt x="4871823" y="3404698"/>
                  <a:pt x="4437143" y="3404698"/>
                  <a:pt x="4115924" y="3212692"/>
                </a:cubicBezTo>
                <a:cubicBezTo>
                  <a:pt x="3923695" y="3097770"/>
                  <a:pt x="3762907" y="2937012"/>
                  <a:pt x="3647983" y="2744760"/>
                </a:cubicBezTo>
                <a:cubicBezTo>
                  <a:pt x="3455975" y="2423551"/>
                  <a:pt x="3455975" y="1988882"/>
                  <a:pt x="3455975" y="1119542"/>
                </a:cubicBezTo>
                <a:close/>
                <a:moveTo>
                  <a:pt x="1698448" y="0"/>
                </a:moveTo>
                <a:cubicBezTo>
                  <a:pt x="2020916" y="0"/>
                  <a:pt x="2182148" y="0"/>
                  <a:pt x="2316116" y="27304"/>
                </a:cubicBezTo>
                <a:cubicBezTo>
                  <a:pt x="2848730" y="135857"/>
                  <a:pt x="3264960" y="552093"/>
                  <a:pt x="3373513" y="1084695"/>
                </a:cubicBezTo>
                <a:cubicBezTo>
                  <a:pt x="3400817" y="1218659"/>
                  <a:pt x="3400817" y="1379889"/>
                  <a:pt x="3400817" y="1702352"/>
                </a:cubicBezTo>
                <a:lnTo>
                  <a:pt x="3400817" y="3404699"/>
                </a:lnTo>
                <a:lnTo>
                  <a:pt x="1698448" y="3404699"/>
                </a:lnTo>
                <a:cubicBezTo>
                  <a:pt x="1375983" y="3404699"/>
                  <a:pt x="1214748" y="3404699"/>
                  <a:pt x="1080783" y="3377395"/>
                </a:cubicBezTo>
                <a:cubicBezTo>
                  <a:pt x="548174" y="3268844"/>
                  <a:pt x="131932" y="2852620"/>
                  <a:pt x="23378" y="2320011"/>
                </a:cubicBezTo>
                <a:cubicBezTo>
                  <a:pt x="13139" y="2269774"/>
                  <a:pt x="6740" y="2215703"/>
                  <a:pt x="2740" y="2150733"/>
                </a:cubicBezTo>
                <a:lnTo>
                  <a:pt x="0" y="2092728"/>
                </a:lnTo>
                <a:lnTo>
                  <a:pt x="0" y="1311978"/>
                </a:lnTo>
                <a:lnTo>
                  <a:pt x="2740" y="1253972"/>
                </a:lnTo>
                <a:cubicBezTo>
                  <a:pt x="6740" y="1189002"/>
                  <a:pt x="13139" y="1134932"/>
                  <a:pt x="23378" y="1084695"/>
                </a:cubicBezTo>
                <a:cubicBezTo>
                  <a:pt x="131932" y="552093"/>
                  <a:pt x="548174" y="135857"/>
                  <a:pt x="1080783" y="27304"/>
                </a:cubicBezTo>
                <a:cubicBezTo>
                  <a:pt x="1214748" y="0"/>
                  <a:pt x="1375980" y="0"/>
                  <a:pt x="1698448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 QR + подпись">
  <p:cSld name="Финальный с QR + подпись">
    <p:bg>
      <p:bgPr>
        <a:solidFill>
          <a:schemeClr val="accen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23251" y="692149"/>
            <a:ext cx="6168749" cy="616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9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7" name="Google Shape;13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Финальный с QR + подпись">
  <p:cSld name="3_Финальный с QR + подпись">
    <p:bg>
      <p:bgPr>
        <a:solidFill>
          <a:schemeClr val="accen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  <a:defRPr sz="6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b="0" i="0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297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Финальный с QR + подпись">
  <p:cSld name="2_Финальный с QR + подпись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1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1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8" name="Google Shape;14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3157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Финальный с QR + подпись">
  <p:cSld name="4_Финальный с QR + подпись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620713" y="2483712"/>
            <a:ext cx="5475287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2"/>
          <p:cNvSpPr/>
          <p:nvPr>
            <p:ph idx="2" type="pic"/>
          </p:nvPr>
        </p:nvSpPr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658813" y="4161565"/>
            <a:ext cx="5437187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5711140"/>
            <a:ext cx="2772300" cy="489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4220" y="0"/>
            <a:ext cx="339778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1" name="Google Shape;161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объект">
  <p:cSld name="Заголовок + объект">
    <p:bg>
      <p:bgPr>
        <a:solidFill>
          <a:schemeClr val="lt2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idx="1" type="body"/>
          </p:nvPr>
        </p:nvSpPr>
        <p:spPr>
          <a:xfrm>
            <a:off x="658813" y="1773238"/>
            <a:ext cx="10874375" cy="444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+ 2 объекта">
  <p:cSld name="Заголовок + 2 объекта">
    <p:bg>
      <p:bgPr>
        <a:solidFill>
          <a:schemeClr val="lt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677334" y="1773238"/>
            <a:ext cx="531706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2" type="body"/>
          </p:nvPr>
        </p:nvSpPr>
        <p:spPr>
          <a:xfrm>
            <a:off x="6197604" y="1773238"/>
            <a:ext cx="5317062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">
  <p:cSld name="1 фото">
    <p:bg>
      <p:bgPr>
        <a:solidFill>
          <a:schemeClr val="lt2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>
            <p:ph idx="2" type="pic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1" name="Google Shape;171;p27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idx="1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1 фото">
  <p:cSld name="1_1 фото">
    <p:bg>
      <p:bgPr>
        <a:solidFill>
          <a:schemeClr val="lt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/>
          <p:nvPr>
            <p:ph idx="2" type="pic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5" name="Google Shape;175;p28"/>
          <p:cNvSpPr txBox="1"/>
          <p:nvPr>
            <p:ph type="title"/>
          </p:nvPr>
        </p:nvSpPr>
        <p:spPr>
          <a:xfrm>
            <a:off x="6870171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6864351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фото + подпись">
  <p:cSld name="1 фото + подпись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/>
          <p:nvPr>
            <p:ph idx="2" type="pic"/>
          </p:nvPr>
        </p:nvSpPr>
        <p:spPr>
          <a:xfrm>
            <a:off x="6096000" y="692151"/>
            <a:ext cx="5437188" cy="41821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6096000" y="5147214"/>
            <a:ext cx="5449888" cy="3528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3" type="body"/>
          </p:nvPr>
        </p:nvSpPr>
        <p:spPr>
          <a:xfrm>
            <a:off x="6096000" y="5553075"/>
            <a:ext cx="5449888" cy="684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type="title"/>
          </p:nvPr>
        </p:nvSpPr>
        <p:spPr>
          <a:xfrm>
            <a:off x="677334" y="692150"/>
            <a:ext cx="4663017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4" type="body"/>
          </p:nvPr>
        </p:nvSpPr>
        <p:spPr>
          <a:xfrm>
            <a:off x="671514" y="2018599"/>
            <a:ext cx="4649786" cy="4182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>
                <a:latin typeface="Play"/>
                <a:ea typeface="Play"/>
                <a:cs typeface="Play"/>
                <a:sym typeface="Play"/>
              </a:defRPr>
            </a:lvl1pPr>
            <a:lvl2pPr indent="-3175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 b="0" i="0"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b="0" i="0"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 раздела">
  <p:cSld name="1_Титульный слайд раздела">
    <p:bg>
      <p:bgPr>
        <a:solidFill>
          <a:schemeClr val="dk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28" name="Google Shape;22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33225" y="699157"/>
            <a:ext cx="6166658" cy="6166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Титульный слайд раздела">
  <p:cSld name="3_Титульный слайд раздела"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title"/>
          </p:nvPr>
        </p:nvSpPr>
        <p:spPr>
          <a:xfrm>
            <a:off x="603172" y="692150"/>
            <a:ext cx="4621372" cy="1181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Play"/>
              <a:buNone/>
              <a:defRPr sz="4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07980" y="0"/>
            <a:ext cx="33942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3" name="Google Shape;1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4" name="Google Shape;1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2" name="Google Shape;32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3" name="Google Shape;33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" name="Google Shape;34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3782BA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658813" y="1773238"/>
            <a:ext cx="10855852" cy="4464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−"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86" name="Google Shape;186;p30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87" name="Google Shape;18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5" name="Google Shape;19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6" name="Google Shape;19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7" name="Google Shape;19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8" name="Google Shape;19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9" name="Google Shape;19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0" name="Google Shape;20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1" name="Google Shape;20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2" name="Google Shape;20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3" name="Google Shape;20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4" name="Google Shape;20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5" name="Google Shape;20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206" name="Google Shape;206;p30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207" name="Google Shape;207;p30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8" name="Google Shape;208;p30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9" name="Google Shape;209;p30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0" name="Google Shape;210;p30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30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30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30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30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30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30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30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30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30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30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30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30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30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30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30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15">
          <p15:clr>
            <a:srgbClr val="FDE53C"/>
          </p15:clr>
        </p15:guide>
        <p15:guide id="2" pos="7265">
          <p15:clr>
            <a:srgbClr val="FDE53C"/>
          </p15:clr>
        </p15:guide>
        <p15:guide id="3" orient="horz" pos="3906">
          <p15:clr>
            <a:srgbClr val="FDE53C"/>
          </p15:clr>
        </p15:guide>
        <p15:guide id="4" pos="3840">
          <p15:clr>
            <a:srgbClr val="FDE53C"/>
          </p15:clr>
        </p15:guide>
        <p15:guide id="5" orient="horz" pos="436">
          <p15:clr>
            <a:srgbClr val="FDE53C"/>
          </p15:clr>
        </p15:guide>
        <p15:guide id="6" orient="horz" pos="1117">
          <p15:clr>
            <a:srgbClr val="FDE53C"/>
          </p15:clr>
        </p15:guide>
      </p15:sldGuideLst>
    </p:ext>
  </p:extLst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7.png"/><Relationship Id="rId3" Type="http://schemas.openxmlformats.org/officeDocument/2006/relationships/image" Target="../media/image228.png"/><Relationship Id="rId4" Type="http://schemas.openxmlformats.org/officeDocument/2006/relationships/image" Target="../media/image229.png"/><Relationship Id="rId5" Type="http://schemas.openxmlformats.org/officeDocument/2006/relationships/image" Target="../media/image230.png"/><Relationship Id="rId6" Type="http://schemas.openxmlformats.org/officeDocument/2006/relationships/image" Target="../media/image231.png"/><Relationship Id="rId7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8" Type="http://schemas.openxmlformats.org/officeDocument/2006/relationships/image" Target="../media/image258.png"/><Relationship Id="rId9" Type="http://schemas.openxmlformats.org/officeDocument/2006/relationships/image" Target="../media/image259.png"/><Relationship Id="rId10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www.figma.com/file/sVARvsqs7Npc84xaHlniX7/%F0%9F%A7%A9-VKUI-Icons-Library?type=design&amp;node-id=94%3A6307&amp;mode=design&amp;t=5iYjSQsap5UdmwiW-1" TargetMode="External"/><Relationship Id="rId3" Type="http://schemas.openxmlformats.org/officeDocument/2006/relationships/image" Target="../media/image237.png"/><Relationship Id="rId4" Type="http://schemas.openxmlformats.org/officeDocument/2006/relationships/image" Target="../media/image229.png"/><Relationship Id="rId5" Type="http://schemas.openxmlformats.org/officeDocument/2006/relationships/image" Target="../media/image238.png"/><Relationship Id="rId6" Type="http://schemas.openxmlformats.org/officeDocument/2006/relationships/image" Target="../media/image260.png"/><Relationship Id="rId7" Type="http://schemas.openxmlformats.org/officeDocument/2006/relationships/image" Target="../media/image261.png"/><Relationship Id="rId8" Type="http://schemas.openxmlformats.org/officeDocument/2006/relationships/image" Target="../media/image262.png"/><Relationship Id="rId9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65.xm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658813" y="4866865"/>
            <a:ext cx="501264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sz="1400"/>
              <a:t xml:space="preserve">Предлагаем перевести все витрины на потоковую модель для получения данных к 8:30 утра.</a:t>
            </a:r>
          </a:p>
        </p:txBody>
      </p:sp>
      <p:sp>
        <p:nvSpPr>
          <p:cNvPr id="237" name="Google Shape;237;p33"/>
          <p:cNvSpPr txBox="1"/>
          <p:nvPr>
            <p:ph type="title"/>
          </p:nvPr>
        </p:nvSpPr>
        <p:spPr>
          <a:xfrm>
            <a:off x="622261" y="2921912"/>
            <a:ext cx="5167056" cy="166199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sz="2000"/>
              <a:t xml:space="preserve">Перевод всех витрин на потоковую модель загрузки обеспечит получение данных к 8:30 утра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3200"/>
              <a:t xml:space="preserve">Отчёт по продажам будет готов к 8:30 утра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Новое время готовности — ключевой показатель эффективности инициативы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Это сокращает время ожидания данных с 11:00 до 8:30, давая операционным командам больше времени на анализ.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46" name="Google Shape;946;p75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4.5 раза</a:t>
            </a:r>
          </a:p>
        </p:txBody>
      </p:sp>
      <p:grpSp>
        <p:nvGrpSpPr>
          <p:cNvPr id="947" name="Google Shape;947;p75"/>
          <p:cNvGrpSpPr/>
          <p:nvPr/>
        </p:nvGrpSpPr>
        <p:grpSpPr>
          <a:xfrm>
            <a:off x="620176" y="1913757"/>
            <a:ext cx="11003859" cy="4036070"/>
            <a:chOff x="1361698" y="2081183"/>
            <a:chExt cx="10292923" cy="3775309"/>
          </a:xfrm>
        </p:grpSpPr>
        <p:grpSp>
          <p:nvGrpSpPr>
            <p:cNvPr id="965" name="Google Shape;965;p75"/>
            <p:cNvGrpSpPr/>
            <p:nvPr/>
          </p:nvGrpSpPr>
          <p:grpSpPr>
            <a:xfrm>
              <a:off x="2471370" y="2230394"/>
              <a:ext cx="8860528" cy="2553236"/>
              <a:chOff x="0" y="0"/>
              <a:chExt cx="17721052" cy="5106469"/>
            </a:xfrm>
          </p:grpSpPr>
          <p:cxnSp>
            <p:nvCxnSpPr>
              <p:cNvPr id="970" name="Google Shape;970;p75"/>
              <p:cNvCxnSpPr/>
              <p:nvPr/>
            </p:nvCxnSpPr>
            <p:spPr>
              <a:xfrm>
                <a:off x="0" y="0"/>
                <a:ext cx="17721052" cy="0"/>
              </a:xfrm>
              <a:prstGeom prst="straightConnector1">
                <a:avLst/>
              </a:prstGeom>
              <a:noFill/>
              <a:ln cap="flat" cmpd="sng" w="25400">
                <a:solidFill>
                  <a:srgbClr val="E1E1E1"/>
                </a:solidFill>
                <a:prstDash val="solid"/>
                <a:miter lim="4000"/>
                <a:headEnd len="sm" w="sm" type="none"/>
                <a:tailEnd len="sm" w="sm" type="none"/>
              </a:ln>
            </p:spPr>
          </p:cxnSp>
        </p:grpSp>
      </p:grpSp>
      <p:graphicFrame>
        <p:nvGraphicFramePr>
          <p:cNvPr id="971" name="Chart 970"/>
          <p:cNvGraphicFramePr>
            <a:graphicFrameLocks noGrp="1"/>
          </p:cNvGraphicFramePr>
          <p:nvPr/>
        </p:nvGraphicFramePr>
        <p:xfrm>
          <a:off x="623011" y="1473551"/>
          <a:ext cx="11142269" cy="472745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Шестинедельный пилот на двух витринах позволяет точно прогнозировать сроки для полного масштабирования проекта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Время, затраченное на тестирование на двух витринах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73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6 недель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Срок внедрения на малом масштабе позволяет прогнозировать сроки для полного перехода.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3" name="Google Shape;443;p50"/>
          <p:cNvSpPr/>
          <p:nvPr/>
        </p:nvSpPr>
        <p:spPr>
          <a:xfrm>
            <a:off x="658813" y="1794065"/>
            <a:ext cx="6130294" cy="4406709"/>
          </a:xfrm>
          <a:prstGeom prst="roundRect">
            <a:avLst>
              <a:gd fmla="val 4444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5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Рост затрат на инфраструктуру составил 12 %</a:t>
            </a:r>
          </a:p>
        </p:txBody>
      </p:sp>
      <p:sp>
        <p:nvSpPr>
          <p:cNvPr id="447" name="Google Shape;447;p50"/>
          <p:cNvSpPr txBox="1"/>
          <p:nvPr>
            <p:ph idx="4" type="body"/>
          </p:nvPr>
        </p:nvSpPr>
        <p:spPr>
          <a:xfrm>
            <a:off x="8112125" y="2139491"/>
            <a:ext cx="54173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None/>
            </a:pPr>
            <a:endParaRPr lang="ru-RU"/>
          </a:p>
        </p:txBody>
      </p:sp>
      <p:sp>
        <p:nvSpPr>
          <p:cNvPr id="448" name="Google Shape;448;p50"/>
          <p:cNvSpPr txBox="1"/>
          <p:nvPr>
            <p:ph idx="5" type="body"/>
          </p:nvPr>
        </p:nvSpPr>
        <p:spPr>
          <a:xfrm>
            <a:off x="8112126" y="3204251"/>
            <a:ext cx="4494461" cy="755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ru-RU" sz="1600"/>
              <a:t xml:space="preserve">Процентный рост расходов на инфраструктуру</a:t>
            </a:r>
          </a:p>
        </p:txBody>
      </p:sp>
      <p:sp>
        <p:nvSpPr>
          <p:cNvPr id="449" name="Google Shape;449;p5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50"/>
          <p:cNvSpPr txBox="1"/>
          <p:nvPr/>
        </p:nvSpPr>
        <p:spPr>
          <a:xfrm>
            <a:off x="1022258" y="2740903"/>
            <a:ext cx="5417327" cy="2437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non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900"/>
              <a:buFont typeface="Arial"/>
              <a:buNone/>
            </a:pPr>
            <a:r>
              <a:rPr b="1" i="0" lang="ru-RU" sz="14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451" name="Google Shape;451;p50"/>
          <p:cNvSpPr txBox="1"/>
          <p:nvPr/>
        </p:nvSpPr>
        <p:spPr>
          <a:xfrm>
            <a:off x="1134802" y="5213202"/>
            <a:ext cx="5417326" cy="850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ru-RU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Финансовые издержки на поддержание новой архитектуры умеренны и оправданы эффектом от ускорения.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63" name="Google Shape;763;p58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более раннюю доступность данных и меньшее количество сбоев</a:t>
            </a:r>
          </a:p>
        </p:txBody>
      </p:sp>
      <p:sp>
        <p:nvSpPr>
          <p:cNvPr id="764" name="Google Shape;764;p58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58"/>
          <p:cNvSpPr txBox="1"/>
          <p:nvPr/>
        </p:nvSpPr>
        <p:spPr>
          <a:xfrm>
            <a:off x="658811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 — Отчёт готов к 11:00, 9 инцидентов в месяц</a:t>
            </a:r>
          </a:p>
        </p:txBody>
      </p:sp>
      <p:sp>
        <p:nvSpPr>
          <p:cNvPr id="766" name="Google Shape;766;p58"/>
          <p:cNvSpPr txBox="1"/>
          <p:nvPr/>
        </p:nvSpPr>
        <p:spPr>
          <a:xfrm>
            <a:off x="4385469" y="3774296"/>
            <a:ext cx="2880000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 — Отчёт готов к 8:30, 2 инцидента в месяц</a:t>
            </a:r>
          </a:p>
        </p:txBody>
      </p:sp>
      <p:sp>
        <p:nvSpPr>
          <p:cNvPr id="767" name="Google Shape;767;p58"/>
          <p:cNvSpPr txBox="1"/>
          <p:nvPr/>
        </p:nvSpPr>
        <p:spPr>
          <a:xfrm>
            <a:off x="8112126" y="3774296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68" name="Google Shape;768;p58"/>
          <p:cNvSpPr/>
          <p:nvPr/>
        </p:nvSpPr>
        <p:spPr>
          <a:xfrm>
            <a:off x="671513" y="2555950"/>
            <a:ext cx="866700" cy="866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69" name="Google Shape;769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9438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8171" y="2555950"/>
            <a:ext cx="866700" cy="8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5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06096" y="2763875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58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794" name="Google Shape;794;p6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Пилот подтвердил техническую и экономическую целесообразность решения</a:t>
            </a:r>
          </a:p>
        </p:txBody>
      </p:sp>
      <p:sp>
        <p:nvSpPr>
          <p:cNvPr id="795" name="Google Shape;795;p60"/>
          <p:cNvSpPr txBox="1"/>
          <p:nvPr/>
        </p:nvSpPr>
        <p:spPr>
          <a:xfrm>
            <a:off x="18692059" y="4674436"/>
            <a:ext cx="4304330" cy="678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60"/>
          <p:cNvSpPr txBox="1"/>
          <p:nvPr/>
        </p:nvSpPr>
        <p:spPr>
          <a:xfrm>
            <a:off x="658811" y="6003053"/>
            <a:ext cx="6421611" cy="325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lang="ru-RU" sz="16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797" name="Google Shape;797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96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49400" y="2594667"/>
            <a:ext cx="450851" cy="45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07181" y="2594667"/>
            <a:ext cx="450850" cy="4508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0"/>
          <p:cNvSpPr txBox="1"/>
          <p:nvPr/>
        </p:nvSpPr>
        <p:spPr>
          <a:xfrm>
            <a:off x="658811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Данные доступны к 8:30 вместо 11:00</a:t>
            </a:r>
          </a:p>
        </p:txBody>
      </p:sp>
      <p:sp>
        <p:nvSpPr>
          <p:cNvPr id="801" name="Google Shape;801;p60"/>
          <p:cNvSpPr txBox="1"/>
          <p:nvPr/>
        </p:nvSpPr>
        <p:spPr>
          <a:xfrm>
            <a:off x="310103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Инциденты упали с 9 до 2 в месяц</a:t>
            </a:r>
          </a:p>
        </p:txBody>
      </p:sp>
      <p:sp>
        <p:nvSpPr>
          <p:cNvPr id="802" name="Google Shape;802;p60"/>
          <p:cNvSpPr txBox="1"/>
          <p:nvPr/>
        </p:nvSpPr>
        <p:spPr>
          <a:xfrm>
            <a:off x="8112126" y="3273458"/>
            <a:ext cx="2880000" cy="1464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Успешное тестирование на двух витринах подтвердило техническую и экономическую целесообразность.</a:t>
            </a:r>
          </a:p>
        </p:txBody>
      </p:sp>
      <p:sp>
        <p:nvSpPr>
          <p:cNvPr id="803" name="Google Shape;801;p60"/>
          <p:cNvSpPr txBox="1"/>
          <p:nvPr/>
        </p:nvSpPr>
        <p:spPr>
          <a:xfrm>
            <a:off x="5543250" y="3273458"/>
            <a:ext cx="1722219" cy="1233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-RU" sz="1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Рост инфраструктуры на 12 %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/>
      <p:sp>
        <p:nvSpPr>
          <p:cNvPr id="490" name="Google Shape;490;p53"/>
          <p:cNvSpPr txBox="1"/>
          <p:nvPr>
            <p:ph type="title"/>
          </p:nvPr>
        </p:nvSpPr>
        <p:spPr>
          <a:xfrm>
            <a:off x="677863" y="692150"/>
            <a:ext cx="10874375" cy="1081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Поэтапный перевод 14 витрин минимизирует риски и обеспечивает контроль качества на каждом этапе</a:t>
            </a:r>
          </a:p>
        </p:txBody>
      </p:sp>
      <p:grpSp>
        <p:nvGrpSpPr>
          <p:cNvPr id="491" name="Google Shape;491;p53"/>
          <p:cNvGrpSpPr/>
          <p:nvPr/>
        </p:nvGrpSpPr>
        <p:grpSpPr>
          <a:xfrm>
            <a:off x="658812" y="2232530"/>
            <a:ext cx="10639191" cy="3299588"/>
            <a:chOff x="658812" y="2232530"/>
            <a:chExt cx="9830124" cy="3048668"/>
          </a:xfrm>
        </p:grpSpPr>
        <p:sp>
          <p:nvSpPr>
            <p:cNvPr id="492" name="Google Shape;492;p53"/>
            <p:cNvSpPr txBox="1"/>
            <p:nvPr/>
          </p:nvSpPr>
          <p:spPr>
            <a:xfrm>
              <a:off x="4000456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Миграция пачками путем перевода витрин группами по 3-4 единицы</a:t>
              </a:r>
            </a:p>
          </p:txBody>
        </p:sp>
        <p:sp>
          <p:nvSpPr>
            <p:cNvPr id="493" name="Google Shape;493;p53"/>
            <p:cNvSpPr txBox="1"/>
            <p:nvPr/>
          </p:nvSpPr>
          <p:spPr>
            <a:xfrm>
              <a:off x="7342101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Верификация точности и сроков доставки данных после миграции</a:t>
              </a:r>
            </a:p>
          </p:txBody>
        </p:sp>
        <p:sp>
          <p:nvSpPr>
            <p:cNvPr id="495" name="Google Shape;495;p53"/>
            <p:cNvSpPr txBox="1"/>
            <p:nvPr/>
          </p:nvSpPr>
          <p:spPr>
            <a:xfrm>
              <a:off x="658812" y="3260026"/>
              <a:ext cx="3147921" cy="20211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ru-RU" sz="1200">
                  <a:solidFill>
                    <a:schemeClr val="dk1"/>
                  </a:solidFill>
                  <a:latin typeface="Play"/>
                  <a:ea typeface="Play"/>
                  <a:cs typeface="Play"/>
                  <a:sym typeface="Play"/>
                </a:rPr>
                <a:t xml:space="preserve">Аудит витрин для оценки готовности данных к потоковой обработке</a:t>
              </a:r>
            </a:p>
          </p:txBody>
        </p:sp>
        <p:sp>
          <p:nvSpPr>
            <p:cNvPr id="496" name="Google Shape;496;p53"/>
            <p:cNvSpPr/>
            <p:nvPr/>
          </p:nvSpPr>
          <p:spPr>
            <a:xfrm>
              <a:off x="658813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1</a:t>
              </a:r>
            </a:p>
          </p:txBody>
        </p:sp>
        <p:sp>
          <p:nvSpPr>
            <p:cNvPr id="497" name="Google Shape;497;p53"/>
            <p:cNvSpPr/>
            <p:nvPr/>
          </p:nvSpPr>
          <p:spPr>
            <a:xfrm>
              <a:off x="4000458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2</a:t>
              </a:r>
            </a:p>
          </p:txBody>
        </p:sp>
        <p:sp>
          <p:nvSpPr>
            <p:cNvPr id="498" name="Google Shape;498;p53"/>
            <p:cNvSpPr/>
            <p:nvPr/>
          </p:nvSpPr>
          <p:spPr>
            <a:xfrm>
              <a:off x="7342102" y="2232530"/>
              <a:ext cx="1090083" cy="80079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3200">
                  <a:solidFill>
                    <a:schemeClr val="lt2"/>
                  </a:solidFill>
                  <a:latin typeface="Play"/>
                  <a:ea typeface="Play"/>
                  <a:cs typeface="Play"/>
                  <a:sym typeface="Play"/>
                </a:rPr>
                <a:t xml:space="preserve">3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7" name="Google Shape;887;p70"/>
          <p:cNvSpPr txBox="1"/>
          <p:nvPr>
            <p:ph type="title"/>
          </p:nvPr>
        </p:nvSpPr>
        <p:spPr>
          <a:xfrm>
            <a:off x="677334" y="692150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lay"/>
              <a:buNone/>
            </a:pPr>
            <a:r>
              <a:rPr lang="ru-RU" sz="2000"/>
              <a:t xml:space="preserve">Переход привёл к улучшению всех ключевых показателей эффективности</a:t>
            </a:r>
          </a:p>
        </p:txBody>
      </p:sp>
      <p:sp>
        <p:nvSpPr>
          <p:cNvPr id="888" name="Google Shape;888;p70"/>
          <p:cNvSpPr txBox="1"/>
          <p:nvPr>
            <p:ph idx="4294967295" type="body"/>
          </p:nvPr>
        </p:nvSpPr>
        <p:spPr>
          <a:xfrm>
            <a:off x="677863" y="1773238"/>
            <a:ext cx="4454525" cy="44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5588" lvl="1" marL="255588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ru-RU" sz="1600"/>
              <a:t xml:space="preserve">Таблица наглядно демонстрирует улучшение всех ключевых показателей эффективности.</a:t>
            </a:r>
          </a:p>
        </p:txBody>
      </p:sp>
      <p:graphicFrame>
        <p:nvGraphicFramePr>
          <p:cNvPr id="889" name="Table 888"/>
          <p:cNvGraphicFramePr>
            <a:graphicFrameLocks noGrp="1"/>
          </p:cNvGraphicFramePr>
          <p:nvPr/>
        </p:nvGraphicFramePr>
        <p:xfrm>
          <a:off x="5132388" y="1473551"/>
          <a:ext cx="663289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0964"/>
                <a:gridCol w="2210964"/>
                <a:gridCol w="2210964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До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После перехода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Время готовности отчёта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8:30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Инциденты в месяц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Затраты на инфраструктуру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База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Play"/>
                        </a:rPr>
                        <a:t>+12 %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75" name="Google Shape;1075;p84"/>
          <p:cNvSpPr txBox="1"/>
          <p:nvPr>
            <p:ph type="title"/>
          </p:nvPr>
        </p:nvSpPr>
        <p:spPr>
          <a:xfrm>
            <a:off x="620713" y="2483712"/>
            <a:ext cx="51586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Play"/>
              <a:buNone/>
            </a:pPr>
            <a:r>
              <a:rPr lang="ru-RU" sz="3200"/>
              <a:t xml:space="preserve">Утвердите перевод 14 витрин до конца квартала</a:t>
            </a:r>
          </a:p>
        </p:txBody>
      </p:sp>
      <p:pic>
        <p:nvPicPr>
          <p:cNvPr id="1076" name="Google Shape;1076;p84"/>
          <p:cNvPicPr preferRelativeResize="0"/>
          <p:nvPr>
            <p:ph idx="2" type="pic"/>
          </p:nvPr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8813" y="692150"/>
            <a:ext cx="1081088" cy="108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4"/>
          <p:cNvSpPr txBox="1"/>
          <p:nvPr>
            <p:ph idx="1" type="body"/>
          </p:nvPr>
        </p:nvSpPr>
        <p:spPr>
          <a:xfrm>
            <a:off x="658813" y="4161565"/>
            <a:ext cx="5120598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</a:pPr>
            <a:r>
              <a:rPr lang="ru-RU" sz="1200"/>
              <a:t xml:space="preserve">Запустите миграцию оставшихся витрин в текущем квартале.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K New Color">
  <a:themeElements>
    <a:clrScheme name="VK Education">
      <a:dk1>
        <a:srgbClr val="000000"/>
      </a:dk1>
      <a:lt1>
        <a:srgbClr val="EBF3F9"/>
      </a:lt1>
      <a:dk2>
        <a:srgbClr val="0077FF"/>
      </a:dk2>
      <a:lt2>
        <a:srgbClr val="FFFFFF"/>
      </a:lt2>
      <a:accent1>
        <a:srgbClr val="0077FF"/>
      </a:accent1>
      <a:accent2>
        <a:srgbClr val="FF3885"/>
      </a:accent2>
      <a:accent3>
        <a:srgbClr val="7CEDF8"/>
      </a:accent3>
      <a:accent4>
        <a:srgbClr val="EBF3F9"/>
      </a:accent4>
      <a:accent5>
        <a:srgbClr val="D8FAFD"/>
      </a:accent5>
      <a:accent6>
        <a:srgbClr val="FFEBF3"/>
      </a:accent6>
      <a:hlink>
        <a:srgbClr val="0077FF"/>
      </a:hlink>
      <a:folHlink>
        <a:srgbClr val="005E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