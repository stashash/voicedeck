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3"/>
    <p:sldMasterId id="2147483688" r:id="rId4"/>
  </p:sldMasterIdLst>
  <p:notesMasterIdLst>
    <p:notesMasterId r:id="rId5"/>
  </p:notesMasterIdLst>
  <p:sldIdLst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</p:sldIdLst>
  <p:sldSz cy="5143500" cx="9144000"/>
  <p:notesSz cx="6858000" cy="9144000"/>
  <p:embeddedFontLst>
    <p:embeddedFont>
      <p:font typeface="Play"/>
      <p:regular r:id="rId60"/>
      <p:bold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0" Type="http://schemas.openxmlformats.org/officeDocument/2006/relationships/font" Target="fonts/Play-regular.fntdata"/><Relationship Id="rId61" Type="http://schemas.openxmlformats.org/officeDocument/2006/relationships/font" Target="fonts/Play-bold.fntdata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Инциденты в месяц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Sheet1!$A$2:$A$3</c:f>
              <c:strCache>
                <c:ptCount val="2"/>
                <c:pt idx="0">
                  <c:v>До пилота</c:v>
                </c:pt>
                <c:pt idx="1">
                  <c:v>После пилота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9.0</c:v>
                </c:pt>
                <c:pt idx="1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001515"/>
              </a:solidFill>
            </a:ln>
          </c:spPr>
        </c:majorGridlines>
        <c:title>
          <c:tx>
            <c:rich>
              <a:bodyPr/>
              <a:lstStyle/>
              <a:p>
                <a:r>
                  <a:t>шт.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>
          <a:latin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Добрый день, коллеги. Сегодня мы обсуждаем инициативу по оптимизации процесса формирования отчётов.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Мы рассмотрим текущие проблемы, покажем результаты пилота и попросим принять решение о масштабировании.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Сейчас мы используем пакетную загрузку, из-за чего отчёт готов лишь к 11 утра.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После перехода на потоковую загрузку отчёт готов уже к 8:30 утра.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График наглядно показывает снижение числа инцидентов с опозданием отчёта.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Пилот на двух витринах занял 6 недель, что демонстрирует реалистичные сроки внедрения.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Затраты на инфраструктуру выросли на 12 %, что является разумной ценой за улучшение качества отчётов.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Сравнение показывает явное преимущество потоковой загрузки по срокам и надёжности.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Для завершения инициативы необходимо перевести оставшиеся 14 витрин до конца квартала.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Просим вас одобрить инициативу для перевода оставшихся 14 витрин на потоковую загрузку.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4" name="Google Shape;14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" name="Google Shape;15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9" name="Google Shape;19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" name="Google Shape;20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" name="Google Shape;2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" name="Google Shape;2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" name="Google Shape;24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" name="Google Shape;25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" name="Google Shape;27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" name="Google Shape;28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" name="Google Shape;29;p3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3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33" name="Google Shape;33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" name="Google Shape;34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36" name="Google Shape;36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" name="Google Shape;37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9" name="Google Shape;3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0" name="Google Shape;40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1" name="Google Shape;4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2" name="Google Shape;42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3" name="Google Shape;43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44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45" name="Google Shape;45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46" name="Google Shape;46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" name="Google Shape;47;p4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4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50" name="Google Shape;50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" name="Google Shape;51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52" name="Google Shape;52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3" name="Google Shape;53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Разделитель">
  <p:cSld name="1_Разделитель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57" name="Google Shape;57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58" name="Google Shape;58;p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9" name="Google Shape;59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1" name="Google Shape;61;p6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62" name="Google Shape;62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63" name="Google Shape;63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64" name="Google Shape;64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65" name="Google Shape;65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лайд &quot;Спасибо!&quot;">
  <p:cSld name="4_Слайд &quot;Спасибо!&quot;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69" name="Google Shape;69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0" name="Google Shape;7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" name="Google Shape;71;p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2" name="Google Shape;72;p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73" name="Google Shape;73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74" name="Google Shape;74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5" name="Google Shape;75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одержание">
  <p:cSld name="1_Содержание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78" name="Google Shape;78;p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79" name="Google Shape;79;p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80" name="Google Shape;80;p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81" name="Google Shape;81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" name="Google Shape;82;p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одержание">
  <p:cSld name="2_Содержание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90" name="Google Shape;90;p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91" name="Google Shape;91;p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92" name="Google Shape;92;p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93" name="Google Shape;93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одержание">
  <p:cSld name="3_Содержание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02" name="Google Shape;102;p1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03" name="Google Shape;103;p1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04" name="Google Shape;104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05" name="Google Shape;105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p1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Визитка">
  <p:cSld name="1_Визитка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" name="Google Shape;111;p1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12" name="Google Shape;112;p1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13" name="Google Shape;113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14" name="Google Shape;114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" name="Google Shape;115;p1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1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" name="Google Shape;119;p1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Визитка">
  <p:cSld name="4_Визитка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1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23" name="Google Shape;123;p1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24" name="Google Shape;124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25" name="Google Shape;12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" name="Google Shape;126;p1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1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1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вободный дизайн">
  <p:cSld name="1_Свободный дизайн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3" name="Google Shape;133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34" name="Google Shape;134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35" name="Google Shape;13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" name="Google Shape;136;p1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7" name="Google Shape;137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9" name="Google Shape;139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0" name="Google Shape;140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1" name="Google Shape;141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Контент">
  <p:cSld name="1_Контент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45" name="Google Shape;145;p1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46" name="Google Shape;146;p1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7" name="Google Shape;147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8" name="Google Shape;148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Контент">
  <p:cSld name="3_Контент"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2" name="Google Shape;152;p1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53" name="Google Shape;153;p1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54" name="Google Shape;154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5" name="Google Shape;155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Контент">
  <p:cSld name="5_Контент"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9" name="Google Shape;159;p1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0" name="Google Shape;160;p1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1" name="Google Shape;161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2" name="Google Shape;162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Контент">
  <p:cSld name="7_Контент"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66" name="Google Shape;166;p1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7" name="Google Shape;167;p1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8" name="Google Shape;168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9" name="Google Shape;169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Контент">
  <p:cSld name="8_Контент"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73" name="Google Shape;173;p1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74" name="Google Shape;174;p1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75" name="Google Shape;175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76" name="Google Shape;176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Контент">
  <p:cSld name="13_Контент"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1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0" name="Google Shape;180;p1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1" name="Google Shape;181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2" name="Google Shape;182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1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2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6" name="Google Shape;186;p2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7" name="Google Shape;187;p2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8" name="Google Shape;188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вободный дизайн">
  <p:cSld name="2_Свободный дизайн">
    <p:bg>
      <p:bgPr>
        <a:solidFill>
          <a:schemeClr val="dk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1" name="Google Shape;191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2" name="Google Shape;192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3" name="Google Shape;193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94" name="Google Shape;194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5" name="Google Shape;195;p21"/>
          <p:cNvSpPr txBox="1"/>
          <p:nvPr>
            <p:ph type="title"/>
          </p:nvPr>
        </p:nvSpPr>
        <p:spPr>
          <a:xfrm>
            <a:off x="177970" y="175372"/>
            <a:ext cx="6792985" cy="907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6" name="Google Shape;196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7" name="Google Shape;197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8" name="Google Shape;198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9" name="Google Shape;199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0" name="Google Shape;200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Разделитель">
  <p:cSld name="2_Разделитель">
    <p:bg>
      <p:bgPr>
        <a:solidFill>
          <a:schemeClr val="dk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3" name="Google Shape;203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04" name="Google Shape;204;p2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5" name="Google Shape;205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" name="Google Shape;206;p22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7" name="Google Shape;207;p22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08" name="Google Shape;208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9" name="Google Shape;209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10" name="Google Shape;210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1" name="Google Shape;211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13" name="Google Shape;21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4" name="Google Shape;21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" name="Google Shape;215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16" name="Google Shape;216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7" name="Google Shape;217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" name="Google Shape;218;p23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9" name="Google Shape;219;p23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20" name="Google Shape;220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21" name="Google Shape;221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22" name="Google Shape;222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4" name="Google Shape;224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5" name="Google Shape;22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6" name="Google Shape;226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7" name="Google Shape;227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8" name="Google Shape;228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29" name="Google Shape;229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0" name="Google Shape;230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1" name="Google Shape;231;p24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2" name="Google Shape;232;p24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4" name="Google Shape;234;p24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35" name="Google Shape;235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6" name="Google Shape;236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38" name="Google Shape;238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9" name="Google Shape;239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41" name="Google Shape;24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2" name="Google Shape;242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3" name="Google Shape;243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4" name="Google Shape;244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5" name="Google Shape;245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47" name="Google Shape;247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48" name="Google Shape;248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" name="Google Shape;249;p25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0" name="Google Shape;250;p25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1" name="Google Shape;251;p25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52" name="Google Shape;252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54" name="Google Shape;254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55" name="Google Shape;255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лайд &quot;Спасибо!&quot;">
  <p:cSld name="2_Слайд &quot;Спасибо!&quot;">
    <p:bg>
      <p:bgPr>
        <a:solidFill>
          <a:schemeClr val="dk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57" name="Google Shape;257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0" name="Google Shape;260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1" name="Google Shape;261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2" name="Google Shape;262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63" name="Google Shape;263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64" name="Google Shape;264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5" name="Google Shape;265;p26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6" name="Google Shape;266;p26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7" name="Google Shape;267;p26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68" name="Google Shape;268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9" name="Google Shape;269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0" name="Google Shape;270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1" name="Google Shape;271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лайд &quot;Спасибо!&quot;">
  <p:cSld name="3_Слайд &quot;Спасибо!&quot;">
    <p:bg>
      <p:bgPr>
        <a:solidFill>
          <a:schemeClr val="dk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4" name="Google Shape;274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5" name="Google Shape;275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6" name="Google Shape;276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7" name="Google Shape;277;p2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8" name="Google Shape;278;p2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1" name="Google Shape;281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Содержание">
  <p:cSld name="5_Содержание">
    <p:bg>
      <p:bgPr>
        <a:solidFill>
          <a:schemeClr val="dk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84" name="Google Shape;284;p2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85" name="Google Shape;285;p2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86" name="Google Shape;286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7" name="Google Shape;287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8" name="Google Shape;288;p2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9" name="Google Shape;289;p2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0" name="Google Shape;290;p2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1" name="Google Shape;291;p2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2" name="Google Shape;292;p2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Содержание">
  <p:cSld name="6_Содержание">
    <p:bg>
      <p:bgPr>
        <a:solidFill>
          <a:schemeClr val="dk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96" name="Google Shape;296;p2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97" name="Google Shape;297;p2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98" name="Google Shape;298;p2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99" name="Google Shape;299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0" name="Google Shape;300;p2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1" name="Google Shape;301;p2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2" name="Google Shape;302;p2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3" name="Google Shape;303;p2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4" name="Google Shape;304;p2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одержание">
  <p:cSld name="4_Содержание">
    <p:bg>
      <p:bgPr>
        <a:solidFill>
          <a:schemeClr val="dk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08" name="Google Shape;308;p3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09" name="Google Shape;309;p3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0" name="Google Shape;310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11" name="Google Shape;311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2" name="Google Shape;312;p3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4" name="Google Shape;314;p3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Визитка">
  <p:cSld name="3_Визитка">
    <p:bg>
      <p:bgPr>
        <a:solidFill>
          <a:schemeClr val="dk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3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18" name="Google Shape;318;p3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9" name="Google Shape;319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20" name="Google Shape;320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1" name="Google Shape;321;p3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3" name="Google Shape;323;p3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4" name="Google Shape;324;p3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5" name="Google Shape;325;p3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Визитка">
  <p:cSld name="2_Визитка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" name="Google Shape;328;p3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29" name="Google Shape;329;p3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30" name="Google Shape;330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31" name="Google Shape;331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2" name="Google Shape;332;p3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4" name="Google Shape;334;p3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5" name="Google Shape;335;p3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Контент">
  <p:cSld name="2_Контент">
    <p:bg>
      <p:bgPr>
        <a:solidFill>
          <a:schemeClr val="dk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3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39" name="Google Shape;339;p3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0" name="Google Shape;340;p3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1" name="Google Shape;341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2" name="Google Shape;342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Контент">
  <p:cSld name="4_Контент">
    <p:bg>
      <p:bgPr>
        <a:solidFill>
          <a:schemeClr val="dk1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46" name="Google Shape;346;p3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7" name="Google Shape;347;p3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8" name="Google Shape;348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9" name="Google Shape;349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Контент">
  <p:cSld name="6_Контент">
    <p:bg>
      <p:bgPr>
        <a:solidFill>
          <a:schemeClr val="dk1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53" name="Google Shape;353;p3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54" name="Google Shape;354;p3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55" name="Google Shape;355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56" name="Google Shape;356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Контент">
  <p:cSld name="12_Контент">
    <p:bg>
      <p:bgPr>
        <a:solidFill>
          <a:schemeClr val="dk1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0" name="Google Shape;360;p3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1" name="Google Shape;361;p3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2" name="Google Shape;362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63" name="Google Shape;363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Контент">
  <p:cSld name="9_Контент">
    <p:bg>
      <p:bgPr>
        <a:solidFill>
          <a:schemeClr val="dk1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7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7" name="Google Shape;367;p3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8" name="Google Shape;368;p3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9" name="Google Shape;369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0" name="Google Shape;370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Контент">
  <p:cSld name="10_Контент">
    <p:bg>
      <p:bgPr>
        <a:solidFill>
          <a:schemeClr val="dk1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3" name="Google Shape;373;p3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74" name="Google Shape;374;p3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75" name="Google Shape;375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6" name="Google Shape;376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7" name="Google Shape;377;p38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Контент">
  <p:cSld name="11_Контент">
    <p:bg>
      <p:bgPr>
        <a:solidFill>
          <a:schemeClr val="lt1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0" name="Google Shape;380;p3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1" name="Google Shape;381;p3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2" name="Google Shape;382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83" name="Google Shape;383;p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4" name="Google Shape;384;p3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Контент">
  <p:cSld name="14_Контент">
    <p:bg>
      <p:bgPr>
        <a:solidFill>
          <a:schemeClr val="dk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4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8" name="Google Shape;388;p4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9" name="Google Shape;389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0" name="Google Shape;390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1" name="Google Shape;391;p40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EFAULT">
  <p:cSld name="1_DEFAULT">
    <p:bg>
      <p:bgPr>
        <a:solidFill>
          <a:schemeClr val="dk1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" name="Google Shape;393;p4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94" name="Google Shape;394;p4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95" name="Google Shape;395;p4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6" name="Google Shape;396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22.xml"/><Relationship Id="rId20" Type="http://schemas.openxmlformats.org/officeDocument/2006/relationships/slideLayout" Target="../slideLayouts/slideLayout23.xml"/><Relationship Id="rId21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26.xml"/><Relationship Id="rId24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29.xml"/><Relationship Id="rId27" Type="http://schemas.openxmlformats.org/officeDocument/2006/relationships/slideLayout" Target="../slideLayouts/slideLayout30.xml"/><Relationship Id="rId28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32.xml"/><Relationship Id="rId30" Type="http://schemas.openxmlformats.org/officeDocument/2006/relationships/slideLayout" Target="../slideLayouts/slideLayout33.xml"/><Relationship Id="rId31" Type="http://schemas.openxmlformats.org/officeDocument/2006/relationships/slideLayout" Target="../slideLayouts/slideLayout34.xml"/><Relationship Id="rId32" Type="http://schemas.openxmlformats.org/officeDocument/2006/relationships/slideLayout" Target="../slideLayouts/slideLayout35.xml"/><Relationship Id="rId33" Type="http://schemas.openxmlformats.org/officeDocument/2006/relationships/slideLayout" Target="../slideLayouts/slideLayout36.xml"/><Relationship Id="rId34" Type="http://schemas.openxmlformats.org/officeDocument/2006/relationships/slideLayout" Target="../slideLayouts/slideLayout37.xml"/><Relationship Id="rId35" Type="http://schemas.openxmlformats.org/officeDocument/2006/relationships/slideLayout" Target="../slideLayouts/slideLayout38.xml"/><Relationship Id="rId36" Type="http://schemas.openxmlformats.org/officeDocument/2006/relationships/slideLayout" Target="../slideLayouts/slideLayout39.xml"/><Relationship Id="rId3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0.png"/><Relationship Id="rId3" Type="http://schemas.openxmlformats.org/officeDocument/2006/relationships/image" Target="../media/image26.png"/><Relationship Id="rId4" Type="http://schemas.openxmlformats.org/officeDocument/2006/relationships/image" Target="../media/image223.png"/><Relationship Id="rId5" Type="http://schemas.openxmlformats.org/officeDocument/2006/relationships/image" Target="../media/image224.png"/><Relationship Id="rId6" Type="http://schemas.openxmlformats.org/officeDocument/2006/relationships/image" Target="../media/image225.png"/><Relationship Id="rId7" Type="http://schemas.openxmlformats.org/officeDocument/2006/relationships/image" Target="../media/image226.png"/><Relationship Id="rId8" Type="http://schemas.openxmlformats.org/officeDocument/2006/relationships/image" Target="../media/image227.png"/><Relationship Id="rId9" Type="http://schemas.openxmlformats.org/officeDocument/2006/relationships/image" Target="../media/image228.png"/><Relationship Id="rId10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23.png"/><Relationship Id="rId3" Type="http://schemas.openxmlformats.org/officeDocument/2006/relationships/image" Target="../media/image120.png"/><Relationship Id="rId4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64.png"/><Relationship Id="rId3" Type="http://schemas.openxmlformats.org/officeDocument/2006/relationships/image" Target="../media/image171.png"/><Relationship Id="rId4" Type="http://schemas.openxmlformats.org/officeDocument/2006/relationships/image" Target="../media/image170.png"/><Relationship Id="rId5" Type="http://schemas.openxmlformats.org/officeDocument/2006/relationships/image" Target="../media/image169.png"/><Relationship Id="rId6" Type="http://schemas.openxmlformats.org/officeDocument/2006/relationships/image" Target="../media/image168.png"/><Relationship Id="rId7" Type="http://schemas.openxmlformats.org/officeDocument/2006/relationships/chart" Target="../charts/chart1.xml"/><Relationship Id="rId8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23.png"/><Relationship Id="rId3" Type="http://schemas.openxmlformats.org/officeDocument/2006/relationships/image" Target="../media/image120.png"/><Relationship Id="rId4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1.png"/><Relationship Id="rId3" Type="http://schemas.openxmlformats.org/officeDocument/2006/relationships/image" Target="../media/image52.png"/><Relationship Id="rId4" Type="http://schemas.openxmlformats.org/officeDocument/2006/relationships/image" Target="../media/image229.png"/><Relationship Id="rId5" Type="http://schemas.openxmlformats.org/officeDocument/2006/relationships/image" Target="../media/image230.png"/><Relationship Id="rId6" Type="http://schemas.openxmlformats.org/officeDocument/2006/relationships/image" Target="../media/image231.png"/><Relationship Id="rId7" Type="http://schemas.openxmlformats.org/officeDocument/2006/relationships/image" Target="../media/image232.png"/><Relationship Id="rId8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4.xml"/></Relationships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01" name="Google Shape;401;p4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lang="en-US" sz="1350"/>
              <a:t xml:space="preserve">Руководство предлагает масштабировать успешный пилот по переводу ночных отчётов на потоковую загрузку на все витрины</a:t>
            </a:r>
          </a:p>
        </p:txBody>
      </p:sp>
      <p:sp>
        <p:nvSpPr>
          <p:cNvPr id="402" name="Google Shape;402;p4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US" sz="900"/>
              <a:t xml:space="preserve">Предложение руководства по масштабированию успешного пилота на все витрины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62" name="Google Shape;662;p55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5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55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55"/>
          <p:cNvSpPr/>
          <p:nvPr/>
        </p:nvSpPr>
        <p:spPr>
          <a:xfrm>
            <a:off x="285749" y="1209852"/>
            <a:ext cx="2793986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55"/>
          <p:cNvSpPr/>
          <p:nvPr/>
        </p:nvSpPr>
        <p:spPr>
          <a:xfrm>
            <a:off x="491283" y="1362233"/>
            <a:ext cx="2382916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5"/>
          <p:cNvSpPr/>
          <p:nvPr/>
        </p:nvSpPr>
        <p:spPr>
          <a:xfrm>
            <a:off x="504567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5"/>
          <p:cNvSpPr/>
          <p:nvPr/>
        </p:nvSpPr>
        <p:spPr>
          <a:xfrm>
            <a:off x="491283" y="1590803"/>
            <a:ext cx="2451428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Текущее состояние</a:t>
            </a:r>
          </a:p>
        </p:txBody>
      </p:sp>
      <p:sp>
        <p:nvSpPr>
          <p:cNvPr id="669" name="Google Shape;669;p55"/>
          <p:cNvSpPr/>
          <p:nvPr/>
        </p:nvSpPr>
        <p:spPr>
          <a:xfrm>
            <a:off x="491283" y="1819373"/>
            <a:ext cx="2434300" cy="2290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 xml:space="preserve">Описание проблемы с задержкой отчётов</a:t>
            </a:r>
          </a:p>
        </p:txBody>
      </p:sp>
      <p:sp>
        <p:nvSpPr>
          <p:cNvPr id="670" name="Google Shape;670;p55"/>
          <p:cNvSpPr/>
          <p:nvPr/>
        </p:nvSpPr>
        <p:spPr>
          <a:xfrm>
            <a:off x="3174984" y="1209852"/>
            <a:ext cx="2793986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5"/>
          <p:cNvSpPr/>
          <p:nvPr/>
        </p:nvSpPr>
        <p:spPr>
          <a:xfrm>
            <a:off x="3380518" y="1362233"/>
            <a:ext cx="2382916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55"/>
          <p:cNvSpPr/>
          <p:nvPr/>
        </p:nvSpPr>
        <p:spPr>
          <a:xfrm>
            <a:off x="3393802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55"/>
          <p:cNvSpPr/>
          <p:nvPr/>
        </p:nvSpPr>
        <p:spPr>
          <a:xfrm>
            <a:off x="3380518" y="1590803"/>
            <a:ext cx="2451428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Результаты пилота</a:t>
            </a:r>
          </a:p>
        </p:txBody>
      </p:sp>
      <p:sp>
        <p:nvSpPr>
          <p:cNvPr id="674" name="Google Shape;674;p55"/>
          <p:cNvSpPr/>
          <p:nvPr/>
        </p:nvSpPr>
        <p:spPr>
          <a:xfrm>
            <a:off x="3380518" y="1819373"/>
            <a:ext cx="2434300" cy="2290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 xml:space="preserve">Показатели эффективности на двух витринах</a:t>
            </a:r>
          </a:p>
        </p:txBody>
      </p:sp>
      <p:sp>
        <p:nvSpPr>
          <p:cNvPr id="675" name="Google Shape;675;p55"/>
          <p:cNvSpPr/>
          <p:nvPr/>
        </p:nvSpPr>
        <p:spPr>
          <a:xfrm>
            <a:off x="6064218" y="1209852"/>
            <a:ext cx="2793986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5"/>
          <p:cNvSpPr/>
          <p:nvPr/>
        </p:nvSpPr>
        <p:spPr>
          <a:xfrm>
            <a:off x="6269754" y="1362233"/>
            <a:ext cx="2382916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55"/>
          <p:cNvSpPr/>
          <p:nvPr/>
        </p:nvSpPr>
        <p:spPr>
          <a:xfrm>
            <a:off x="6283038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55"/>
          <p:cNvSpPr/>
          <p:nvPr/>
        </p:nvSpPr>
        <p:spPr>
          <a:xfrm>
            <a:off x="6269754" y="1590803"/>
            <a:ext cx="2451428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Запрос на решение</a:t>
            </a:r>
          </a:p>
        </p:txBody>
      </p:sp>
      <p:sp>
        <p:nvSpPr>
          <p:cNvPr id="679" name="Google Shape;679;p55"/>
          <p:cNvSpPr/>
          <p:nvPr/>
        </p:nvSpPr>
        <p:spPr>
          <a:xfrm>
            <a:off x="6269754" y="1819373"/>
            <a:ext cx="2434300" cy="2290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 xml:space="preserve">Необходимость масштабирования на 14 витрин</a:t>
            </a:r>
          </a:p>
        </p:txBody>
      </p:sp>
      <p:sp>
        <p:nvSpPr>
          <p:cNvPr id="685" name="Google Shape;685;p55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План встречи включает анализ текущего состояния, результаты пилота и запрос на решение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78" name="Google Shape;878;p61"/>
          <p:cNvSpPr/>
          <p:nvPr/>
        </p:nvSpPr>
        <p:spPr>
          <a:xfrm>
            <a:off x="285749" y="1243185"/>
            <a:ext cx="1257293" cy="571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61"/>
          <p:cNvSpPr/>
          <p:nvPr/>
        </p:nvSpPr>
        <p:spPr>
          <a:xfrm>
            <a:off x="285749" y="1243185"/>
            <a:ext cx="571497" cy="571426"/>
          </a:xfrm>
          <a:prstGeom prst="roundRect">
            <a:avLst>
              <a:gd fmla="val 27600" name="adj"/>
            </a:avLst>
          </a:prstGeom>
          <a:solidFill>
            <a:srgbClr val="0077FF">
              <a:alpha val="10196"/>
            </a:srgbClr>
          </a:solidFill>
          <a:ln cap="flat" cmpd="sng" w="9525">
            <a:solidFill>
              <a:srgbClr val="007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880" name="Google Shape;880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7673" y="1405089"/>
            <a:ext cx="252411" cy="2523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81" name="Google Shape;881;p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388" y="1423117"/>
            <a:ext cx="214944" cy="210783"/>
          </a:xfrm>
          <a:prstGeom prst="rect">
            <a:avLst/>
          </a:prstGeom>
          <a:noFill/>
          <a:ln>
            <a:noFill/>
          </a:ln>
        </p:spPr>
      </p:pic>
      <p:sp>
        <p:nvSpPr>
          <p:cNvPr id="882" name="Google Shape;882;p61"/>
          <p:cNvSpPr/>
          <p:nvPr/>
        </p:nvSpPr>
        <p:spPr>
          <a:xfrm>
            <a:off x="285749" y="2047943"/>
            <a:ext cx="1257293" cy="571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61"/>
          <p:cNvSpPr/>
          <p:nvPr/>
        </p:nvSpPr>
        <p:spPr>
          <a:xfrm>
            <a:off x="285749" y="2047943"/>
            <a:ext cx="571497" cy="571426"/>
          </a:xfrm>
          <a:prstGeom prst="roundRect">
            <a:avLst>
              <a:gd fmla="val 27600" name="adj"/>
            </a:avLst>
          </a:prstGeom>
          <a:solidFill>
            <a:srgbClr val="0077FF">
              <a:alpha val="10196"/>
            </a:srgbClr>
          </a:solidFill>
          <a:ln cap="flat" cmpd="sng" w="9525">
            <a:solidFill>
              <a:srgbClr val="007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884" name="Google Shape;884;p6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7673" y="2209847"/>
            <a:ext cx="252411" cy="2523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85" name="Google Shape;885;p6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6388" y="2227875"/>
            <a:ext cx="214944" cy="210783"/>
          </a:xfrm>
          <a:prstGeom prst="rect">
            <a:avLst/>
          </a:prstGeom>
          <a:noFill/>
          <a:ln>
            <a:noFill/>
          </a:ln>
        </p:spPr>
      </p:pic>
      <p:sp>
        <p:nvSpPr>
          <p:cNvPr id="886" name="Google Shape;886;p61"/>
          <p:cNvSpPr/>
          <p:nvPr/>
        </p:nvSpPr>
        <p:spPr>
          <a:xfrm>
            <a:off x="285749" y="2852700"/>
            <a:ext cx="1257293" cy="571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61"/>
          <p:cNvSpPr/>
          <p:nvPr/>
        </p:nvSpPr>
        <p:spPr>
          <a:xfrm>
            <a:off x="285749" y="2852700"/>
            <a:ext cx="571497" cy="571426"/>
          </a:xfrm>
          <a:prstGeom prst="roundRect">
            <a:avLst>
              <a:gd fmla="val 27600" name="adj"/>
            </a:avLst>
          </a:prstGeom>
          <a:solidFill>
            <a:srgbClr val="0077FF">
              <a:alpha val="10196"/>
            </a:srgbClr>
          </a:solidFill>
          <a:ln cap="flat" cmpd="sng" w="9525">
            <a:solidFill>
              <a:srgbClr val="007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888" name="Google Shape;888;p6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7673" y="3014604"/>
            <a:ext cx="252411" cy="2523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89" name="Google Shape;889;p6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6388" y="3032632"/>
            <a:ext cx="214944" cy="210783"/>
          </a:xfrm>
          <a:prstGeom prst="rect">
            <a:avLst/>
          </a:prstGeom>
          <a:noFill/>
          <a:ln>
            <a:noFill/>
          </a:ln>
        </p:spPr>
      </p:pic>
      <p:sp>
        <p:nvSpPr>
          <p:cNvPr id="894" name="Google Shape;894;p61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1400"/>
              <a:t xml:space="preserve">Отчёт по продажам доступен только к 11:00, что ограничивает скорость принятия решений</a:t>
            </a:r>
          </a:p>
        </p:txBody>
      </p:sp>
      <p:sp>
        <p:nvSpPr>
          <p:cNvPr id="895" name="Google Shape;895;p61"/>
          <p:cNvSpPr/>
          <p:nvPr/>
        </p:nvSpPr>
        <p:spPr>
          <a:xfrm>
            <a:off x="1019170" y="1402177"/>
            <a:ext cx="1963516" cy="22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Отчёт по продажам готов к 11:00</a:t>
            </a:r>
          </a:p>
        </p:txBody>
      </p:sp>
      <p:sp>
        <p:nvSpPr>
          <p:cNvPr id="896" name="Google Shape;896;p61"/>
          <p:cNvSpPr/>
          <p:nvPr/>
        </p:nvSpPr>
        <p:spPr>
          <a:xfrm>
            <a:off x="1019170" y="2218724"/>
            <a:ext cx="1963516" cy="22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Используется пакетная загрузка данных</a:t>
            </a:r>
          </a:p>
        </p:txBody>
      </p:sp>
      <p:sp>
        <p:nvSpPr>
          <p:cNvPr id="897" name="Google Shape;897;p61"/>
          <p:cNvSpPr/>
          <p:nvPr/>
        </p:nvSpPr>
        <p:spPr>
          <a:xfrm>
            <a:off x="1019170" y="3024442"/>
            <a:ext cx="1963516" cy="22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Задержка снижает оперативность управления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descr=" " id="2249" name="Google Shape;2249;p8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5748" y="3576507"/>
            <a:ext cx="2381238" cy="28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50" name="Google Shape;2250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3234" y="3576507"/>
            <a:ext cx="3762355" cy="28571"/>
          </a:xfrm>
          <a:prstGeom prst="rect">
            <a:avLst/>
          </a:prstGeom>
          <a:noFill/>
          <a:ln>
            <a:noFill/>
          </a:ln>
        </p:spPr>
      </p:pic>
      <p:sp>
        <p:nvSpPr>
          <p:cNvPr id="2251" name="Google Shape;2251;p8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Переход на потоковую загрузку позволил получить отчёт к 8:30 вместо 11:00</a:t>
            </a:r>
          </a:p>
        </p:txBody>
      </p:sp>
      <p:sp>
        <p:nvSpPr>
          <p:cNvPr id="2252" name="Google Shape;2252;p83"/>
          <p:cNvSpPr txBox="1"/>
          <p:nvPr/>
        </p:nvSpPr>
        <p:spPr>
          <a:xfrm>
            <a:off x="177970" y="1664110"/>
            <a:ext cx="2381238" cy="2189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none" tIns="45700">
            <a:noAutofit/>
          </a:bodyPr>
          <a:lstStyle/>
          <a:p>
            <a:pPr indent="0" lvl="0" marL="0" marR="0" rtl="0" algn="l">
              <a:lnSpc>
                <a:spcPct val="161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600"/>
              <a:buFont typeface="Play"/>
              <a:buNone/>
            </a:pPr>
            <a:r>
              <a:rPr b="1" i="0" lang="en-US" sz="64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 xml:space="preserve">8:30</a:t>
            </a:r>
          </a:p>
        </p:txBody>
      </p:sp>
      <p:sp>
        <p:nvSpPr>
          <p:cNvPr id="2253" name="Google Shape;2253;p83"/>
          <p:cNvSpPr txBox="1"/>
          <p:nvPr/>
        </p:nvSpPr>
        <p:spPr>
          <a:xfrm>
            <a:off x="3143234" y="1664110"/>
            <a:ext cx="4320556" cy="2189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none" tIns="45700">
            <a:noAutofit/>
          </a:bodyPr>
          <a:lstStyle/>
          <a:p>
            <a:pPr indent="0" lvl="0" marL="0" marR="0" rtl="0" algn="l">
              <a:lnSpc>
                <a:spcPct val="161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600"/>
              <a:buFont typeface="Play"/>
              <a:buNone/>
            </a:pPr>
            <a:endParaRPr b="1" i="0" lang="en-US" sz="16600" u="none" cap="none" strike="noStrike">
              <a:solidFill>
                <a:schemeClr val="accen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254" name="Google Shape;2254;p83"/>
          <p:cNvSpPr txBox="1"/>
          <p:nvPr/>
        </p:nvSpPr>
        <p:spPr>
          <a:xfrm>
            <a:off x="256559" y="3689483"/>
            <a:ext cx="4315441" cy="327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8:30 Новое время готовности отчёта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69" name="Google Shape;2569;p9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Число инцидентов с опозданием снизилось с 9 до 2 в месяц благодаря потоковой загрузке</a:t>
            </a:r>
          </a:p>
        </p:txBody>
      </p:sp>
      <p:graphicFrame>
        <p:nvGraphicFramePr>
          <p:cNvPr id="2570" name="Chart 2569"/>
          <p:cNvGraphicFramePr>
            <a:graphicFrameLocks noGrp="1"/>
          </p:cNvGraphicFramePr>
          <p:nvPr/>
        </p:nvGraphicFramePr>
        <p:xfrm>
          <a:off x="285293" y="1110022"/>
          <a:ext cx="8572500" cy="3734641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56" name="Google Shape;1056;p66"/>
          <p:cNvSpPr/>
          <p:nvPr/>
        </p:nvSpPr>
        <p:spPr>
          <a:xfrm>
            <a:off x="285748" y="276524"/>
            <a:ext cx="8572456" cy="685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66"/>
          <p:cNvSpPr/>
          <p:nvPr/>
        </p:nvSpPr>
        <p:spPr>
          <a:xfrm>
            <a:off x="3838239" y="276524"/>
            <a:ext cx="4948861" cy="1025866"/>
          </a:xfrm>
          <a:prstGeom prst="roundRect">
            <a:avLst>
              <a:gd fmla="val 1036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66"/>
          <p:cNvSpPr/>
          <p:nvPr/>
        </p:nvSpPr>
        <p:spPr>
          <a:xfrm>
            <a:off x="4048160" y="486417"/>
            <a:ext cx="4529021" cy="128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66"/>
          <p:cNvSpPr/>
          <p:nvPr/>
        </p:nvSpPr>
        <p:spPr>
          <a:xfrm>
            <a:off x="4048160" y="486418"/>
            <a:ext cx="4585000" cy="1845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Длительность пилота</a:t>
            </a:r>
          </a:p>
        </p:txBody>
      </p:sp>
      <p:sp>
        <p:nvSpPr>
          <p:cNvPr id="1060" name="Google Shape;1060;p66"/>
          <p:cNvSpPr/>
          <p:nvPr/>
        </p:nvSpPr>
        <p:spPr>
          <a:xfrm>
            <a:off x="4048160" y="740925"/>
            <a:ext cx="4571005" cy="393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 xml:space="preserve">Пилот на двух витринах занял 6 недель</a:t>
            </a:r>
          </a:p>
        </p:txBody>
      </p:sp>
      <p:sp>
        <p:nvSpPr>
          <p:cNvPr id="1061" name="Google Shape;1061;p66"/>
          <p:cNvSpPr/>
          <p:nvPr/>
        </p:nvSpPr>
        <p:spPr>
          <a:xfrm>
            <a:off x="3838239" y="1462423"/>
            <a:ext cx="4948861" cy="1025866"/>
          </a:xfrm>
          <a:prstGeom prst="roundRect">
            <a:avLst>
              <a:gd fmla="val 1036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66"/>
          <p:cNvSpPr/>
          <p:nvPr/>
        </p:nvSpPr>
        <p:spPr>
          <a:xfrm>
            <a:off x="4048160" y="1672316"/>
            <a:ext cx="4529021" cy="128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66"/>
          <p:cNvSpPr/>
          <p:nvPr/>
        </p:nvSpPr>
        <p:spPr>
          <a:xfrm>
            <a:off x="4048160" y="1672317"/>
            <a:ext cx="4585000" cy="1845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Охват пилота</a:t>
            </a:r>
          </a:p>
        </p:txBody>
      </p:sp>
      <p:sp>
        <p:nvSpPr>
          <p:cNvPr id="1064" name="Google Shape;1064;p66"/>
          <p:cNvSpPr/>
          <p:nvPr/>
        </p:nvSpPr>
        <p:spPr>
          <a:xfrm>
            <a:off x="4048160" y="1926823"/>
            <a:ext cx="4571005" cy="393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 xml:space="preserve">Тестирование проведено на двух витринах</a:t>
            </a:r>
          </a:p>
        </p:txBody>
      </p:sp>
      <p:sp>
        <p:nvSpPr>
          <p:cNvPr id="1065" name="Google Shape;1065;p66"/>
          <p:cNvSpPr/>
          <p:nvPr/>
        </p:nvSpPr>
        <p:spPr>
          <a:xfrm>
            <a:off x="3838239" y="2648322"/>
            <a:ext cx="4948861" cy="1025866"/>
          </a:xfrm>
          <a:prstGeom prst="roundRect">
            <a:avLst>
              <a:gd fmla="val 1036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66"/>
          <p:cNvSpPr/>
          <p:nvPr/>
        </p:nvSpPr>
        <p:spPr>
          <a:xfrm>
            <a:off x="4048160" y="2858216"/>
            <a:ext cx="4529021" cy="128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66"/>
          <p:cNvSpPr/>
          <p:nvPr/>
        </p:nvSpPr>
        <p:spPr>
          <a:xfrm>
            <a:off x="4048160" y="2858216"/>
            <a:ext cx="4585000" cy="1845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Готовность к масштабированию</a:t>
            </a:r>
          </a:p>
        </p:txBody>
      </p:sp>
      <p:sp>
        <p:nvSpPr>
          <p:cNvPr id="1068" name="Google Shape;1068;p66"/>
          <p:cNvSpPr/>
          <p:nvPr/>
        </p:nvSpPr>
        <p:spPr>
          <a:xfrm>
            <a:off x="4048160" y="3112723"/>
            <a:ext cx="4571005" cy="393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 xml:space="preserve">Результаты подтверждают возможность расширения</a:t>
            </a:r>
          </a:p>
        </p:txBody>
      </p:sp>
      <p:sp>
        <p:nvSpPr>
          <p:cNvPr id="1073" name="Google Shape;1073;p66"/>
          <p:cNvSpPr txBox="1"/>
          <p:nvPr>
            <p:ph type="title"/>
          </p:nvPr>
        </p:nvSpPr>
        <p:spPr>
          <a:xfrm>
            <a:off x="177971" y="282949"/>
            <a:ext cx="3412254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Пилот на двух витринах занял 6 недель, подтвердив реализуемость инициативы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descr=" " id="2249" name="Google Shape;2249;p8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5748" y="3576507"/>
            <a:ext cx="2381238" cy="28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50" name="Google Shape;2250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3234" y="3576507"/>
            <a:ext cx="3762355" cy="28571"/>
          </a:xfrm>
          <a:prstGeom prst="rect">
            <a:avLst/>
          </a:prstGeom>
          <a:noFill/>
          <a:ln>
            <a:noFill/>
          </a:ln>
        </p:spPr>
      </p:pic>
      <p:sp>
        <p:nvSpPr>
          <p:cNvPr id="2251" name="Google Shape;2251;p8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Рост затрат на инфраструктуру на 12 % является приемлемым уровнем для получения преимуществ</a:t>
            </a:r>
          </a:p>
        </p:txBody>
      </p:sp>
      <p:sp>
        <p:nvSpPr>
          <p:cNvPr id="2252" name="Google Shape;2252;p83"/>
          <p:cNvSpPr txBox="1"/>
          <p:nvPr/>
        </p:nvSpPr>
        <p:spPr>
          <a:xfrm>
            <a:off x="177970" y="1664110"/>
            <a:ext cx="2381238" cy="2189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none" tIns="45700">
            <a:noAutofit/>
          </a:bodyPr>
          <a:lstStyle/>
          <a:p>
            <a:pPr indent="0" lvl="0" marL="0" marR="0" rtl="0" algn="l">
              <a:lnSpc>
                <a:spcPct val="161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600"/>
              <a:buFont typeface="Play"/>
              <a:buNone/>
            </a:pPr>
            <a:r>
              <a:rPr b="1" i="0" lang="en-US" sz="64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 xml:space="preserve">12 %</a:t>
            </a:r>
          </a:p>
        </p:txBody>
      </p:sp>
      <p:sp>
        <p:nvSpPr>
          <p:cNvPr id="2253" name="Google Shape;2253;p83"/>
          <p:cNvSpPr txBox="1"/>
          <p:nvPr/>
        </p:nvSpPr>
        <p:spPr>
          <a:xfrm>
            <a:off x="3143234" y="1664110"/>
            <a:ext cx="4320556" cy="2189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none" tIns="45700">
            <a:noAutofit/>
          </a:bodyPr>
          <a:lstStyle/>
          <a:p>
            <a:pPr indent="0" lvl="0" marL="0" marR="0" rtl="0" algn="l">
              <a:lnSpc>
                <a:spcPct val="161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600"/>
              <a:buFont typeface="Play"/>
              <a:buNone/>
            </a:pPr>
            <a:endParaRPr b="1" i="0" lang="en-US" sz="16600" u="none" cap="none" strike="noStrike">
              <a:solidFill>
                <a:schemeClr val="accen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254" name="Google Shape;2254;p83"/>
          <p:cNvSpPr txBox="1"/>
          <p:nvPr/>
        </p:nvSpPr>
        <p:spPr>
          <a:xfrm>
            <a:off x="256559" y="3689483"/>
            <a:ext cx="4315441" cy="327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Затраты на инфраструктуру выросли на 12 %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29" name="Google Shape;1029;p65"/>
          <p:cNvSpPr/>
          <p:nvPr/>
        </p:nvSpPr>
        <p:spPr>
          <a:xfrm>
            <a:off x="4619604" y="1209852"/>
            <a:ext cx="4238603" cy="3014270"/>
          </a:xfrm>
          <a:prstGeom prst="roundRect">
            <a:avLst>
              <a:gd fmla="val 343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030" name="Google Shape;1030;p6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58903" y="3566983"/>
            <a:ext cx="466723" cy="466664"/>
          </a:xfrm>
          <a:prstGeom prst="rect">
            <a:avLst/>
          </a:prstGeom>
          <a:noFill/>
          <a:ln>
            <a:noFill/>
          </a:ln>
        </p:spPr>
      </p:pic>
      <p:sp>
        <p:nvSpPr>
          <p:cNvPr id="1031" name="Google Shape;1031;p65"/>
          <p:cNvSpPr/>
          <p:nvPr/>
        </p:nvSpPr>
        <p:spPr>
          <a:xfrm>
            <a:off x="285749" y="1209852"/>
            <a:ext cx="4238603" cy="3014270"/>
          </a:xfrm>
          <a:prstGeom prst="roundRect">
            <a:avLst>
              <a:gd fmla="val 343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65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65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65"/>
          <p:cNvSpPr/>
          <p:nvPr/>
        </p:nvSpPr>
        <p:spPr>
          <a:xfrm>
            <a:off x="574745" y="1400327"/>
            <a:ext cx="3660612" cy="1009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65"/>
          <p:cNvSpPr/>
          <p:nvPr/>
        </p:nvSpPr>
        <p:spPr>
          <a:xfrm>
            <a:off x="594444" y="1400328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65"/>
          <p:cNvSpPr/>
          <p:nvPr/>
        </p:nvSpPr>
        <p:spPr>
          <a:xfrm>
            <a:off x="574745" y="1628898"/>
            <a:ext cx="3737678" cy="8317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Пакетная загрузка: отчёт к 11:00, 9 инцидентов в месяц</a:t>
            </a:r>
          </a:p>
        </p:txBody>
      </p:sp>
      <p:sp>
        <p:nvSpPr>
          <p:cNvPr id="1037" name="Google Shape;1037;p65"/>
          <p:cNvSpPr/>
          <p:nvPr/>
        </p:nvSpPr>
        <p:spPr>
          <a:xfrm>
            <a:off x="3647970" y="3566983"/>
            <a:ext cx="466723" cy="466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038" name="Google Shape;1038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7307" y="3566983"/>
            <a:ext cx="466723" cy="4666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039" name="Google Shape;1039;p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29610" y="3700316"/>
            <a:ext cx="200024" cy="199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65"/>
          <p:cNvSpPr/>
          <p:nvPr/>
        </p:nvSpPr>
        <p:spPr>
          <a:xfrm>
            <a:off x="4908599" y="1400327"/>
            <a:ext cx="3660612" cy="1009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65"/>
          <p:cNvSpPr/>
          <p:nvPr/>
        </p:nvSpPr>
        <p:spPr>
          <a:xfrm>
            <a:off x="4928299" y="1400328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65"/>
          <p:cNvSpPr/>
          <p:nvPr/>
        </p:nvSpPr>
        <p:spPr>
          <a:xfrm>
            <a:off x="4908598" y="1628898"/>
            <a:ext cx="3737678" cy="8317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Потоковая загрузка: отчёт к 8:30, 2 инцидента в месяц</a:t>
            </a:r>
          </a:p>
        </p:txBody>
      </p:sp>
      <p:sp>
        <p:nvSpPr>
          <p:cNvPr id="1043" name="Google Shape;1043;p65"/>
          <p:cNvSpPr/>
          <p:nvPr/>
        </p:nvSpPr>
        <p:spPr>
          <a:xfrm>
            <a:off x="7981825" y="3566983"/>
            <a:ext cx="466723" cy="466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044" name="Google Shape;1044;p6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63465" y="3700316"/>
            <a:ext cx="200024" cy="199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50" name="Google Shape;1050;p65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Потоковая загрузка обеспечивает более раннюю готовность отчёта и меньше инцидентов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07" name="Google Shape;1107;p68"/>
          <p:cNvSpPr/>
          <p:nvPr/>
        </p:nvSpPr>
        <p:spPr>
          <a:xfrm>
            <a:off x="285748" y="276524"/>
            <a:ext cx="8572456" cy="685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p68"/>
          <p:cNvSpPr/>
          <p:nvPr/>
        </p:nvSpPr>
        <p:spPr>
          <a:xfrm>
            <a:off x="-190499" y="1238424"/>
            <a:ext cx="9529712" cy="3664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68"/>
          <p:cNvSpPr txBox="1"/>
          <p:nvPr>
            <p:ph type="title"/>
          </p:nvPr>
        </p:nvSpPr>
        <p:spPr>
          <a:xfrm>
            <a:off x="177971" y="282949"/>
            <a:ext cx="5119243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Для перевода 14 витрин на потоковую загрузку до конца квартала требуется решение руководства</a:t>
            </a:r>
          </a:p>
        </p:txBody>
      </p:sp>
      <p:sp>
        <p:nvSpPr>
          <p:cNvPr id="1110" name="Google Shape;1110;p68"/>
          <p:cNvSpPr/>
          <p:nvPr/>
        </p:nvSpPr>
        <p:spPr>
          <a:xfrm>
            <a:off x="663829" y="3070440"/>
            <a:ext cx="1312116" cy="156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Срок выполнения</a:t>
            </a:r>
          </a:p>
          <a:p>
            <a:pPr indent="0" lvl="0" marL="0" marR="0" rtl="0" algn="l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Перевод должен быть завершён до конца квартала</a:t>
            </a:r>
          </a:p>
        </p:txBody>
      </p:sp>
      <p:sp>
        <p:nvSpPr>
          <p:cNvPr id="1111" name="Google Shape;1111;p68"/>
          <p:cNvSpPr/>
          <p:nvPr/>
        </p:nvSpPr>
        <p:spPr>
          <a:xfrm rot="186848">
            <a:off x="2492628" y="3773224"/>
            <a:ext cx="1312116" cy="156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lang="en-US" sz="1322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112" name="Google Shape;1112;p68"/>
          <p:cNvSpPr/>
          <p:nvPr/>
        </p:nvSpPr>
        <p:spPr>
          <a:xfrm rot="-234392">
            <a:off x="5232954" y="2869689"/>
            <a:ext cx="1312116" cy="156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Количество витрин</a:t>
            </a:r>
          </a:p>
          <a:p>
            <a:pPr indent="0" lvl="0" marL="0" marR="0" rtl="0" algn="l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Осталось перевести 14 витрин</a:t>
            </a:r>
          </a:p>
        </p:txBody>
      </p:sp>
      <p:sp>
        <p:nvSpPr>
          <p:cNvPr id="1113" name="Google Shape;1113;p68"/>
          <p:cNvSpPr/>
          <p:nvPr/>
        </p:nvSpPr>
        <p:spPr>
          <a:xfrm rot="492491">
            <a:off x="6989867" y="3659580"/>
            <a:ext cx="1312116" cy="156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Необходимость решения</a:t>
            </a:r>
          </a:p>
          <a:p>
            <a:pPr indent="0" lvl="0" marL="0" marR="0" rtl="0" algn="l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Требуется решение руководства для запуска работ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17" name="Google Shape;417;p44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</a:pPr>
            <a:r>
              <a:rPr lang="en-US" sz="2450"/>
              <a:t xml:space="preserve">Решение руководства позволит завершить перевод всех 14 витрин до конца квартала</a:t>
            </a:r>
          </a:p>
        </p:txBody>
      </p:sp>
      <p:sp>
        <p:nvSpPr>
          <p:cNvPr id="418" name="Google Shape;418;p44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US" sz="900"/>
              <a:t xml:space="preserve">Одобрение перевода 14 витрин обеспечит завершение процесса до конца квартала.</a:t>
            </a:r>
          </a:p>
        </p:txBody>
      </p:sp>
      <p:grpSp>
        <p:nvGrpSpPr>
          <p:cNvPr id="419" name="Google Shape;419;p44"/>
          <p:cNvGrpSpPr/>
          <p:nvPr/>
        </p:nvGrpSpPr>
        <p:grpSpPr>
          <a:xfrm>
            <a:off x="282380" y="3403462"/>
            <a:ext cx="1195387" cy="99124"/>
            <a:chOff x="658813" y="5548708"/>
            <a:chExt cx="2283170" cy="189326"/>
          </a:xfrm>
        </p:grpSpPr>
        <p:sp>
          <p:nvSpPr>
            <p:cNvPr id="420" name="Google Shape;420;p44"/>
            <p:cNvSpPr/>
            <p:nvPr/>
          </p:nvSpPr>
          <p:spPr>
            <a:xfrm>
              <a:off x="658813" y="5548708"/>
              <a:ext cx="189326" cy="1893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44"/>
            <p:cNvSpPr/>
            <p:nvPr/>
          </p:nvSpPr>
          <p:spPr>
            <a:xfrm>
              <a:off x="1182274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44"/>
            <p:cNvSpPr/>
            <p:nvPr/>
          </p:nvSpPr>
          <p:spPr>
            <a:xfrm>
              <a:off x="1705735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44"/>
            <p:cNvSpPr/>
            <p:nvPr/>
          </p:nvSpPr>
          <p:spPr>
            <a:xfrm>
              <a:off x="2229196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44"/>
            <p:cNvSpPr/>
            <p:nvPr/>
          </p:nvSpPr>
          <p:spPr>
            <a:xfrm>
              <a:off x="2752657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