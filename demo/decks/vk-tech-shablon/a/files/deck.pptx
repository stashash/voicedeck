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Инциденты в месяц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До пилота</c:v>
                </c:pt>
                <c:pt idx="1">
                  <c:v>После пилота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</c:v>
                </c:pt>
                <c:pt idx="1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шт.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Добрый день, коллеги. Сегодня мы обсуждаем инициативу по оптимизации процесса формирования отчётов.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рассмотрим текущие проблемы, покажем результаты пилота и попросим принять решение о масштабировании.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Сейчас мы используем пакетную загрузку, из-за чего отчёт готов лишь к 11 утра.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После перехода на потоковую загрузку отчёт готов уже к 8:30 утра.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График наглядно показывает снижение числа инцидентов с опозданием отчёта.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 на двух витринах занял 6 недель, что демонстрирует реалистичные сроки внедрения.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Затраты на инфраструктуру выросли на 12 %, что является разумной ценой за улучшение качества отчётов.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Сравнение показывает явное преимущество потоковой загрузки по срокам и надёжности.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завершения инициативы необходимо перевести оставшиеся 14 витрин до конца квартала.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Просим вас одобрить инициативу для перевода оставшихся 14 витрин на потоковую загрузку.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0.png"/><Relationship Id="rId3" Type="http://schemas.openxmlformats.org/officeDocument/2006/relationships/image" Target="../media/image26.png"/><Relationship Id="rId4" Type="http://schemas.openxmlformats.org/officeDocument/2006/relationships/image" Target="../media/image223.png"/><Relationship Id="rId5" Type="http://schemas.openxmlformats.org/officeDocument/2006/relationships/image" Target="../media/image224.png"/><Relationship Id="rId6" Type="http://schemas.openxmlformats.org/officeDocument/2006/relationships/image" Target="../media/image225.png"/><Relationship Id="rId7" Type="http://schemas.openxmlformats.org/officeDocument/2006/relationships/image" Target="../media/image226.png"/><Relationship Id="rId8" Type="http://schemas.openxmlformats.org/officeDocument/2006/relationships/image" Target="../media/image227.png"/><Relationship Id="rId9" Type="http://schemas.openxmlformats.org/officeDocument/2006/relationships/image" Target="../media/image228.png"/><Relationship Id="rId10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1.xml"/><Relationship Id="rId8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en-US" sz="1350"/>
              <a:t xml:space="preserve">Руководство предлагает масштабировать успешный пилот по переводу ночных отчётов на потоковую загрузку на все витрины</a:t>
            </a:r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900"/>
              <a:t xml:space="preserve">Предложение руководства по масштабированию успешного пилота на все витрины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5"/>
          <p:cNvSpPr/>
          <p:nvPr/>
        </p:nvSpPr>
        <p:spPr>
          <a:xfrm>
            <a:off x="285749" y="1209852"/>
            <a:ext cx="2793986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55"/>
          <p:cNvSpPr/>
          <p:nvPr/>
        </p:nvSpPr>
        <p:spPr>
          <a:xfrm>
            <a:off x="491283" y="1362233"/>
            <a:ext cx="2382916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5"/>
          <p:cNvSpPr/>
          <p:nvPr/>
        </p:nvSpPr>
        <p:spPr>
          <a:xfrm>
            <a:off x="50456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5"/>
          <p:cNvSpPr/>
          <p:nvPr/>
        </p:nvSpPr>
        <p:spPr>
          <a:xfrm>
            <a:off x="491283" y="1590803"/>
            <a:ext cx="245142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Текущее состояние</a:t>
            </a:r>
          </a:p>
        </p:txBody>
      </p:sp>
      <p:sp>
        <p:nvSpPr>
          <p:cNvPr id="669" name="Google Shape;669;p55"/>
          <p:cNvSpPr/>
          <p:nvPr/>
        </p:nvSpPr>
        <p:spPr>
          <a:xfrm>
            <a:off x="491283" y="1819373"/>
            <a:ext cx="2434300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Описание проблемы с задержкой отчётов</a:t>
            </a:r>
          </a:p>
        </p:txBody>
      </p:sp>
      <p:sp>
        <p:nvSpPr>
          <p:cNvPr id="670" name="Google Shape;670;p55"/>
          <p:cNvSpPr/>
          <p:nvPr/>
        </p:nvSpPr>
        <p:spPr>
          <a:xfrm>
            <a:off x="3174984" y="1209852"/>
            <a:ext cx="2793986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5"/>
          <p:cNvSpPr/>
          <p:nvPr/>
        </p:nvSpPr>
        <p:spPr>
          <a:xfrm>
            <a:off x="3380518" y="1362233"/>
            <a:ext cx="2382916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5"/>
          <p:cNvSpPr/>
          <p:nvPr/>
        </p:nvSpPr>
        <p:spPr>
          <a:xfrm>
            <a:off x="3393802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55"/>
          <p:cNvSpPr/>
          <p:nvPr/>
        </p:nvSpPr>
        <p:spPr>
          <a:xfrm>
            <a:off x="3380518" y="1590803"/>
            <a:ext cx="245142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Результаты пилота</a:t>
            </a:r>
          </a:p>
        </p:txBody>
      </p:sp>
      <p:sp>
        <p:nvSpPr>
          <p:cNvPr id="674" name="Google Shape;674;p55"/>
          <p:cNvSpPr/>
          <p:nvPr/>
        </p:nvSpPr>
        <p:spPr>
          <a:xfrm>
            <a:off x="3380518" y="1819373"/>
            <a:ext cx="2434300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Показатели эффективности на двух витринах</a:t>
            </a:r>
          </a:p>
        </p:txBody>
      </p:sp>
      <p:sp>
        <p:nvSpPr>
          <p:cNvPr id="675" name="Google Shape;675;p55"/>
          <p:cNvSpPr/>
          <p:nvPr/>
        </p:nvSpPr>
        <p:spPr>
          <a:xfrm>
            <a:off x="6064218" y="1209852"/>
            <a:ext cx="2793986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5"/>
          <p:cNvSpPr/>
          <p:nvPr/>
        </p:nvSpPr>
        <p:spPr>
          <a:xfrm>
            <a:off x="6269754" y="1362233"/>
            <a:ext cx="2382916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55"/>
          <p:cNvSpPr/>
          <p:nvPr/>
        </p:nvSpPr>
        <p:spPr>
          <a:xfrm>
            <a:off x="628303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55"/>
          <p:cNvSpPr/>
          <p:nvPr/>
        </p:nvSpPr>
        <p:spPr>
          <a:xfrm>
            <a:off x="6269754" y="1590803"/>
            <a:ext cx="245142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Запрос на решение</a:t>
            </a:r>
          </a:p>
        </p:txBody>
      </p:sp>
      <p:sp>
        <p:nvSpPr>
          <p:cNvPr id="679" name="Google Shape;679;p55"/>
          <p:cNvSpPr/>
          <p:nvPr/>
        </p:nvSpPr>
        <p:spPr>
          <a:xfrm>
            <a:off x="6269754" y="1819373"/>
            <a:ext cx="2434300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Необходимость масштабирования на 14 витрин</a:t>
            </a:r>
          </a:p>
        </p:txBody>
      </p:sp>
      <p:sp>
        <p:nvSpPr>
          <p:cNvPr id="685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План встречи: анализ состояния, итоги пилота и запрос на решение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8" name="Google Shape;878;p61"/>
          <p:cNvSpPr/>
          <p:nvPr/>
        </p:nvSpPr>
        <p:spPr>
          <a:xfrm>
            <a:off x="285749" y="1243185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61"/>
          <p:cNvSpPr/>
          <p:nvPr/>
        </p:nvSpPr>
        <p:spPr>
          <a:xfrm>
            <a:off x="285749" y="1243185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0" name="Google Shape;880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73" y="1405089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1" name="Google Shape;881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88" y="1423117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61"/>
          <p:cNvSpPr/>
          <p:nvPr/>
        </p:nvSpPr>
        <p:spPr>
          <a:xfrm>
            <a:off x="285749" y="2047943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61"/>
          <p:cNvSpPr/>
          <p:nvPr/>
        </p:nvSpPr>
        <p:spPr>
          <a:xfrm>
            <a:off x="285749" y="2047943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4" name="Google Shape;884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673" y="2209847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5" name="Google Shape;885;p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6388" y="2227875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61"/>
          <p:cNvSpPr/>
          <p:nvPr/>
        </p:nvSpPr>
        <p:spPr>
          <a:xfrm>
            <a:off x="285749" y="2852700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61"/>
          <p:cNvSpPr/>
          <p:nvPr/>
        </p:nvSpPr>
        <p:spPr>
          <a:xfrm>
            <a:off x="285749" y="2852700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8" name="Google Shape;888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7673" y="3014604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9" name="Google Shape;889;p6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6388" y="3032632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61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400"/>
              <a:t xml:space="preserve">Отчёт по продажам, доступный только к 11:00, ограничивает скорость принятия решений из-за использования пакетной загрузки данных</a:t>
            </a:r>
          </a:p>
        </p:txBody>
      </p:sp>
      <p:sp>
        <p:nvSpPr>
          <p:cNvPr id="895" name="Google Shape;895;p61"/>
          <p:cNvSpPr/>
          <p:nvPr/>
        </p:nvSpPr>
        <p:spPr>
          <a:xfrm>
            <a:off x="1019170" y="1402177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Отчёт по продажам готов к 11:00</a:t>
            </a:r>
          </a:p>
        </p:txBody>
      </p:sp>
      <p:sp>
        <p:nvSpPr>
          <p:cNvPr id="896" name="Google Shape;896;p61"/>
          <p:cNvSpPr/>
          <p:nvPr/>
        </p:nvSpPr>
        <p:spPr>
          <a:xfrm>
            <a:off x="1019170" y="2218724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Используется пакетная загрузка данных</a:t>
            </a:r>
          </a:p>
        </p:txBody>
      </p:sp>
      <p:sp>
        <p:nvSpPr>
          <p:cNvPr id="897" name="Google Shape;897;p61"/>
          <p:cNvSpPr/>
          <p:nvPr/>
        </p:nvSpPr>
        <p:spPr>
          <a:xfrm>
            <a:off x="1019170" y="3024442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Задержка снижает оперативность управления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Переход на потоковую загрузку позволил получить отчёт к 8:30 вместо 11:00</a:t>
            </a:r>
          </a:p>
        </p:txBody>
      </p:sp>
      <p:sp>
        <p:nvSpPr>
          <p:cNvPr id="2252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b="1" i="0" lang="en-US" sz="6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 xml:space="preserve">8:30</a:t>
            </a:r>
          </a:p>
        </p:txBody>
      </p:sp>
      <p:sp>
        <p:nvSpPr>
          <p:cNvPr id="2253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lang="en-US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4" name="Google Shape;2254;p83"/>
          <p:cNvSpPr txBox="1"/>
          <p:nvPr/>
        </p:nvSpPr>
        <p:spPr>
          <a:xfrm>
            <a:off x="256559" y="3689483"/>
            <a:ext cx="431544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Отчёт доступен к 8:30 после перехода на потоковую загрузку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Число инцидентов с опозданием снизилось с 9 до 2 в месяц благодаря потоковой загрузке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734641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6" name="Google Shape;1056;p66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66"/>
          <p:cNvSpPr/>
          <p:nvPr/>
        </p:nvSpPr>
        <p:spPr>
          <a:xfrm>
            <a:off x="3838239" y="276524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6"/>
          <p:cNvSpPr/>
          <p:nvPr/>
        </p:nvSpPr>
        <p:spPr>
          <a:xfrm>
            <a:off x="4048160" y="486417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66"/>
          <p:cNvSpPr/>
          <p:nvPr/>
        </p:nvSpPr>
        <p:spPr>
          <a:xfrm>
            <a:off x="4048160" y="486418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Длительность пилота</a:t>
            </a:r>
          </a:p>
        </p:txBody>
      </p:sp>
      <p:sp>
        <p:nvSpPr>
          <p:cNvPr id="1060" name="Google Shape;1060;p66"/>
          <p:cNvSpPr/>
          <p:nvPr/>
        </p:nvSpPr>
        <p:spPr>
          <a:xfrm>
            <a:off x="4048160" y="740925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Пилот на двух витринах занял 6 недель</a:t>
            </a:r>
          </a:p>
        </p:txBody>
      </p:sp>
      <p:sp>
        <p:nvSpPr>
          <p:cNvPr id="1061" name="Google Shape;1061;p66"/>
          <p:cNvSpPr/>
          <p:nvPr/>
        </p:nvSpPr>
        <p:spPr>
          <a:xfrm>
            <a:off x="3838239" y="1462423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66"/>
          <p:cNvSpPr/>
          <p:nvPr/>
        </p:nvSpPr>
        <p:spPr>
          <a:xfrm>
            <a:off x="4048160" y="16723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6"/>
          <p:cNvSpPr/>
          <p:nvPr/>
        </p:nvSpPr>
        <p:spPr>
          <a:xfrm>
            <a:off x="4048160" y="1672317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Охват пилота</a:t>
            </a:r>
          </a:p>
        </p:txBody>
      </p:sp>
      <p:sp>
        <p:nvSpPr>
          <p:cNvPr id="1064" name="Google Shape;1064;p66"/>
          <p:cNvSpPr/>
          <p:nvPr/>
        </p:nvSpPr>
        <p:spPr>
          <a:xfrm>
            <a:off x="4048160" y="19268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Тестирование проведено на двух витринах</a:t>
            </a:r>
          </a:p>
        </p:txBody>
      </p:sp>
      <p:sp>
        <p:nvSpPr>
          <p:cNvPr id="1065" name="Google Shape;1065;p66"/>
          <p:cNvSpPr/>
          <p:nvPr/>
        </p:nvSpPr>
        <p:spPr>
          <a:xfrm>
            <a:off x="3838239" y="2648322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66"/>
          <p:cNvSpPr/>
          <p:nvPr/>
        </p:nvSpPr>
        <p:spPr>
          <a:xfrm>
            <a:off x="4048160" y="28582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66"/>
          <p:cNvSpPr/>
          <p:nvPr/>
        </p:nvSpPr>
        <p:spPr>
          <a:xfrm>
            <a:off x="4048160" y="2858216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Готовность к масштабированию</a:t>
            </a:r>
          </a:p>
        </p:txBody>
      </p:sp>
      <p:sp>
        <p:nvSpPr>
          <p:cNvPr id="1068" name="Google Shape;1068;p66"/>
          <p:cNvSpPr/>
          <p:nvPr/>
        </p:nvSpPr>
        <p:spPr>
          <a:xfrm>
            <a:off x="4048160" y="31127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Результаты подтверждают возможность расширения</a:t>
            </a:r>
          </a:p>
        </p:txBody>
      </p:sp>
      <p:sp>
        <p:nvSpPr>
          <p:cNvPr id="1073" name="Google Shape;1073;p66"/>
          <p:cNvSpPr txBox="1"/>
          <p:nvPr>
            <p:ph type="title"/>
          </p:nvPr>
        </p:nvSpPr>
        <p:spPr>
          <a:xfrm>
            <a:off x="177971" y="282949"/>
            <a:ext cx="3412254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Пилот на двух витринах занял 6 недель, подтвердив реализуемость инициативы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Рост затрат на инфраструктуру на 12 % является приемлемым уровнем для получения преимуществ</a:t>
            </a:r>
          </a:p>
        </p:txBody>
      </p:sp>
      <p:sp>
        <p:nvSpPr>
          <p:cNvPr id="2252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b="1" i="0" lang="en-US" sz="6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 xml:space="preserve">12 %</a:t>
            </a:r>
          </a:p>
        </p:txBody>
      </p:sp>
      <p:sp>
        <p:nvSpPr>
          <p:cNvPr id="2253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lang="en-US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4" name="Google Shape;2254;p83"/>
          <p:cNvSpPr txBox="1"/>
          <p:nvPr/>
        </p:nvSpPr>
        <p:spPr>
          <a:xfrm>
            <a:off x="256559" y="3689483"/>
            <a:ext cx="431544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Затраты на инфраструктуру выросли на 12 %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23" name="Google Shape;723;p57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57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57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57"/>
          <p:cNvSpPr/>
          <p:nvPr/>
        </p:nvSpPr>
        <p:spPr>
          <a:xfrm>
            <a:off x="285749" y="1209852"/>
            <a:ext cx="4238603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57"/>
          <p:cNvSpPr/>
          <p:nvPr/>
        </p:nvSpPr>
        <p:spPr>
          <a:xfrm>
            <a:off x="597554" y="1362233"/>
            <a:ext cx="3614991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57"/>
          <p:cNvSpPr/>
          <p:nvPr/>
        </p:nvSpPr>
        <p:spPr>
          <a:xfrm>
            <a:off x="637405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57"/>
          <p:cNvSpPr/>
          <p:nvPr/>
        </p:nvSpPr>
        <p:spPr>
          <a:xfrm>
            <a:off x="597554" y="1590803"/>
            <a:ext cx="371892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Пакетная загрузка</a:t>
            </a:r>
          </a:p>
        </p:txBody>
      </p:sp>
      <p:sp>
        <p:nvSpPr>
          <p:cNvPr id="731" name="Google Shape;731;p57"/>
          <p:cNvSpPr/>
          <p:nvPr/>
        </p:nvSpPr>
        <p:spPr>
          <a:xfrm>
            <a:off x="597554" y="1819373"/>
            <a:ext cx="3692943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Отчёт готов к 11:00, 9 инцидентов в месяц</a:t>
            </a:r>
          </a:p>
        </p:txBody>
      </p:sp>
      <p:sp>
        <p:nvSpPr>
          <p:cNvPr id="732" name="Google Shape;732;p57"/>
          <p:cNvSpPr/>
          <p:nvPr/>
        </p:nvSpPr>
        <p:spPr>
          <a:xfrm>
            <a:off x="4619601" y="1209852"/>
            <a:ext cx="4238603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7"/>
          <p:cNvSpPr/>
          <p:nvPr/>
        </p:nvSpPr>
        <p:spPr>
          <a:xfrm>
            <a:off x="4931406" y="1362233"/>
            <a:ext cx="3614991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57"/>
          <p:cNvSpPr/>
          <p:nvPr/>
        </p:nvSpPr>
        <p:spPr>
          <a:xfrm>
            <a:off x="497125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57"/>
          <p:cNvSpPr/>
          <p:nvPr/>
        </p:nvSpPr>
        <p:spPr>
          <a:xfrm>
            <a:off x="4931406" y="1590803"/>
            <a:ext cx="371892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Потоковая загрузка</a:t>
            </a:r>
          </a:p>
        </p:txBody>
      </p:sp>
      <p:sp>
        <p:nvSpPr>
          <p:cNvPr id="736" name="Google Shape;736;p57"/>
          <p:cNvSpPr/>
          <p:nvPr/>
        </p:nvSpPr>
        <p:spPr>
          <a:xfrm>
            <a:off x="4931406" y="1819373"/>
            <a:ext cx="3692943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Отчёт готов к 8:30, 2 инцидента в месяц</a:t>
            </a:r>
          </a:p>
        </p:txBody>
      </p:sp>
      <p:sp>
        <p:nvSpPr>
          <p:cNvPr id="747" name="Google Shape;747;p57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Потоковая загрузка обеспечивает более раннюю готовность отчёта и меньше инцидентов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74" name="Google Shape;774;p58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58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58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58"/>
          <p:cNvSpPr/>
          <p:nvPr/>
        </p:nvSpPr>
        <p:spPr>
          <a:xfrm>
            <a:off x="285749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58"/>
          <p:cNvSpPr/>
          <p:nvPr/>
        </p:nvSpPr>
        <p:spPr>
          <a:xfrm>
            <a:off x="438148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58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58"/>
          <p:cNvSpPr/>
          <p:nvPr/>
        </p:nvSpPr>
        <p:spPr>
          <a:xfrm>
            <a:off x="438148" y="1590803"/>
            <a:ext cx="253998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Остаток работ</a:t>
            </a:r>
          </a:p>
        </p:txBody>
      </p:sp>
      <p:sp>
        <p:nvSpPr>
          <p:cNvPr id="781" name="Google Shape;781;p58"/>
          <p:cNvSpPr/>
          <p:nvPr/>
        </p:nvSpPr>
        <p:spPr>
          <a:xfrm>
            <a:off x="438148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Осталось перевести 14 витрин</a:t>
            </a:r>
          </a:p>
        </p:txBody>
      </p:sp>
      <p:sp>
        <p:nvSpPr>
          <p:cNvPr id="782" name="Google Shape;782;p58"/>
          <p:cNvSpPr/>
          <p:nvPr/>
        </p:nvSpPr>
        <p:spPr>
          <a:xfrm>
            <a:off x="3174985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58"/>
          <p:cNvSpPr/>
          <p:nvPr/>
        </p:nvSpPr>
        <p:spPr>
          <a:xfrm>
            <a:off x="3327384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58"/>
          <p:cNvSpPr/>
          <p:nvPr/>
        </p:nvSpPr>
        <p:spPr>
          <a:xfrm>
            <a:off x="332738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58"/>
          <p:cNvSpPr/>
          <p:nvPr/>
        </p:nvSpPr>
        <p:spPr>
          <a:xfrm>
            <a:off x="3327384" y="1590803"/>
            <a:ext cx="2539986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Срок выполнения</a:t>
            </a:r>
          </a:p>
        </p:txBody>
      </p:sp>
      <p:sp>
        <p:nvSpPr>
          <p:cNvPr id="786" name="Google Shape;786;p58"/>
          <p:cNvSpPr/>
          <p:nvPr/>
        </p:nvSpPr>
        <p:spPr>
          <a:xfrm>
            <a:off x="3327384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Завершить перевод до конца квартала</a:t>
            </a:r>
          </a:p>
        </p:txBody>
      </p:sp>
      <p:sp>
        <p:nvSpPr>
          <p:cNvPr id="787" name="Google Shape;787;p58"/>
          <p:cNvSpPr/>
          <p:nvPr/>
        </p:nvSpPr>
        <p:spPr>
          <a:xfrm>
            <a:off x="6064222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58"/>
          <p:cNvSpPr/>
          <p:nvPr/>
        </p:nvSpPr>
        <p:spPr>
          <a:xfrm>
            <a:off x="6216621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8"/>
          <p:cNvSpPr/>
          <p:nvPr/>
        </p:nvSpPr>
        <p:spPr>
          <a:xfrm>
            <a:off x="621662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58"/>
          <p:cNvSpPr/>
          <p:nvPr/>
        </p:nvSpPr>
        <p:spPr>
          <a:xfrm>
            <a:off x="6216621" y="1590803"/>
            <a:ext cx="2539986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Решение руководства</a:t>
            </a:r>
          </a:p>
        </p:txBody>
      </p:sp>
      <p:sp>
        <p:nvSpPr>
          <p:cNvPr id="791" name="Google Shape;791;p58"/>
          <p:cNvSpPr/>
          <p:nvPr/>
        </p:nvSpPr>
        <p:spPr>
          <a:xfrm>
            <a:off x="6216621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Требуется решение для запуска работ</a:t>
            </a:r>
          </a:p>
        </p:txBody>
      </p:sp>
      <p:sp>
        <p:nvSpPr>
          <p:cNvPr id="792" name="Google Shape;792;p58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Для перевода оставшихся 14 витрин на потоковую загрузку до конца квартала требуется решение руководства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7" name="Google Shape;417;p44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</a:pPr>
            <a:r>
              <a:rPr lang="en-US" sz="2450"/>
              <a:t xml:space="preserve">Решение руководства позволит завершить перевод всех витрин до конца квартала</a:t>
            </a:r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/>
              <a:t xml:space="preserve">Просим одобрить перевод 14 витрин</a:t>
            </a:r>
          </a:p>
        </p:txBody>
      </p:sp>
      <p:grpSp>
        <p:nvGrpSpPr>
          <p:cNvPr id="419" name="Google Shape;419;p44"/>
          <p:cNvGrpSpPr/>
          <p:nvPr/>
        </p:nvGrpSpPr>
        <p:grpSpPr>
          <a:xfrm>
            <a:off x="282380" y="3403462"/>
            <a:ext cx="1195387" cy="99124"/>
            <a:chOff x="658813" y="5548708"/>
            <a:chExt cx="2283170" cy="189326"/>
          </a:xfrm>
        </p:grpSpPr>
        <p:sp>
          <p:nvSpPr>
            <p:cNvPr id="420" name="Google Shape;420;p44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