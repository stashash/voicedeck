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Инциденты в месяц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Sheet1!$A$2:$A$3</c:f>
              <c:strCache>
                <c:ptCount val="2"/>
                <c:pt idx="0">
                  <c:v>До пилота</c:v>
                </c:pt>
                <c:pt idx="1">
                  <c:v>После пилота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9.0</c:v>
                </c:pt>
                <c:pt idx="1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001515"/>
              </a:solidFill>
            </a:ln>
          </c:spPr>
        </c:majorGridlines>
        <c:title>
          <c:tx>
            <c:rich>
              <a:bodyPr/>
              <a:lstStyle/>
              <a:p>
                <a:r>
                  <a:t>шт.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800"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Добрый день, коллеги. Сегодня мы обсуждаем инициативу по оптимизации процесса формирования отчётов.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Мы рассмотрим текущие проблемы, покажем результаты пилота и попросим принять решение о масштабировании.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Сейчас мы используем пакетную загрузку, из-за чего отчёт готов лишь к 11 утра.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После перехода на потоковую загрузку отчёт готов уже к 8:30 утра.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График наглядно показывает снижение числа инцидентов с опозданием отчёта.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Пилот на двух витринах занял 6 недель, что демонстрирует реалистичные сроки внедрения.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Затраты на инфраструктуру выросли на 12 %, что является разумной ценой за улучшение качества отчётов.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Сравнение показывает явное преимущество потоковой загрузки по срокам и надёжности.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Для завершения инициативы необходимо перевести оставшиеся 14 витрин до конца квартала.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Просим вас одобрить инициативу для перевода оставшихся 14 витрин на потоковую загрузку.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1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9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8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2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4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" name="Google Shape;22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" name="Google Shape;2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" name="Google Shape;24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" name="Google Shape;25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" name="Google Shape;27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" name="Google Shape;28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" name="Google Shape;29;p3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3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3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33" name="Google Shape;33;p3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4" name="Google Shape;34;p3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3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36" name="Google Shape;36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" name="Google Shape;37;p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9" name="Google Shape;3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0" name="Google Shape;40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1" name="Google Shape;4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2" name="Google Shape;42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43" name="Google Shape;43;p4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44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45" name="Google Shape;45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46" name="Google Shape;46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4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50" name="Google Shape;50;p4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" name="Google Shape;51;p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52" name="Google Shape;52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3" name="Google Shape;53;p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Разделитель">
  <p:cSld name="1_Разделитель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57" name="Google Shape;57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58" name="Google Shape;58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59" name="Google Shape;59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1" name="Google Shape;61;p6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62" name="Google Shape;62;p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63" name="Google Shape;63;p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64" name="Google Shape;64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65" name="Google Shape;65;p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одержание">
  <p:cSld name="1_Содержание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78" name="Google Shape;78;p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79" name="Google Shape;79;p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80" name="Google Shape;80;p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81" name="Google Shape;81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" name="Google Shape;82;p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одержание">
  <p:cSld name="2_Содержание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90" name="Google Shape;90;p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91" name="Google Shape;91;p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92" name="Google Shape;92;p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93" name="Google Shape;93;p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Визитка">
  <p:cSld name="1_Визитка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12" name="Google Shape;112;p1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13" name="Google Shape;113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14" name="Google Shape;114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1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Визитка">
  <p:cSld name="4_Визитка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" name="Google Shape;122;p1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23" name="Google Shape;123;p1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24" name="Google Shape;124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25" name="Google Shape;12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1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1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1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Контент">
  <p:cSld name="1_Контент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45" name="Google Shape;145;p1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46" name="Google Shape;146;p1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7" name="Google Shape;147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8" name="Google Shape;14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Контент">
  <p:cSld name="3_Контент">
    <p:bg>
      <p:bgPr>
        <a:solidFill>
          <a:schemeClr val="lt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2" name="Google Shape;152;p1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53" name="Google Shape;153;p1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54" name="Google Shape;15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5" name="Google Shape;155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Контент">
  <p:cSld name="5_Контент">
    <p:bg>
      <p:bgPr>
        <a:solidFill>
          <a:schemeClr val="lt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59" name="Google Shape;159;p1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0" name="Google Shape;160;p1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1" name="Google Shape;161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2" name="Google Shape;162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Контент">
  <p:cSld name="7_Контент">
    <p:bg>
      <p:bgPr>
        <a:solidFill>
          <a:schemeClr val="lt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66" name="Google Shape;166;p1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67" name="Google Shape;167;p1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68" name="Google Shape;168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69" name="Google Shape;169;p1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Контент">
  <p:cSld name="8_Контент">
    <p:bg>
      <p:bgPr>
        <a:solidFill>
          <a:schemeClr val="lt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73" name="Google Shape;173;p1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74" name="Google Shape;174;p1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75" name="Google Shape;17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76" name="Google Shape;176;p1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Контент">
  <p:cSld name="13_Контент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1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0" name="Google Shape;180;p1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1" name="Google Shape;181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2" name="Google Shape;182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1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вободный дизайн">
  <p:cSld name="2_Свободный дизайн">
    <p:bg>
      <p:bgPr>
        <a:solidFill>
          <a:schemeClr val="dk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2" name="Google Shape;192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3" name="Google Shape;19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94" name="Google Shape;194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5" name="Google Shape;195;p21"/>
          <p:cNvSpPr txBox="1"/>
          <p:nvPr>
            <p:ph type="title"/>
          </p:nvPr>
        </p:nvSpPr>
        <p:spPr>
          <a:xfrm>
            <a:off x="177970" y="175372"/>
            <a:ext cx="6792985" cy="9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6" name="Google Shape;196;p21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7" name="Google Shape;197;p2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98" name="Google Shape;198;p2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99" name="Google Shape;19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0" name="Google Shape;200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Разделитель">
  <p:cSld name="2_Разделитель"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3" name="Google Shape;203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04" name="Google Shape;204;p22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5" name="Google Shape;205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2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Play"/>
              <a:buNone/>
              <a:defRPr b="0" i="0" sz="29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22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08" name="Google Shape;208;p2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09" name="Google Shape;209;p2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10" name="Google Shape;210;p2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1" name="Google Shape;211;p2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13" name="Google Shape;213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14" name="Google Shape;214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16" name="Google Shape;216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17" name="Google Shape;217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3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19" name="Google Shape;219;p23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20" name="Google Shape;220;p23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221" name="Google Shape;221;p2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22" name="Google Shape;222;p2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Титульный слайд">
  <p:cSld name="2_Титульный слайд">
    <p:bg>
      <p:bgPr>
        <a:solidFill>
          <a:schemeClr val="dk1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24" name="Google Shape;224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" name="Google Shape;22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6" name="Google Shape;226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7" name="Google Shape;227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8" name="Google Shape;228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29" name="Google Shape;229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0" name="Google Shape;230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1" name="Google Shape;231;p24"/>
          <p:cNvSpPr txBox="1"/>
          <p:nvPr>
            <p:ph type="title"/>
          </p:nvPr>
        </p:nvSpPr>
        <p:spPr>
          <a:xfrm>
            <a:off x="581272" y="1531415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2" name="Google Shape;232;p24"/>
          <p:cNvSpPr txBox="1"/>
          <p:nvPr>
            <p:ph idx="1" type="body"/>
          </p:nvPr>
        </p:nvSpPr>
        <p:spPr>
          <a:xfrm>
            <a:off x="581272" y="2362284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35" name="Google Shape;235;p24"/>
          <p:cNvPicPr preferRelativeResize="0"/>
          <p:nvPr/>
        </p:nvPicPr>
        <p:blipFill rotWithShape="1">
          <a:blip r:embed="rId3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36" name="Google Shape;236;p24"/>
          <p:cNvPicPr preferRelativeResize="0"/>
          <p:nvPr/>
        </p:nvPicPr>
        <p:blipFill rotWithShape="1">
          <a:blip r:embed="rId4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7" name="Google Shape;237;p24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38" name="Google Shape;238;p2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39" name="Google Shape;239;p2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&quot;Спасибо!&quot;">
  <p:cSld name="1_Слайд &quot;Спасибо!&quot;">
    <p:bg>
      <p:bgPr>
        <a:solidFill>
          <a:schemeClr val="dk1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41" name="Google Shape;241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2" name="Google Shape;242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3" name="Google Shape;2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4" name="Google Shape;244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45" name="Google Shape;245;p25"/>
          <p:cNvPicPr preferRelativeResize="0"/>
          <p:nvPr/>
        </p:nvPicPr>
        <p:blipFill rotWithShape="1">
          <a:blip r:embed="rId3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47" name="Google Shape;247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48" name="Google Shape;248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0" name="Google Shape;250;p25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1" name="Google Shape;251;p25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52" name="Google Shape;252;p25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25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54" name="Google Shape;254;p2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55" name="Google Shape;255;p2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Слайд &quot;Спасибо!&quot;">
  <p:cSld name="2_Слайд &quot;Спасибо!&quot;">
    <p:bg>
      <p:bgPr>
        <a:solidFill>
          <a:schemeClr val="dk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57" name="Google Shape;257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5028" y="20096"/>
            <a:ext cx="8158972" cy="51234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0" name="Google Shape;260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1" name="Google Shape;261;p26"/>
          <p:cNvPicPr preferRelativeResize="0"/>
          <p:nvPr/>
        </p:nvPicPr>
        <p:blipFill rotWithShape="1">
          <a:blip r:embed="rId2">
            <a:alphaModFix/>
          </a:blip>
          <a:srcRect b="1818" l="0" r="25540" t="0"/>
          <a:stretch/>
        </p:blipFill>
        <p:spPr>
          <a:xfrm>
            <a:off x="3871700" y="135413"/>
            <a:ext cx="5272300" cy="498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" name="Google Shape;262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63" name="Google Shape;263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64" name="Google Shape;264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5" name="Google Shape;265;p26"/>
          <p:cNvSpPr txBox="1"/>
          <p:nvPr>
            <p:ph type="title"/>
          </p:nvPr>
        </p:nvSpPr>
        <p:spPr>
          <a:xfrm>
            <a:off x="572960" y="1662782"/>
            <a:ext cx="5761338" cy="139210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700"/>
              <a:buFont typeface="Play"/>
              <a:buNone/>
              <a:defRPr b="0" i="0" sz="47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6" name="Google Shape;266;p26"/>
          <p:cNvSpPr txBox="1"/>
          <p:nvPr>
            <p:ph idx="1" type="body"/>
          </p:nvPr>
        </p:nvSpPr>
        <p:spPr>
          <a:xfrm>
            <a:off x="1430535" y="38427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7" name="Google Shape;267;p26"/>
          <p:cNvSpPr txBox="1"/>
          <p:nvPr>
            <p:ph idx="2" type="body"/>
          </p:nvPr>
        </p:nvSpPr>
        <p:spPr>
          <a:xfrm>
            <a:off x="1430534" y="420739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 " id="268" name="Google Shape;268;p26"/>
          <p:cNvPicPr preferRelativeResize="0"/>
          <p:nvPr/>
        </p:nvPicPr>
        <p:blipFill rotWithShape="1">
          <a:blip r:embed="rId4">
            <a:alphaModFix/>
          </a:blip>
          <a:srcRect b="3311" l="0" r="47427" t="0"/>
          <a:stretch/>
        </p:blipFill>
        <p:spPr>
          <a:xfrm>
            <a:off x="6164319" y="169615"/>
            <a:ext cx="2979681" cy="49537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9" name="Google Shape;269;p26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0" name="Google Shape;270;p2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1" name="Google Shape;271;p2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лайд &quot;Спасибо!&quot;">
  <p:cSld name="3_Слайд &quot;Спасибо!&quot;">
    <p:bg>
      <p:bgPr>
        <a:solidFill>
          <a:schemeClr val="dk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4" name="Google Shape;274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75" name="Google Shape;275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76" name="Google Shape;276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2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8" name="Google Shape;278;p2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1" name="Google Shape;281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Содержание">
  <p:cSld name="5_Содержание">
    <p:bg>
      <p:bgPr>
        <a:solidFill>
          <a:schemeClr val="dk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84" name="Google Shape;284;p2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85" name="Google Shape;285;p2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86" name="Google Shape;286;p28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87" name="Google Shape;287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8" name="Google Shape;288;p28"/>
          <p:cNvSpPr txBox="1"/>
          <p:nvPr>
            <p:ph idx="1" type="body"/>
          </p:nvPr>
        </p:nvSpPr>
        <p:spPr>
          <a:xfrm>
            <a:off x="5261907" y="72224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28"/>
          <p:cNvSpPr txBox="1"/>
          <p:nvPr>
            <p:ph idx="2" type="body"/>
          </p:nvPr>
        </p:nvSpPr>
        <p:spPr>
          <a:xfrm>
            <a:off x="5261908" y="138097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28"/>
          <p:cNvSpPr txBox="1"/>
          <p:nvPr>
            <p:ph idx="3" type="body"/>
          </p:nvPr>
        </p:nvSpPr>
        <p:spPr>
          <a:xfrm>
            <a:off x="5261908" y="203713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28"/>
          <p:cNvSpPr txBox="1"/>
          <p:nvPr>
            <p:ph idx="4" type="body"/>
          </p:nvPr>
        </p:nvSpPr>
        <p:spPr>
          <a:xfrm>
            <a:off x="5261909" y="2695855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2" name="Google Shape;292;p28"/>
          <p:cNvSpPr txBox="1"/>
          <p:nvPr>
            <p:ph idx="5" type="body"/>
          </p:nvPr>
        </p:nvSpPr>
        <p:spPr>
          <a:xfrm>
            <a:off x="5261909" y="338757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3" name="Google Shape;293;p28"/>
          <p:cNvSpPr txBox="1"/>
          <p:nvPr>
            <p:ph idx="6" type="body"/>
          </p:nvPr>
        </p:nvSpPr>
        <p:spPr>
          <a:xfrm>
            <a:off x="5261909" y="4079303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Содержание">
  <p:cSld name="6_Содержание"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296" name="Google Shape;296;p2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297" name="Google Shape;297;p2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298" name="Google Shape;298;p29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99" name="Google Shape;299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0" name="Google Shape;300;p29"/>
          <p:cNvSpPr txBox="1"/>
          <p:nvPr>
            <p:ph idx="1" type="body"/>
          </p:nvPr>
        </p:nvSpPr>
        <p:spPr>
          <a:xfrm>
            <a:off x="5261906" y="67044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1" name="Google Shape;301;p29"/>
          <p:cNvSpPr txBox="1"/>
          <p:nvPr>
            <p:ph idx="2" type="body"/>
          </p:nvPr>
        </p:nvSpPr>
        <p:spPr>
          <a:xfrm>
            <a:off x="5261907" y="1523599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2" name="Google Shape;302;p29"/>
          <p:cNvSpPr txBox="1"/>
          <p:nvPr>
            <p:ph idx="3" type="body"/>
          </p:nvPr>
        </p:nvSpPr>
        <p:spPr>
          <a:xfrm>
            <a:off x="5261907" y="2373656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3" name="Google Shape;303;p29"/>
          <p:cNvSpPr txBox="1"/>
          <p:nvPr>
            <p:ph idx="4" type="body"/>
          </p:nvPr>
        </p:nvSpPr>
        <p:spPr>
          <a:xfrm>
            <a:off x="5261907" y="3220500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29"/>
          <p:cNvSpPr txBox="1"/>
          <p:nvPr>
            <p:ph idx="5" type="body"/>
          </p:nvPr>
        </p:nvSpPr>
        <p:spPr>
          <a:xfrm>
            <a:off x="5261907" y="4067344"/>
            <a:ext cx="3509963" cy="3762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Визитка">
  <p:cSld name="3_Визитка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7" name="Google Shape;317;p3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18" name="Google Shape;318;p3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9" name="Google Shape;319;p3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20" name="Google Shape;320;p3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1" name="Google Shape;321;p31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1"/>
          <p:cNvSpPr txBox="1"/>
          <p:nvPr>
            <p:ph idx="1" type="body"/>
          </p:nvPr>
        </p:nvSpPr>
        <p:spPr>
          <a:xfrm>
            <a:off x="4861023" y="1806008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1"/>
          <p:cNvSpPr txBox="1"/>
          <p:nvPr>
            <p:ph idx="2" type="body"/>
          </p:nvPr>
        </p:nvSpPr>
        <p:spPr>
          <a:xfrm>
            <a:off x="283720" y="347298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4" name="Google Shape;324;p31"/>
          <p:cNvSpPr txBox="1"/>
          <p:nvPr>
            <p:ph idx="3" type="body"/>
          </p:nvPr>
        </p:nvSpPr>
        <p:spPr>
          <a:xfrm>
            <a:off x="283720" y="3908425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5" name="Google Shape;325;p31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Визитка">
  <p:cSld name="2_Визитка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32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29" name="Google Shape;329;p32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30" name="Google Shape;330;p3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31" name="Google Shape;331;p3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2" name="Google Shape;332;p32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2"/>
          <p:cNvSpPr txBox="1"/>
          <p:nvPr>
            <p:ph idx="1" type="body"/>
          </p:nvPr>
        </p:nvSpPr>
        <p:spPr>
          <a:xfrm>
            <a:off x="177971" y="1880499"/>
            <a:ext cx="3862387" cy="15314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2" type="body"/>
          </p:nvPr>
        </p:nvSpPr>
        <p:spPr>
          <a:xfrm>
            <a:off x="177971" y="767994"/>
            <a:ext cx="405874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type="title"/>
          </p:nvPr>
        </p:nvSpPr>
        <p:spPr>
          <a:xfrm>
            <a:off x="177971" y="282949"/>
            <a:ext cx="4058749" cy="466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Контент">
  <p:cSld name="2_Контент">
    <p:bg>
      <p:bgPr>
        <a:solidFill>
          <a:schemeClr val="dk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3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39" name="Google Shape;339;p3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0" name="Google Shape;340;p3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1" name="Google Shape;34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2" name="Google Shape;34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Контент">
  <p:cSld name="4_Контент">
    <p:bg>
      <p:bgPr>
        <a:solidFill>
          <a:schemeClr val="dk1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4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46" name="Google Shape;346;p34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47" name="Google Shape;347;p34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48" name="Google Shape;34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49" name="Google Shape;349;p3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Контент">
  <p:cSld name="6_Контент">
    <p:bg>
      <p:bgPr>
        <a:solidFill>
          <a:schemeClr val="dk1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53" name="Google Shape;353;p35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54" name="Google Shape;354;p35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55" name="Google Shape;355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56" name="Google Shape;356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Контент">
  <p:cSld name="12_Контент">
    <p:bg>
      <p:bgPr>
        <a:solidFill>
          <a:schemeClr val="dk1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6"/>
          <p:cNvSpPr txBox="1"/>
          <p:nvPr>
            <p:ph type="title"/>
          </p:nvPr>
        </p:nvSpPr>
        <p:spPr>
          <a:xfrm>
            <a:off x="177971" y="282949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0" name="Google Shape;360;p36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1" name="Google Shape;361;p36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2" name="Google Shape;362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63" name="Google Shape;363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Контент">
  <p:cSld name="9_Контент">
    <p:bg>
      <p:bgPr>
        <a:solidFill>
          <a:schemeClr val="dk1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7"/>
          <p:cNvSpPr txBox="1"/>
          <p:nvPr>
            <p:ph type="title"/>
          </p:nvPr>
        </p:nvSpPr>
        <p:spPr>
          <a:xfrm>
            <a:off x="430360" y="405612"/>
            <a:ext cx="4058749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"/>
              <a:buNone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67" name="Google Shape;367;p37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68" name="Google Shape;368;p37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69" name="Google Shape;369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0" name="Google Shape;37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Контент">
  <p:cSld name="10_Контент">
    <p:bg>
      <p:bgPr>
        <a:solidFill>
          <a:schemeClr val="dk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73" name="Google Shape;373;p38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74" name="Google Shape;374;p38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75" name="Google Shape;375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76" name="Google Shape;376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7" name="Google Shape;377;p38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Контент">
  <p:cSld name="11_Контент">
    <p:bg>
      <p:bgPr>
        <a:solidFill>
          <a:schemeClr val="lt1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0" name="Google Shape;380;p39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1" name="Google Shape;381;p39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2" name="Google Shape;382;p3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83" name="Google Shape;383;p3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4" name="Google Shape;384;p39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Контент">
  <p:cSld name="14_Контент">
    <p:bg>
      <p:bgPr>
        <a:solidFill>
          <a:schemeClr val="dk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7" name="Google Shape;387;p4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88" name="Google Shape;388;p4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89" name="Google Shape;389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0" name="Google Shape;390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1" name="Google Shape;391;p40"/>
          <p:cNvSpPr txBox="1"/>
          <p:nvPr>
            <p:ph type="title"/>
          </p:nvPr>
        </p:nvSpPr>
        <p:spPr>
          <a:xfrm>
            <a:off x="177971" y="282949"/>
            <a:ext cx="5939800" cy="489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DEFAULT">
  <p:cSld name="1_DEFAULT">
    <p:bg>
      <p:bgPr>
        <a:solidFill>
          <a:schemeClr val="dk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41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94" name="Google Shape;394;p41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95" name="Google Shape;395;p4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96" name="Google Shape;396;p4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slideLayout" Target="../slideLayouts/slideLayout9.xml"/><Relationship Id="rId7" Type="http://schemas.openxmlformats.org/officeDocument/2006/relationships/slideLayout" Target="../slideLayouts/slideLayout10.xml"/><Relationship Id="rId8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5.xml"/><Relationship Id="rId13" Type="http://schemas.openxmlformats.org/officeDocument/2006/relationships/slideLayout" Target="../slideLayouts/slideLayout16.xml"/><Relationship Id="rId14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0.xml"/><Relationship Id="rId18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22.xml"/><Relationship Id="rId20" Type="http://schemas.openxmlformats.org/officeDocument/2006/relationships/slideLayout" Target="../slideLayouts/slideLayout23.xml"/><Relationship Id="rId21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29.xml"/><Relationship Id="rId27" Type="http://schemas.openxmlformats.org/officeDocument/2006/relationships/slideLayout" Target="../slideLayouts/slideLayout30.xml"/><Relationship Id="rId28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34.xml"/><Relationship Id="rId32" Type="http://schemas.openxmlformats.org/officeDocument/2006/relationships/slideLayout" Target="../slideLayouts/slideLayout35.xml"/><Relationship Id="rId33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37.xml"/><Relationship Id="rId35" Type="http://schemas.openxmlformats.org/officeDocument/2006/relationships/slideLayout" Target="../slideLayouts/slideLayout38.xml"/><Relationship Id="rId36" Type="http://schemas.openxmlformats.org/officeDocument/2006/relationships/slideLayout" Target="../slideLayouts/slideLayout39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0" r:id="rId30"/>
    <p:sldLayoutId id="2147483681" r:id="rId31"/>
    <p:sldLayoutId id="2147483682" r:id="rId32"/>
    <p:sldLayoutId id="2147483683" r:id="rId33"/>
    <p:sldLayoutId id="2147483684" r:id="rId34"/>
    <p:sldLayoutId id="2147483685" r:id="rId35"/>
    <p:sldLayoutId id="2147483686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0.png"/><Relationship Id="rId3" Type="http://schemas.openxmlformats.org/officeDocument/2006/relationships/image" Target="../media/image26.png"/><Relationship Id="rId4" Type="http://schemas.openxmlformats.org/officeDocument/2006/relationships/image" Target="../media/image223.png"/><Relationship Id="rId5" Type="http://schemas.openxmlformats.org/officeDocument/2006/relationships/image" Target="../media/image224.png"/><Relationship Id="rId6" Type="http://schemas.openxmlformats.org/officeDocument/2006/relationships/image" Target="../media/image225.png"/><Relationship Id="rId7" Type="http://schemas.openxmlformats.org/officeDocument/2006/relationships/image" Target="../media/image226.png"/><Relationship Id="rId8" Type="http://schemas.openxmlformats.org/officeDocument/2006/relationships/image" Target="../media/image227.png"/><Relationship Id="rId9" Type="http://schemas.openxmlformats.org/officeDocument/2006/relationships/image" Target="../media/image228.png"/><Relationship Id="rId10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3.png"/><Relationship Id="rId3" Type="http://schemas.openxmlformats.org/officeDocument/2006/relationships/image" Target="../media/image120.png"/><Relationship Id="rId4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64.png"/><Relationship Id="rId3" Type="http://schemas.openxmlformats.org/officeDocument/2006/relationships/image" Target="../media/image171.png"/><Relationship Id="rId4" Type="http://schemas.openxmlformats.org/officeDocument/2006/relationships/image" Target="../media/image170.png"/><Relationship Id="rId5" Type="http://schemas.openxmlformats.org/officeDocument/2006/relationships/image" Target="../media/image169.png"/><Relationship Id="rId6" Type="http://schemas.openxmlformats.org/officeDocument/2006/relationships/image" Target="../media/image168.png"/><Relationship Id="rId7" Type="http://schemas.openxmlformats.org/officeDocument/2006/relationships/chart" Target="../charts/chart1.xml"/><Relationship Id="rId8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3.png"/><Relationship Id="rId3" Type="http://schemas.openxmlformats.org/officeDocument/2006/relationships/image" Target="../media/image120.png"/><Relationship Id="rId4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/Relationships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01" name="Google Shape;401;p4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en-US" sz="1350"/>
              <a:t xml:space="preserve">Руководство предлагает масштабировать успешный пилот по переводу ночных отчётов на потоковую загрузку на все витрины</a:t>
            </a:r>
          </a:p>
        </p:txBody>
      </p:sp>
      <p:sp>
        <p:nvSpPr>
          <p:cNvPr id="402" name="Google Shape;402;p4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 sz="900"/>
              <a:t xml:space="preserve">Предложение руководства по масштабированию успешного пилота на все витрины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2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55"/>
          <p:cNvSpPr/>
          <p:nvPr/>
        </p:nvSpPr>
        <p:spPr>
          <a:xfrm>
            <a:off x="285749" y="1209852"/>
            <a:ext cx="2793986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55"/>
          <p:cNvSpPr/>
          <p:nvPr/>
        </p:nvSpPr>
        <p:spPr>
          <a:xfrm>
            <a:off x="491283" y="1362233"/>
            <a:ext cx="2382916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5"/>
          <p:cNvSpPr/>
          <p:nvPr/>
        </p:nvSpPr>
        <p:spPr>
          <a:xfrm>
            <a:off x="504567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5"/>
          <p:cNvSpPr/>
          <p:nvPr/>
        </p:nvSpPr>
        <p:spPr>
          <a:xfrm>
            <a:off x="491283" y="1590803"/>
            <a:ext cx="245142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Текущее состояние</a:t>
            </a:r>
          </a:p>
        </p:txBody>
      </p:sp>
      <p:sp>
        <p:nvSpPr>
          <p:cNvPr id="669" name="Google Shape;669;p55"/>
          <p:cNvSpPr/>
          <p:nvPr/>
        </p:nvSpPr>
        <p:spPr>
          <a:xfrm>
            <a:off x="491283" y="1819373"/>
            <a:ext cx="2434300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Описание проблемы с задержкой отчётов</a:t>
            </a:r>
          </a:p>
        </p:txBody>
      </p:sp>
      <p:sp>
        <p:nvSpPr>
          <p:cNvPr id="670" name="Google Shape;670;p55"/>
          <p:cNvSpPr/>
          <p:nvPr/>
        </p:nvSpPr>
        <p:spPr>
          <a:xfrm>
            <a:off x="3174984" y="1209852"/>
            <a:ext cx="2793986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5"/>
          <p:cNvSpPr/>
          <p:nvPr/>
        </p:nvSpPr>
        <p:spPr>
          <a:xfrm>
            <a:off x="3380518" y="1362233"/>
            <a:ext cx="2382916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55"/>
          <p:cNvSpPr/>
          <p:nvPr/>
        </p:nvSpPr>
        <p:spPr>
          <a:xfrm>
            <a:off x="3393802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55"/>
          <p:cNvSpPr/>
          <p:nvPr/>
        </p:nvSpPr>
        <p:spPr>
          <a:xfrm>
            <a:off x="3380518" y="1590803"/>
            <a:ext cx="245142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Результаты пилота</a:t>
            </a:r>
          </a:p>
        </p:txBody>
      </p:sp>
      <p:sp>
        <p:nvSpPr>
          <p:cNvPr id="674" name="Google Shape;674;p55"/>
          <p:cNvSpPr/>
          <p:nvPr/>
        </p:nvSpPr>
        <p:spPr>
          <a:xfrm>
            <a:off x="3380518" y="1819373"/>
            <a:ext cx="2434300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Показатели эффективности на двух витринах</a:t>
            </a:r>
          </a:p>
        </p:txBody>
      </p:sp>
      <p:sp>
        <p:nvSpPr>
          <p:cNvPr id="675" name="Google Shape;675;p55"/>
          <p:cNvSpPr/>
          <p:nvPr/>
        </p:nvSpPr>
        <p:spPr>
          <a:xfrm>
            <a:off x="6064218" y="1209852"/>
            <a:ext cx="2793986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5"/>
          <p:cNvSpPr/>
          <p:nvPr/>
        </p:nvSpPr>
        <p:spPr>
          <a:xfrm>
            <a:off x="6269754" y="1362233"/>
            <a:ext cx="2382916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55"/>
          <p:cNvSpPr/>
          <p:nvPr/>
        </p:nvSpPr>
        <p:spPr>
          <a:xfrm>
            <a:off x="628303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55"/>
          <p:cNvSpPr/>
          <p:nvPr/>
        </p:nvSpPr>
        <p:spPr>
          <a:xfrm>
            <a:off x="6269754" y="1590803"/>
            <a:ext cx="2451428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Запрос на решение</a:t>
            </a:r>
          </a:p>
        </p:txBody>
      </p:sp>
      <p:sp>
        <p:nvSpPr>
          <p:cNvPr id="679" name="Google Shape;679;p55"/>
          <p:cNvSpPr/>
          <p:nvPr/>
        </p:nvSpPr>
        <p:spPr>
          <a:xfrm>
            <a:off x="6269754" y="1819373"/>
            <a:ext cx="2434300" cy="2290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Необходимость масштабирования на 14 витрин</a:t>
            </a:r>
          </a:p>
        </p:txBody>
      </p:sp>
      <p:sp>
        <p:nvSpPr>
          <p:cNvPr id="685" name="Google Shape;685;p55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План встречи: анализ состояния, результаты пилота и запрос на решение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78" name="Google Shape;878;p61"/>
          <p:cNvSpPr/>
          <p:nvPr/>
        </p:nvSpPr>
        <p:spPr>
          <a:xfrm>
            <a:off x="285749" y="1243185"/>
            <a:ext cx="1257293" cy="57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9" name="Google Shape;879;p61"/>
          <p:cNvSpPr/>
          <p:nvPr/>
        </p:nvSpPr>
        <p:spPr>
          <a:xfrm>
            <a:off x="285749" y="1243185"/>
            <a:ext cx="571497" cy="571426"/>
          </a:xfrm>
          <a:prstGeom prst="roundRect">
            <a:avLst>
              <a:gd fmla="val 27600" name="adj"/>
            </a:avLst>
          </a:prstGeom>
          <a:solidFill>
            <a:srgbClr val="0077FF">
              <a:alpha val="10196"/>
            </a:srgbClr>
          </a:solidFill>
          <a:ln cap="flat" cmpd="sng" w="9525">
            <a:solidFill>
              <a:srgbClr val="007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880" name="Google Shape;880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7673" y="1405089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81" name="Google Shape;881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88" y="1423117"/>
            <a:ext cx="214944" cy="210783"/>
          </a:xfrm>
          <a:prstGeom prst="rect">
            <a:avLst/>
          </a:prstGeom>
          <a:noFill/>
          <a:ln>
            <a:noFill/>
          </a:ln>
        </p:spPr>
      </p:pic>
      <p:sp>
        <p:nvSpPr>
          <p:cNvPr id="882" name="Google Shape;882;p61"/>
          <p:cNvSpPr/>
          <p:nvPr/>
        </p:nvSpPr>
        <p:spPr>
          <a:xfrm>
            <a:off x="285749" y="2047943"/>
            <a:ext cx="1257293" cy="57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61"/>
          <p:cNvSpPr/>
          <p:nvPr/>
        </p:nvSpPr>
        <p:spPr>
          <a:xfrm>
            <a:off x="285749" y="2047943"/>
            <a:ext cx="571497" cy="571426"/>
          </a:xfrm>
          <a:prstGeom prst="roundRect">
            <a:avLst>
              <a:gd fmla="val 27600" name="adj"/>
            </a:avLst>
          </a:prstGeom>
          <a:solidFill>
            <a:srgbClr val="0077FF">
              <a:alpha val="10196"/>
            </a:srgbClr>
          </a:solidFill>
          <a:ln cap="flat" cmpd="sng" w="9525">
            <a:solidFill>
              <a:srgbClr val="007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884" name="Google Shape;884;p6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7673" y="2209847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85" name="Google Shape;885;p6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6388" y="2227875"/>
            <a:ext cx="214944" cy="210783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61"/>
          <p:cNvSpPr/>
          <p:nvPr/>
        </p:nvSpPr>
        <p:spPr>
          <a:xfrm>
            <a:off x="285749" y="2852700"/>
            <a:ext cx="1257293" cy="571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61"/>
          <p:cNvSpPr/>
          <p:nvPr/>
        </p:nvSpPr>
        <p:spPr>
          <a:xfrm>
            <a:off x="285749" y="2852700"/>
            <a:ext cx="571497" cy="571426"/>
          </a:xfrm>
          <a:prstGeom prst="roundRect">
            <a:avLst>
              <a:gd fmla="val 27600" name="adj"/>
            </a:avLst>
          </a:prstGeom>
          <a:solidFill>
            <a:srgbClr val="0077FF">
              <a:alpha val="10196"/>
            </a:srgbClr>
          </a:solidFill>
          <a:ln cap="flat" cmpd="sng" w="9525">
            <a:solidFill>
              <a:srgbClr val="007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 " id="888" name="Google Shape;888;p6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7673" y="3014604"/>
            <a:ext cx="252411" cy="2523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89" name="Google Shape;889;p6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6388" y="3032632"/>
            <a:ext cx="214944" cy="210783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61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400"/>
              <a:t xml:space="preserve">Задержка отчётов до 11:00 из-за пакетной загрузки снижает оперативность управления</a:t>
            </a:r>
          </a:p>
        </p:txBody>
      </p:sp>
      <p:sp>
        <p:nvSpPr>
          <p:cNvPr id="895" name="Google Shape;895;p61"/>
          <p:cNvSpPr/>
          <p:nvPr/>
        </p:nvSpPr>
        <p:spPr>
          <a:xfrm>
            <a:off x="1019170" y="1402177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Отчёт по продажам готов к 11:00</a:t>
            </a:r>
          </a:p>
        </p:txBody>
      </p:sp>
      <p:sp>
        <p:nvSpPr>
          <p:cNvPr id="896" name="Google Shape;896;p61"/>
          <p:cNvSpPr/>
          <p:nvPr/>
        </p:nvSpPr>
        <p:spPr>
          <a:xfrm>
            <a:off x="1019170" y="2218724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Используется пакетная загрузка данных</a:t>
            </a:r>
          </a:p>
        </p:txBody>
      </p:sp>
      <p:sp>
        <p:nvSpPr>
          <p:cNvPr id="897" name="Google Shape;897;p61"/>
          <p:cNvSpPr/>
          <p:nvPr/>
        </p:nvSpPr>
        <p:spPr>
          <a:xfrm>
            <a:off x="1019170" y="3024442"/>
            <a:ext cx="1963516" cy="227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Задержка снижает оперативность управления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 " id="2249" name="Google Shape;2249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5748" y="3576507"/>
            <a:ext cx="2381238" cy="28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0" name="Google Shape;225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3234" y="3576507"/>
            <a:ext cx="3762355" cy="28571"/>
          </a:xfrm>
          <a:prstGeom prst="rect">
            <a:avLst/>
          </a:prstGeom>
          <a:noFill/>
          <a:ln>
            <a:noFill/>
          </a:ln>
        </p:spPr>
      </p:pic>
      <p:sp>
        <p:nvSpPr>
          <p:cNvPr id="2251" name="Google Shape;2251;p8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Переход на потоковую загрузку позволил получить отчёт к 8:30 вместо 11:00</a:t>
            </a:r>
          </a:p>
        </p:txBody>
      </p:sp>
      <p:sp>
        <p:nvSpPr>
          <p:cNvPr id="2252" name="Google Shape;2252;p83"/>
          <p:cNvSpPr txBox="1"/>
          <p:nvPr/>
        </p:nvSpPr>
        <p:spPr>
          <a:xfrm>
            <a:off x="177970" y="1664110"/>
            <a:ext cx="2381238" cy="2189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non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r>
              <a:rPr b="1" i="0" lang="en-US" sz="64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 xml:space="preserve">8:30</a:t>
            </a:r>
          </a:p>
        </p:txBody>
      </p:sp>
      <p:sp>
        <p:nvSpPr>
          <p:cNvPr id="2253" name="Google Shape;2253;p83"/>
          <p:cNvSpPr txBox="1"/>
          <p:nvPr/>
        </p:nvSpPr>
        <p:spPr>
          <a:xfrm>
            <a:off x="3143234" y="1664110"/>
            <a:ext cx="4320556" cy="2189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non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endParaRPr b="1" i="0" lang="en-US" sz="166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254" name="Google Shape;2254;p83"/>
          <p:cNvSpPr txBox="1"/>
          <p:nvPr/>
        </p:nvSpPr>
        <p:spPr>
          <a:xfrm>
            <a:off x="256559" y="3689483"/>
            <a:ext cx="4315441" cy="32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Отчёт доступен к 8:30 после перехода на потоковую загрузку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69" name="Google Shape;2569;p9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Число инцидентов с опозданием снизилось с 9 до 2 в месяц благодаря потоковой загрузке</a:t>
            </a:r>
          </a:p>
        </p:txBody>
      </p:sp>
      <p:graphicFrame>
        <p:nvGraphicFramePr>
          <p:cNvPr id="2570" name="Chart 2569"/>
          <p:cNvGraphicFramePr>
            <a:graphicFrameLocks noGrp="1"/>
          </p:cNvGraphicFramePr>
          <p:nvPr/>
        </p:nvGraphicFramePr>
        <p:xfrm>
          <a:off x="285293" y="1110022"/>
          <a:ext cx="8572500" cy="3734641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56" name="Google Shape;1056;p66"/>
          <p:cNvSpPr/>
          <p:nvPr/>
        </p:nvSpPr>
        <p:spPr>
          <a:xfrm>
            <a:off x="285748" y="276524"/>
            <a:ext cx="8572456" cy="685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66"/>
          <p:cNvSpPr/>
          <p:nvPr/>
        </p:nvSpPr>
        <p:spPr>
          <a:xfrm>
            <a:off x="3838239" y="276524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66"/>
          <p:cNvSpPr/>
          <p:nvPr/>
        </p:nvSpPr>
        <p:spPr>
          <a:xfrm>
            <a:off x="4048160" y="486417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66"/>
          <p:cNvSpPr/>
          <p:nvPr/>
        </p:nvSpPr>
        <p:spPr>
          <a:xfrm>
            <a:off x="4048160" y="486418"/>
            <a:ext cx="4585000" cy="184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Длительность пилота</a:t>
            </a:r>
          </a:p>
        </p:txBody>
      </p:sp>
      <p:sp>
        <p:nvSpPr>
          <p:cNvPr id="1060" name="Google Shape;1060;p66"/>
          <p:cNvSpPr/>
          <p:nvPr/>
        </p:nvSpPr>
        <p:spPr>
          <a:xfrm>
            <a:off x="4048160" y="740925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Пилот на двух витринах занял 6 недель.</a:t>
            </a:r>
          </a:p>
        </p:txBody>
      </p:sp>
      <p:sp>
        <p:nvSpPr>
          <p:cNvPr id="1061" name="Google Shape;1061;p66"/>
          <p:cNvSpPr/>
          <p:nvPr/>
        </p:nvSpPr>
        <p:spPr>
          <a:xfrm>
            <a:off x="3838239" y="1462423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66"/>
          <p:cNvSpPr/>
          <p:nvPr/>
        </p:nvSpPr>
        <p:spPr>
          <a:xfrm>
            <a:off x="4048160" y="1672316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66"/>
          <p:cNvSpPr/>
          <p:nvPr/>
        </p:nvSpPr>
        <p:spPr>
          <a:xfrm>
            <a:off x="4048160" y="1672317"/>
            <a:ext cx="4585000" cy="184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Охват пилота</a:t>
            </a:r>
          </a:p>
        </p:txBody>
      </p:sp>
      <p:sp>
        <p:nvSpPr>
          <p:cNvPr id="1064" name="Google Shape;1064;p66"/>
          <p:cNvSpPr/>
          <p:nvPr/>
        </p:nvSpPr>
        <p:spPr>
          <a:xfrm>
            <a:off x="4048160" y="1926823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Тестирование проведено на двух витринах.</a:t>
            </a:r>
          </a:p>
        </p:txBody>
      </p:sp>
      <p:sp>
        <p:nvSpPr>
          <p:cNvPr id="1065" name="Google Shape;1065;p66"/>
          <p:cNvSpPr/>
          <p:nvPr/>
        </p:nvSpPr>
        <p:spPr>
          <a:xfrm>
            <a:off x="3838239" y="2648322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66"/>
          <p:cNvSpPr/>
          <p:nvPr/>
        </p:nvSpPr>
        <p:spPr>
          <a:xfrm>
            <a:off x="4048160" y="2858216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66"/>
          <p:cNvSpPr/>
          <p:nvPr/>
        </p:nvSpPr>
        <p:spPr>
          <a:xfrm>
            <a:off x="4048160" y="2858216"/>
            <a:ext cx="4585000" cy="184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Готовность к масштабированию</a:t>
            </a:r>
          </a:p>
        </p:txBody>
      </p:sp>
      <p:sp>
        <p:nvSpPr>
          <p:cNvPr id="1068" name="Google Shape;1068;p66"/>
          <p:cNvSpPr/>
          <p:nvPr/>
        </p:nvSpPr>
        <p:spPr>
          <a:xfrm>
            <a:off x="4048160" y="3112723"/>
            <a:ext cx="4571005" cy="3935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Результаты подтверждают возможность расширения.</a:t>
            </a:r>
          </a:p>
        </p:txBody>
      </p:sp>
      <p:sp>
        <p:nvSpPr>
          <p:cNvPr id="1073" name="Google Shape;1073;p66"/>
          <p:cNvSpPr txBox="1"/>
          <p:nvPr>
            <p:ph type="title"/>
          </p:nvPr>
        </p:nvSpPr>
        <p:spPr>
          <a:xfrm>
            <a:off x="177971" y="282949"/>
            <a:ext cx="3412254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Пилот на двух витринах занял 6 недель, подтвердив реализуемость инициативы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descr=" " id="2249" name="Google Shape;2249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85748" y="3576507"/>
            <a:ext cx="2381238" cy="285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250" name="Google Shape;2250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43234" y="3576507"/>
            <a:ext cx="3762355" cy="28571"/>
          </a:xfrm>
          <a:prstGeom prst="rect">
            <a:avLst/>
          </a:prstGeom>
          <a:noFill/>
          <a:ln>
            <a:noFill/>
          </a:ln>
        </p:spPr>
      </p:pic>
      <p:sp>
        <p:nvSpPr>
          <p:cNvPr id="2251" name="Google Shape;2251;p8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Рост затрат на инфраструктуру на 12 % является приемлемым уровнем для получения преимуществ</a:t>
            </a:r>
          </a:p>
        </p:txBody>
      </p:sp>
      <p:sp>
        <p:nvSpPr>
          <p:cNvPr id="2252" name="Google Shape;2252;p83"/>
          <p:cNvSpPr txBox="1"/>
          <p:nvPr/>
        </p:nvSpPr>
        <p:spPr>
          <a:xfrm>
            <a:off x="177970" y="1664110"/>
            <a:ext cx="2381238" cy="2189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non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r>
              <a:rPr b="1" i="0" lang="en-US" sz="64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 xml:space="preserve">12 %</a:t>
            </a:r>
          </a:p>
        </p:txBody>
      </p:sp>
      <p:sp>
        <p:nvSpPr>
          <p:cNvPr id="2253" name="Google Shape;2253;p83"/>
          <p:cNvSpPr txBox="1"/>
          <p:nvPr/>
        </p:nvSpPr>
        <p:spPr>
          <a:xfrm>
            <a:off x="3143234" y="1664110"/>
            <a:ext cx="4320556" cy="2189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none" tIns="45700">
            <a:noAutofit/>
          </a:bodyPr>
          <a:lstStyle/>
          <a:p>
            <a:pPr indent="0" lvl="0" marL="0" marR="0" rtl="0" algn="l">
              <a:lnSpc>
                <a:spcPct val="1615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600"/>
              <a:buFont typeface="Play"/>
              <a:buNone/>
            </a:pPr>
            <a:endParaRPr b="1" i="0" lang="en-US" sz="166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2254" name="Google Shape;2254;p83"/>
          <p:cNvSpPr txBox="1"/>
          <p:nvPr/>
        </p:nvSpPr>
        <p:spPr>
          <a:xfrm>
            <a:off x="256559" y="3689483"/>
            <a:ext cx="4315441" cy="32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Затраты на инфраструктуру выросли на 12 %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23" name="Google Shape;723;p57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57"/>
          <p:cNvSpPr/>
          <p:nvPr/>
        </p:nvSpPr>
        <p:spPr>
          <a:xfrm>
            <a:off x="285748" y="286047"/>
            <a:ext cx="8572456" cy="4176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57"/>
          <p:cNvSpPr/>
          <p:nvPr/>
        </p:nvSpPr>
        <p:spPr>
          <a:xfrm>
            <a:off x="285748" y="1209852"/>
            <a:ext cx="8572456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57"/>
          <p:cNvSpPr/>
          <p:nvPr/>
        </p:nvSpPr>
        <p:spPr>
          <a:xfrm>
            <a:off x="285748" y="1209852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57"/>
          <p:cNvSpPr/>
          <p:nvPr/>
        </p:nvSpPr>
        <p:spPr>
          <a:xfrm>
            <a:off x="285749" y="1209852"/>
            <a:ext cx="4238603" cy="1578563"/>
          </a:xfrm>
          <a:prstGeom prst="roundRect">
            <a:avLst>
              <a:gd fmla="val 608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57"/>
          <p:cNvSpPr/>
          <p:nvPr/>
        </p:nvSpPr>
        <p:spPr>
          <a:xfrm>
            <a:off x="597554" y="1362233"/>
            <a:ext cx="3614991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57"/>
          <p:cNvSpPr/>
          <p:nvPr/>
        </p:nvSpPr>
        <p:spPr>
          <a:xfrm>
            <a:off x="637405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57"/>
          <p:cNvSpPr/>
          <p:nvPr/>
        </p:nvSpPr>
        <p:spPr>
          <a:xfrm>
            <a:off x="597554" y="1590803"/>
            <a:ext cx="3718927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Пакетная загрузка</a:t>
            </a:r>
          </a:p>
        </p:txBody>
      </p:sp>
      <p:sp>
        <p:nvSpPr>
          <p:cNvPr id="731" name="Google Shape;731;p57"/>
          <p:cNvSpPr/>
          <p:nvPr/>
        </p:nvSpPr>
        <p:spPr>
          <a:xfrm>
            <a:off x="597554" y="1819373"/>
            <a:ext cx="3692943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Отчёт готов к 11:00, 9 инцидентов в месяц</a:t>
            </a:r>
          </a:p>
        </p:txBody>
      </p:sp>
      <p:sp>
        <p:nvSpPr>
          <p:cNvPr id="732" name="Google Shape;732;p57"/>
          <p:cNvSpPr/>
          <p:nvPr/>
        </p:nvSpPr>
        <p:spPr>
          <a:xfrm>
            <a:off x="4619601" y="1209852"/>
            <a:ext cx="4238603" cy="1578563"/>
          </a:xfrm>
          <a:prstGeom prst="roundRect">
            <a:avLst>
              <a:gd fmla="val 608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57"/>
          <p:cNvSpPr/>
          <p:nvPr/>
        </p:nvSpPr>
        <p:spPr>
          <a:xfrm>
            <a:off x="4931406" y="1362233"/>
            <a:ext cx="3614991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57"/>
          <p:cNvSpPr/>
          <p:nvPr/>
        </p:nvSpPr>
        <p:spPr>
          <a:xfrm>
            <a:off x="4971257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57"/>
          <p:cNvSpPr/>
          <p:nvPr/>
        </p:nvSpPr>
        <p:spPr>
          <a:xfrm>
            <a:off x="4931406" y="1590803"/>
            <a:ext cx="3718927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Потоковая загрузка</a:t>
            </a:r>
          </a:p>
        </p:txBody>
      </p:sp>
      <p:sp>
        <p:nvSpPr>
          <p:cNvPr id="736" name="Google Shape;736;p57"/>
          <p:cNvSpPr/>
          <p:nvPr/>
        </p:nvSpPr>
        <p:spPr>
          <a:xfrm>
            <a:off x="4931406" y="1819373"/>
            <a:ext cx="3692943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Отчёт готов к 8:30, 2 инцидента в месяц</a:t>
            </a:r>
          </a:p>
        </p:txBody>
      </p:sp>
      <p:sp>
        <p:nvSpPr>
          <p:cNvPr id="747" name="Google Shape;747;p57"/>
          <p:cNvSpPr/>
          <p:nvPr/>
        </p:nvSpPr>
        <p:spPr>
          <a:xfrm>
            <a:off x="285748" y="2883653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57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Потоковая загрузка обеспечивает более раннюю готовность отчёта и меньше инцидентов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74" name="Google Shape;774;p58"/>
          <p:cNvSpPr/>
          <p:nvPr/>
        </p:nvSpPr>
        <p:spPr>
          <a:xfrm>
            <a:off x="285748" y="286047"/>
            <a:ext cx="8572456" cy="4176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58"/>
          <p:cNvSpPr/>
          <p:nvPr/>
        </p:nvSpPr>
        <p:spPr>
          <a:xfrm>
            <a:off x="285748" y="1209852"/>
            <a:ext cx="8572456" cy="3252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58"/>
          <p:cNvSpPr/>
          <p:nvPr/>
        </p:nvSpPr>
        <p:spPr>
          <a:xfrm>
            <a:off x="285748" y="1209852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58"/>
          <p:cNvSpPr/>
          <p:nvPr/>
        </p:nvSpPr>
        <p:spPr>
          <a:xfrm>
            <a:off x="285749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58"/>
          <p:cNvSpPr/>
          <p:nvPr/>
        </p:nvSpPr>
        <p:spPr>
          <a:xfrm>
            <a:off x="438148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58"/>
          <p:cNvSpPr/>
          <p:nvPr/>
        </p:nvSpPr>
        <p:spPr>
          <a:xfrm>
            <a:off x="438148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58"/>
          <p:cNvSpPr/>
          <p:nvPr/>
        </p:nvSpPr>
        <p:spPr>
          <a:xfrm>
            <a:off x="438148" y="1590803"/>
            <a:ext cx="2539987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Осталось перевести 14 витрин</a:t>
            </a:r>
          </a:p>
        </p:txBody>
      </p:sp>
      <p:sp>
        <p:nvSpPr>
          <p:cNvPr id="781" name="Google Shape;781;p58"/>
          <p:cNvSpPr/>
          <p:nvPr/>
        </p:nvSpPr>
        <p:spPr>
          <a:xfrm>
            <a:off x="438148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Количество витрин — Осталось перевести 14 витрин</a:t>
            </a:r>
          </a:p>
        </p:txBody>
      </p:sp>
      <p:sp>
        <p:nvSpPr>
          <p:cNvPr id="782" name="Google Shape;782;p58"/>
          <p:cNvSpPr/>
          <p:nvPr/>
        </p:nvSpPr>
        <p:spPr>
          <a:xfrm>
            <a:off x="3174985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58"/>
          <p:cNvSpPr/>
          <p:nvPr/>
        </p:nvSpPr>
        <p:spPr>
          <a:xfrm>
            <a:off x="3327384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4" name="Google Shape;784;p58"/>
          <p:cNvSpPr/>
          <p:nvPr/>
        </p:nvSpPr>
        <p:spPr>
          <a:xfrm>
            <a:off x="3327384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58"/>
          <p:cNvSpPr/>
          <p:nvPr/>
        </p:nvSpPr>
        <p:spPr>
          <a:xfrm>
            <a:off x="3327384" y="1590803"/>
            <a:ext cx="2539986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Перевод завершить до конца квартала</a:t>
            </a:r>
          </a:p>
        </p:txBody>
      </p:sp>
      <p:sp>
        <p:nvSpPr>
          <p:cNvPr id="786" name="Google Shape;786;p58"/>
          <p:cNvSpPr/>
          <p:nvPr/>
        </p:nvSpPr>
        <p:spPr>
          <a:xfrm>
            <a:off x="3327384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Срок выполнения — Перевод должен быть завершён до конца квартала</a:t>
            </a:r>
          </a:p>
        </p:txBody>
      </p:sp>
      <p:sp>
        <p:nvSpPr>
          <p:cNvPr id="787" name="Google Shape;787;p58"/>
          <p:cNvSpPr/>
          <p:nvPr/>
        </p:nvSpPr>
        <p:spPr>
          <a:xfrm>
            <a:off x="6064222" y="1209852"/>
            <a:ext cx="2793985" cy="1578563"/>
          </a:xfrm>
          <a:prstGeom prst="roundRect">
            <a:avLst>
              <a:gd fmla="val 6081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58"/>
          <p:cNvSpPr/>
          <p:nvPr/>
        </p:nvSpPr>
        <p:spPr>
          <a:xfrm>
            <a:off x="6216621" y="1362233"/>
            <a:ext cx="2489187" cy="3428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58"/>
          <p:cNvSpPr/>
          <p:nvPr/>
        </p:nvSpPr>
        <p:spPr>
          <a:xfrm>
            <a:off x="6216621" y="1362233"/>
            <a:ext cx="76199" cy="76190"/>
          </a:xfrm>
          <a:prstGeom prst="roundRect">
            <a:avLst>
              <a:gd fmla="val 31500" name="adj"/>
            </a:avLst>
          </a:prstGeom>
          <a:solidFill>
            <a:srgbClr val="007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58"/>
          <p:cNvSpPr/>
          <p:nvPr/>
        </p:nvSpPr>
        <p:spPr>
          <a:xfrm>
            <a:off x="6216621" y="1590803"/>
            <a:ext cx="2539986" cy="16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Требуется решение руководства</a:t>
            </a:r>
          </a:p>
        </p:txBody>
      </p:sp>
      <p:sp>
        <p:nvSpPr>
          <p:cNvPr id="791" name="Google Shape;791;p58"/>
          <p:cNvSpPr/>
          <p:nvPr/>
        </p:nvSpPr>
        <p:spPr>
          <a:xfrm>
            <a:off x="6216621" y="1819373"/>
            <a:ext cx="2527287" cy="854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8F8F8F"/>
                </a:solidFill>
                <a:latin typeface="Play"/>
                <a:ea typeface="Play"/>
                <a:cs typeface="Play"/>
                <a:sym typeface="Play"/>
              </a:rPr>
              <a:t xml:space="preserve">Необходимость решения — Требуется решение руководства для запуска работ</a:t>
            </a:r>
          </a:p>
        </p:txBody>
      </p:sp>
      <p:sp>
        <p:nvSpPr>
          <p:cNvPr id="792" name="Google Shape;792;p58"/>
          <p:cNvSpPr/>
          <p:nvPr/>
        </p:nvSpPr>
        <p:spPr>
          <a:xfrm>
            <a:off x="285748" y="2883653"/>
            <a:ext cx="8572456" cy="1578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8" name="Google Shape;808;p58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lang="en-US" sz="1400"/>
              <a:t xml:space="preserve">Для перевода оставшихся 14 витрин на потоковую загрузку до конца квартала требуется решение руководства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7" name="Google Shape;417;p44"/>
          <p:cNvSpPr txBox="1"/>
          <p:nvPr>
            <p:ph type="title"/>
          </p:nvPr>
        </p:nvSpPr>
        <p:spPr>
          <a:xfrm>
            <a:off x="210243" y="878488"/>
            <a:ext cx="4288279" cy="1496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Play"/>
              <a:buNone/>
            </a:pPr>
            <a:r>
              <a:rPr lang="en-US" sz="2450"/>
              <a:t xml:space="preserve">Одобрение перевода 14 витрин позволит завершить перевод всех витрин до конца квартала</a:t>
            </a:r>
          </a:p>
        </p:txBody>
      </p:sp>
      <p:sp>
        <p:nvSpPr>
          <p:cNvPr id="418" name="Google Shape;418;p44"/>
          <p:cNvSpPr txBox="1"/>
          <p:nvPr>
            <p:ph idx="1" type="body"/>
          </p:nvPr>
        </p:nvSpPr>
        <p:spPr>
          <a:xfrm>
            <a:off x="210685" y="2940812"/>
            <a:ext cx="4287837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7145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en-US"/>
          </a:p>
        </p:txBody>
      </p:sp>
      <p:grpSp>
        <p:nvGrpSpPr>
          <p:cNvPr id="419" name="Google Shape;419;p44"/>
          <p:cNvGrpSpPr/>
          <p:nvPr/>
        </p:nvGrpSpPr>
        <p:grpSpPr>
          <a:xfrm>
            <a:off x="282380" y="3403462"/>
            <a:ext cx="1195387" cy="99124"/>
            <a:chOff x="658813" y="5548708"/>
            <a:chExt cx="2283170" cy="189326"/>
          </a:xfrm>
        </p:grpSpPr>
        <p:sp>
          <p:nvSpPr>
            <p:cNvPr id="420" name="Google Shape;420;p44"/>
            <p:cNvSpPr/>
            <p:nvPr/>
          </p:nvSpPr>
          <p:spPr>
            <a:xfrm>
              <a:off x="658813" y="5548708"/>
              <a:ext cx="189326" cy="18932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44"/>
            <p:cNvSpPr/>
            <p:nvPr/>
          </p:nvSpPr>
          <p:spPr>
            <a:xfrm>
              <a:off x="1182274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44"/>
            <p:cNvSpPr/>
            <p:nvPr/>
          </p:nvSpPr>
          <p:spPr>
            <a:xfrm>
              <a:off x="1705735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44"/>
            <p:cNvSpPr/>
            <p:nvPr/>
          </p:nvSpPr>
          <p:spPr>
            <a:xfrm>
              <a:off x="2229196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44"/>
            <p:cNvSpPr/>
            <p:nvPr/>
          </p:nvSpPr>
          <p:spPr>
            <a:xfrm>
              <a:off x="2752657" y="5548708"/>
              <a:ext cx="189326" cy="189326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