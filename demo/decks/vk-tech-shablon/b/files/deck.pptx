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Инциденты в месяц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Sheet1!$A$2:$A$3</c:f>
              <c:strCache>
                <c:ptCount val="2"/>
                <c:pt idx="0">
                  <c:v>До пилота</c:v>
                </c:pt>
                <c:pt idx="1">
                  <c:v>После пилота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9.0</c:v>
                </c:pt>
                <c:pt idx="1">
                  <c:v>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001515"/>
              </a:solidFill>
            </a:ln>
          </c:spPr>
        </c:majorGridlines>
        <c:title>
          <c:tx>
            <c:rich>
              <a:bodyPr/>
              <a:lstStyle/>
              <a:p>
                <a:r>
                  <a:t>шт.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800">
          <a:latin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Доброе утро. Сегодня мы обсуждаем инициативу по оптимизации загрузки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Рассмотрим три ключевых аспекта: проблему, доказательства и план действий.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Начнем с анализа того, как работает система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Основная проблема — задержка данных до 11 утра, что мешает оперативным решениям.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Перейдем к результатам тестирования на двух витринах.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Ключевое достижение пилота — отчёт теперь готов к 8:30 вместо 11:00.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Надежность системы выросла: инциденты с опозданием снизились с 9 до 2 в месяц.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Стоимость перехода оправдана: рост затрат на 12% принес существенные улучшения.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Теперь обсудим план перехода остальных витрин на новую 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После успешного пилота на 2 витринах, осталось перевести 14 оставшихся.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Прошу вас принять решение о масштабировании инициативы на все оставшиеся витрины.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Спасибо за время. Готов ответить на ваши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" name="Google Shape;2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" name="Google Shape;23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" name="Google Shape;24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" name="Google Shape;25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" name="Google Shape;26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" name="Google Shape;27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" name="Google Shape;28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9" name="Google Shape;29;p3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30" name="Google Shape;30;p3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3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" name="Google Shape;32;p3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33" name="Google Shape;33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4" name="Google Shape;34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5" name="Google Shape;35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36" name="Google Shape;36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" name="Google Shape;37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9" name="Google Shape;3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0" name="Google Shape;40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1" name="Google Shape;41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2" name="Google Shape;42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3" name="Google Shape;43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4" name="Google Shape;44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45" name="Google Shape;45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46" name="Google Shape;46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7" name="Google Shape;47;p4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48" name="Google Shape;48;p4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4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50" name="Google Shape;50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1" name="Google Shape;51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52" name="Google Shape;52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3" name="Google Shape;53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Разделитель">
  <p:cSld name="1_Разделитель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57" name="Google Shape;57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58" name="Google Shape;58;p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9" name="Google Shape;59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61" name="Google Shape;61;p6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62" name="Google Shape;62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63" name="Google Shape;63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64" name="Google Shape;64;p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65" name="Google Shape;65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одержание">
  <p:cSld name="1_Содержание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78" name="Google Shape;78;p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79" name="Google Shape;79;p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80" name="Google Shape;80;p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81" name="Google Shape;81;p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2" name="Google Shape;82;p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3" name="Google Shape;83;p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4" name="Google Shape;84;p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5" name="Google Shape;85;p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6" name="Google Shape;86;p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7" name="Google Shape;87;p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одержание">
  <p:cSld name="2_Содержание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90" name="Google Shape;90;p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91" name="Google Shape;91;p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92" name="Google Shape;92;p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93" name="Google Shape;93;p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4" name="Google Shape;94;p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5" name="Google Shape;95;p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6" name="Google Shape;96;p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7" name="Google Shape;97;p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8" name="Google Shape;98;p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одержание">
  <p:cSld name="3_Содержание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02" name="Google Shape;102;p1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03" name="Google Shape;103;p1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04" name="Google Shape;104;p1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05" name="Google Shape;105;p1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6" name="Google Shape;106;p1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8" name="Google Shape;108;p1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Визитка">
  <p:cSld name="1_Визитка">
    <p:bg>
      <p:bgPr>
        <a:solidFill>
          <a:schemeClr val="lt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1" name="Google Shape;111;p1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12" name="Google Shape;112;p1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13" name="Google Shape;113;p1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14" name="Google Shape;114;p1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5" name="Google Shape;115;p1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7" name="Google Shape;117;p1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8" name="Google Shape;118;p1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9" name="Google Shape;119;p1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Визитка">
  <p:cSld name="4_Визитка">
    <p:bg>
      <p:bgPr>
        <a:solidFill>
          <a:schemeClr val="lt1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2" name="Google Shape;122;p1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23" name="Google Shape;123;p1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24" name="Google Shape;124;p1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25" name="Google Shape;125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6" name="Google Shape;126;p1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8" name="Google Shape;128;p1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9" name="Google Shape;129;p1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Контент">
  <p:cSld name="1_Контент"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45" name="Google Shape;145;p1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46" name="Google Shape;146;p1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7" name="Google Shape;147;p1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8" name="Google Shape;148;p1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Контент">
  <p:cSld name="3_Контент">
    <p:bg>
      <p:bgPr>
        <a:solidFill>
          <a:schemeClr val="lt1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2" name="Google Shape;152;p1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53" name="Google Shape;153;p1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54" name="Google Shape;154;p1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5" name="Google Shape;155;p1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Контент">
  <p:cSld name="5_Контент">
    <p:bg>
      <p:bgPr>
        <a:solidFill>
          <a:schemeClr val="lt1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9" name="Google Shape;159;p1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0" name="Google Shape;160;p1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1" name="Google Shape;161;p1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2" name="Google Shape;162;p1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Контент">
  <p:cSld name="7_Контент">
    <p:bg>
      <p:bgPr>
        <a:solidFill>
          <a:schemeClr val="lt1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7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66" name="Google Shape;166;p1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7" name="Google Shape;167;p1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8" name="Google Shape;168;p1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9" name="Google Shape;169;p1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Контент">
  <p:cSld name="8_Контент">
    <p:bg>
      <p:bgPr>
        <a:solidFill>
          <a:schemeClr val="lt1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8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73" name="Google Shape;173;p1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74" name="Google Shape;174;p1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75" name="Google Shape;175;p1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76" name="Google Shape;176;p1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Контент">
  <p:cSld name="13_Контент">
    <p:bg>
      <p:bgPr>
        <a:solidFill>
          <a:schemeClr val="lt1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9" name="Google Shape;179;p1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0" name="Google Shape;180;p1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1" name="Google Shape;181;p1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2" name="Google Shape;182;p1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3" name="Google Shape;183;p1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5" name="Google Shape;185;p2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6" name="Google Shape;186;p2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7" name="Google Shape;187;p20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8" name="Google Shape;188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вободный дизайн">
  <p:cSld name="2_Свободный дизайн">
    <p:bg>
      <p:bgPr>
        <a:solidFill>
          <a:schemeClr val="dk1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1" name="Google Shape;191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2" name="Google Shape;192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3" name="Google Shape;193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94" name="Google Shape;194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5" name="Google Shape;195;p21"/>
          <p:cNvSpPr txBox="1"/>
          <p:nvPr>
            <p:ph type="title"/>
          </p:nvPr>
        </p:nvSpPr>
        <p:spPr>
          <a:xfrm>
            <a:off x="177970" y="175372"/>
            <a:ext cx="6792985" cy="9072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96" name="Google Shape;196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7" name="Google Shape;197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8" name="Google Shape;198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9" name="Google Shape;199;p2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0" name="Google Shape;200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Разделитель">
  <p:cSld name="2_Разделитель">
    <p:bg>
      <p:bgPr>
        <a:solidFill>
          <a:schemeClr val="dk1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2" name="Google Shape;202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3" name="Google Shape;203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04" name="Google Shape;204;p22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5" name="Google Shape;205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06" name="Google Shape;206;p22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07" name="Google Shape;207;p22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08" name="Google Shape;208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9" name="Google Shape;209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10" name="Google Shape;210;p2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1" name="Google Shape;211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13" name="Google Shape;213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14" name="Google Shape;214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5" name="Google Shape;215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16" name="Google Shape;216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7" name="Google Shape;217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8" name="Google Shape;218;p23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19" name="Google Shape;219;p23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20" name="Google Shape;220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21" name="Google Shape;221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22" name="Google Shape;222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4" name="Google Shape;224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" name="Google Shape;225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6" name="Google Shape;226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7" name="Google Shape;227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8" name="Google Shape;228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29" name="Google Shape;229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0" name="Google Shape;230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1" name="Google Shape;231;p24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32" name="Google Shape;232;p24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3" name="Google Shape;233;p24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4" name="Google Shape;234;p24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35" name="Google Shape;235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6" name="Google Shape;236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38" name="Google Shape;238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9" name="Google Shape;239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41" name="Google Shape;241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2" name="Google Shape;242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3" name="Google Shape;243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4" name="Google Shape;244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5" name="Google Shape;245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6" name="Google Shape;246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47" name="Google Shape;247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48" name="Google Shape;248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49" name="Google Shape;249;p25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50" name="Google Shape;250;p25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1" name="Google Shape;251;p25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52" name="Google Shape;252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3" name="Google Shape;253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54" name="Google Shape;254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55" name="Google Shape;255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лайд &quot;Спасибо!&quot;">
  <p:cSld name="2_Слайд &quot;Спасибо!&quot;">
    <p:bg>
      <p:bgPr>
        <a:solidFill>
          <a:schemeClr val="dk1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57" name="Google Shape;257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8" name="Google Shape;25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9" name="Google Shape;25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0" name="Google Shape;260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1" name="Google Shape;261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2" name="Google Shape;262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63" name="Google Shape;263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64" name="Google Shape;264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5" name="Google Shape;265;p26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66" name="Google Shape;266;p26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7" name="Google Shape;267;p26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68" name="Google Shape;268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9" name="Google Shape;269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0" name="Google Shape;270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1" name="Google Shape;271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лайд &quot;Спасибо!&quot;">
  <p:cSld name="3_Слайд &quot;Спасибо!&quot;">
    <p:bg>
      <p:bgPr>
        <a:solidFill>
          <a:schemeClr val="dk1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4" name="Google Shape;274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5" name="Google Shape;275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6" name="Google Shape;276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77" name="Google Shape;277;p2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78" name="Google Shape;278;p2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79" name="Google Shape;279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80" name="Google Shape;280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1" name="Google Shape;281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Содержание">
  <p:cSld name="5_Содержание">
    <p:bg>
      <p:bgPr>
        <a:solidFill>
          <a:schemeClr val="dk1"/>
        </a:solidFill>
      </p:bgPr>
    </p:bg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84" name="Google Shape;284;p2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85" name="Google Shape;285;p2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86" name="Google Shape;286;p2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7" name="Google Shape;287;p2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88" name="Google Shape;288;p2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9" name="Google Shape;289;p2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0" name="Google Shape;290;p2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1" name="Google Shape;291;p2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2" name="Google Shape;292;p2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3" name="Google Shape;293;p2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Содержание">
  <p:cSld name="6_Содержание">
    <p:bg>
      <p:bgPr>
        <a:solidFill>
          <a:schemeClr val="dk1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96" name="Google Shape;296;p2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97" name="Google Shape;297;p2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98" name="Google Shape;298;p2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99" name="Google Shape;299;p2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00" name="Google Shape;300;p2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1" name="Google Shape;301;p2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2" name="Google Shape;302;p2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3" name="Google Shape;303;p2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4" name="Google Shape;304;p2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одержание">
  <p:cSld name="4_Содержание">
    <p:bg>
      <p:bgPr>
        <a:solidFill>
          <a:schemeClr val="dk1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08" name="Google Shape;308;p3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09" name="Google Shape;309;p3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0" name="Google Shape;310;p3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11" name="Google Shape;311;p3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2" name="Google Shape;312;p3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3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4" name="Google Shape;314;p3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Визитка">
  <p:cSld name="3_Визитка">
    <p:bg>
      <p:bgPr>
        <a:solidFill>
          <a:schemeClr val="dk1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7" name="Google Shape;317;p3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18" name="Google Shape;318;p3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9" name="Google Shape;319;p3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20" name="Google Shape;320;p3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21" name="Google Shape;321;p3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3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3" name="Google Shape;323;p3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4" name="Google Shape;324;p3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5" name="Google Shape;325;p3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Визитка">
  <p:cSld name="2_Визитка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8" name="Google Shape;328;p3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29" name="Google Shape;329;p3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30" name="Google Shape;330;p3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31" name="Google Shape;331;p3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32" name="Google Shape;332;p3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3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4" name="Google Shape;334;p3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5" name="Google Shape;335;p3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Контент">
  <p:cSld name="2_Контент">
    <p:bg>
      <p:bgPr>
        <a:solidFill>
          <a:schemeClr val="dk1"/>
        </a:solid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3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39" name="Google Shape;339;p3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0" name="Google Shape;340;p3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1" name="Google Shape;341;p3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2" name="Google Shape;342;p3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Контент">
  <p:cSld name="4_Контент">
    <p:bg>
      <p:bgPr>
        <a:solidFill>
          <a:schemeClr val="dk1"/>
        </a:solidFill>
      </p:bgPr>
    </p:bg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4" name="Google Shape;344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3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46" name="Google Shape;346;p3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7" name="Google Shape;347;p3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8" name="Google Shape;348;p3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9" name="Google Shape;349;p3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Контент">
  <p:cSld name="6_Контент">
    <p:bg>
      <p:bgPr>
        <a:solidFill>
          <a:schemeClr val="dk1"/>
        </a:solidFill>
      </p:bgPr>
    </p:bg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35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3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53" name="Google Shape;353;p3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54" name="Google Shape;354;p3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55" name="Google Shape;355;p3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56" name="Google Shape;356;p3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Контент">
  <p:cSld name="12_Контент">
    <p:bg>
      <p:bgPr>
        <a:solidFill>
          <a:schemeClr val="dk1"/>
        </a:solid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Google Shape;358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3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0" name="Google Shape;360;p3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1" name="Google Shape;361;p3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2" name="Google Shape;362;p3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63" name="Google Shape;363;p3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Контент">
  <p:cSld name="9_Контент">
    <p:bg>
      <p:bgPr>
        <a:solidFill>
          <a:schemeClr val="dk1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365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37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7" name="Google Shape;367;p3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8" name="Google Shape;368;p3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9" name="Google Shape;369;p3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0" name="Google Shape;370;p3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Контент">
  <p:cSld name="10_Контент">
    <p:bg>
      <p:bgPr>
        <a:solidFill>
          <a:schemeClr val="dk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3" name="Google Shape;373;p3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74" name="Google Shape;374;p3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75" name="Google Shape;375;p3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6" name="Google Shape;376;p3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77" name="Google Shape;377;p38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Контент">
  <p:cSld name="11_Контент">
    <p:bg>
      <p:bgPr>
        <a:solidFill>
          <a:schemeClr val="lt1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0" name="Google Shape;380;p3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1" name="Google Shape;381;p3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2" name="Google Shape;382;p3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83" name="Google Shape;383;p3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84" name="Google Shape;384;p3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Контент">
  <p:cSld name="14_Контент">
    <p:bg>
      <p:bgPr>
        <a:solidFill>
          <a:schemeClr val="dk1"/>
        </a:solidFill>
      </p:bgPr>
    </p:bg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6" name="Google Shape;386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7" name="Google Shape;387;p4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8" name="Google Shape;388;p4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9" name="Google Shape;389;p4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0" name="Google Shape;390;p4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91" name="Google Shape;391;p40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DEFAULT">
  <p:cSld name="1_DEFAULT">
    <p:bg>
      <p:bgPr>
        <a:solidFill>
          <a:schemeClr val="dk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3" name="Google Shape;393;p4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94" name="Google Shape;394;p4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95" name="Google Shape;395;p4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6" name="Google Shape;396;p4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22.xml"/><Relationship Id="rId20" Type="http://schemas.openxmlformats.org/officeDocument/2006/relationships/slideLayout" Target="../slideLayouts/slideLayout23.xml"/><Relationship Id="rId21" Type="http://schemas.openxmlformats.org/officeDocument/2006/relationships/slideLayout" Target="../slideLayouts/slideLayout24.xml"/><Relationship Id="rId22" Type="http://schemas.openxmlformats.org/officeDocument/2006/relationships/slideLayout" Target="../slideLayouts/slideLayout25.xml"/><Relationship Id="rId23" Type="http://schemas.openxmlformats.org/officeDocument/2006/relationships/slideLayout" Target="../slideLayouts/slideLayout26.xml"/><Relationship Id="rId24" Type="http://schemas.openxmlformats.org/officeDocument/2006/relationships/slideLayout" Target="../slideLayouts/slideLayout27.xml"/><Relationship Id="rId25" Type="http://schemas.openxmlformats.org/officeDocument/2006/relationships/slideLayout" Target="../slideLayouts/slideLayout28.xml"/><Relationship Id="rId26" Type="http://schemas.openxmlformats.org/officeDocument/2006/relationships/slideLayout" Target="../slideLayouts/slideLayout29.xml"/><Relationship Id="rId27" Type="http://schemas.openxmlformats.org/officeDocument/2006/relationships/slideLayout" Target="../slideLayouts/slideLayout30.xml"/><Relationship Id="rId28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32.xml"/><Relationship Id="rId30" Type="http://schemas.openxmlformats.org/officeDocument/2006/relationships/slideLayout" Target="../slideLayouts/slideLayout33.xml"/><Relationship Id="rId31" Type="http://schemas.openxmlformats.org/officeDocument/2006/relationships/slideLayout" Target="../slideLayouts/slideLayout34.xml"/><Relationship Id="rId32" Type="http://schemas.openxmlformats.org/officeDocument/2006/relationships/slideLayout" Target="../slideLayouts/slideLayout35.xml"/><Relationship Id="rId33" Type="http://schemas.openxmlformats.org/officeDocument/2006/relationships/slideLayout" Target="../slideLayouts/slideLayout36.xml"/><Relationship Id="rId34" Type="http://schemas.openxmlformats.org/officeDocument/2006/relationships/slideLayout" Target="../slideLayouts/slideLayout37.xml"/><Relationship Id="rId35" Type="http://schemas.openxmlformats.org/officeDocument/2006/relationships/slideLayout" Target="../slideLayouts/slideLayout38.xml"/><Relationship Id="rId36" Type="http://schemas.openxmlformats.org/officeDocument/2006/relationships/slideLayout" Target="../slideLayouts/slideLayout39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40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64.png"/><Relationship Id="rId3" Type="http://schemas.openxmlformats.org/officeDocument/2006/relationships/image" Target="../media/image171.png"/><Relationship Id="rId4" Type="http://schemas.openxmlformats.org/officeDocument/2006/relationships/image" Target="../media/image170.png"/><Relationship Id="rId5" Type="http://schemas.openxmlformats.org/officeDocument/2006/relationships/image" Target="../media/image169.png"/><Relationship Id="rId6" Type="http://schemas.openxmlformats.org/officeDocument/2006/relationships/image" Target="../media/image168.png"/><Relationship Id="rId7" Type="http://schemas.openxmlformats.org/officeDocument/2006/relationships/chart" Target="../charts/chart1.xml"/><Relationship Id="rId8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Google Shape;401;p4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lang="en-US" sz="1300"/>
              <a:t xml:space="preserve">Перевод ночных отчётов на потоковую загрузку позволит ускорить получение данных за счёт отказа от пакетной модели обработки</a:t>
            </a:r>
          </a:p>
        </p:txBody>
      </p:sp>
      <p:sp>
        <p:nvSpPr>
          <p:cNvPr id="402" name="Google Shape;402;p4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</a:pPr>
            <a:r>
              <a:rPr lang="en-US" sz="900"/>
              <a:t xml:space="preserve">Предлагается перевести отчётность с пакетной на потоковую модель для ускорения данных.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55"/>
          <p:cNvSpPr/>
          <p:nvPr/>
        </p:nvSpPr>
        <p:spPr>
          <a:xfrm>
            <a:off x="285749" y="1209852"/>
            <a:ext cx="2793986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55"/>
          <p:cNvSpPr/>
          <p:nvPr/>
        </p:nvSpPr>
        <p:spPr>
          <a:xfrm>
            <a:off x="491283" y="1362233"/>
            <a:ext cx="2382916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55"/>
          <p:cNvSpPr/>
          <p:nvPr/>
        </p:nvSpPr>
        <p:spPr>
          <a:xfrm>
            <a:off x="491283" y="1362233"/>
            <a:ext cx="102766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8" name="Google Shape;668;p55"/>
          <p:cNvSpPr/>
          <p:nvPr/>
        </p:nvSpPr>
        <p:spPr>
          <a:xfrm>
            <a:off x="491283" y="1590803"/>
            <a:ext cx="2451428" cy="1650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Проблема текущей модели</a:t>
            </a:r>
          </a:p>
        </p:txBody>
      </p:sp>
      <p:sp>
        <p:nvSpPr>
          <p:cNvPr id="669" name="Google Shape;669;p55"/>
          <p:cNvSpPr/>
          <p:nvPr/>
        </p:nvSpPr>
        <p:spPr>
          <a:xfrm>
            <a:off x="491283" y="1819373"/>
            <a:ext cx="2434300" cy="22904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8F8F8F"/>
                </a:solidFill>
                <a:latin typeface="Play"/>
                <a:ea typeface="Play"/>
                <a:cs typeface="Play"/>
                <a:sym typeface="Play"/>
              </a:rPr>
              <a:t xml:space="preserve">Пакетная загрузка задерживает доступ к данным</a:t>
            </a:r>
          </a:p>
        </p:txBody>
      </p:sp>
      <p:sp>
        <p:nvSpPr>
          <p:cNvPr id="670" name="Google Shape;670;p55"/>
          <p:cNvSpPr/>
          <p:nvPr/>
        </p:nvSpPr>
        <p:spPr>
          <a:xfrm>
            <a:off x="3174984" y="1209852"/>
            <a:ext cx="2793986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p55"/>
          <p:cNvSpPr/>
          <p:nvPr/>
        </p:nvSpPr>
        <p:spPr>
          <a:xfrm>
            <a:off x="3380518" y="1362233"/>
            <a:ext cx="2382916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55"/>
          <p:cNvSpPr/>
          <p:nvPr/>
        </p:nvSpPr>
        <p:spPr>
          <a:xfrm>
            <a:off x="3380518" y="1362233"/>
            <a:ext cx="102766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3" name="Google Shape;673;p55"/>
          <p:cNvSpPr/>
          <p:nvPr/>
        </p:nvSpPr>
        <p:spPr>
          <a:xfrm>
            <a:off x="3380518" y="1590803"/>
            <a:ext cx="2451428" cy="1650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Результаты пилотного проекта</a:t>
            </a:r>
          </a:p>
        </p:txBody>
      </p:sp>
      <p:sp>
        <p:nvSpPr>
          <p:cNvPr id="674" name="Google Shape;674;p55"/>
          <p:cNvSpPr/>
          <p:nvPr/>
        </p:nvSpPr>
        <p:spPr>
          <a:xfrm>
            <a:off x="3380518" y="1819373"/>
            <a:ext cx="2434300" cy="22904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8F8F8F"/>
                </a:solidFill>
                <a:latin typeface="Play"/>
                <a:ea typeface="Play"/>
                <a:cs typeface="Play"/>
                <a:sym typeface="Play"/>
              </a:rPr>
              <a:t xml:space="preserve">Показатели эффективности на двух витринах</a:t>
            </a:r>
          </a:p>
        </p:txBody>
      </p:sp>
      <p:sp>
        <p:nvSpPr>
          <p:cNvPr id="675" name="Google Shape;675;p55"/>
          <p:cNvSpPr/>
          <p:nvPr/>
        </p:nvSpPr>
        <p:spPr>
          <a:xfrm>
            <a:off x="6064218" y="1209852"/>
            <a:ext cx="2793986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6" name="Google Shape;676;p55"/>
          <p:cNvSpPr/>
          <p:nvPr/>
        </p:nvSpPr>
        <p:spPr>
          <a:xfrm>
            <a:off x="6269754" y="1362233"/>
            <a:ext cx="2382916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7" name="Google Shape;677;p55"/>
          <p:cNvSpPr/>
          <p:nvPr/>
        </p:nvSpPr>
        <p:spPr>
          <a:xfrm>
            <a:off x="6269754" y="1362233"/>
            <a:ext cx="102766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8" name="Google Shape;678;p55"/>
          <p:cNvSpPr/>
          <p:nvPr/>
        </p:nvSpPr>
        <p:spPr>
          <a:xfrm>
            <a:off x="6269754" y="1590803"/>
            <a:ext cx="2451428" cy="1650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План масштабирования</a:t>
            </a:r>
          </a:p>
        </p:txBody>
      </p:sp>
      <p:sp>
        <p:nvSpPr>
          <p:cNvPr id="679" name="Google Shape;679;p55"/>
          <p:cNvSpPr/>
          <p:nvPr/>
        </p:nvSpPr>
        <p:spPr>
          <a:xfrm>
            <a:off x="6269754" y="1819373"/>
            <a:ext cx="2434300" cy="22904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8F8F8F"/>
                </a:solidFill>
                <a:latin typeface="Play"/>
                <a:ea typeface="Play"/>
                <a:cs typeface="Play"/>
                <a:sym typeface="Play"/>
              </a:rPr>
              <a:t xml:space="preserve">Перевод оставшихся 14 витрин до конца квартала</a:t>
            </a:r>
          </a:p>
        </p:txBody>
      </p:sp>
      <p:sp>
        <p:nvSpPr>
          <p:cNvPr id="685" name="Google Shape;685;p55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Обсудим текущее состояние, результаты пилота и план масштабирования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7" name="Google Shape;417;p44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Play"/>
              <a:buNone/>
            </a:pPr>
            <a:r>
              <a:rPr lang="en-US" sz="2450"/>
              <a:t xml:space="preserve">Существующая пакетная модель ограничивает скорость получения данных</a:t>
            </a:r>
          </a:p>
        </p:txBody>
      </p:sp>
      <p:sp>
        <p:nvSpPr>
          <p:cNvPr id="418" name="Google Shape;418;p44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US" sz="900"/>
              <a:t xml:space="preserve">Существующая пакетная модель ограничивает скорость получения данных.</a:t>
            </a:r>
          </a:p>
        </p:txBody>
      </p:sp>
      <p:grpSp>
        <p:nvGrpSpPr>
          <p:cNvPr id="419" name="Google Shape;419;p44"/>
          <p:cNvGrpSpPr/>
          <p:nvPr/>
        </p:nvGrpSpPr>
        <p:grpSpPr>
          <a:xfrm>
            <a:off x="282380" y="3403462"/>
            <a:ext cx="1195387" cy="99124"/>
            <a:chOff x="658813" y="5548708"/>
            <a:chExt cx="2283170" cy="189326"/>
          </a:xfrm>
        </p:grpSpPr>
        <p:sp>
          <p:nvSpPr>
            <p:cNvPr id="420" name="Google Shape;420;p44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1" name="Google Shape;421;p44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2" name="Google Shape;422;p44"/>
            <p:cNvSpPr/>
            <p:nvPr/>
          </p:nvSpPr>
          <p:spPr>
            <a:xfrm>
              <a:off x="1705735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3" name="Google Shape;423;p44"/>
            <p:cNvSpPr/>
            <p:nvPr/>
          </p:nvSpPr>
          <p:spPr>
            <a:xfrm>
              <a:off x="2229196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4" name="Google Shape;424;p44"/>
            <p:cNvSpPr/>
            <p:nvPr/>
          </p:nvSpPr>
          <p:spPr>
            <a:xfrm>
              <a:off x="2752657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78" name="Google Shape;878;p61"/>
          <p:cNvSpPr/>
          <p:nvPr/>
        </p:nvSpPr>
        <p:spPr>
          <a:xfrm>
            <a:off x="285749" y="1243185"/>
            <a:ext cx="1257293" cy="571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9" name="Google Shape;879;p61"/>
          <p:cNvSpPr/>
          <p:nvPr/>
        </p:nvSpPr>
        <p:spPr>
          <a:xfrm>
            <a:off x="285749" y="1243185"/>
            <a:ext cx="571497" cy="571426"/>
          </a:xfrm>
          <a:prstGeom prst="roundRect">
            <a:avLst>
              <a:gd fmla="val 27600" name="adj"/>
            </a:avLst>
          </a:prstGeom>
          <a:solidFill>
            <a:srgbClr val="0077FF">
              <a:alpha val="10196"/>
            </a:srgbClr>
          </a:solidFill>
          <a:ln cap="flat" cmpd="sng" w="9525">
            <a:solidFill>
              <a:srgbClr val="0077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880" name="Google Shape;880;p6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7673" y="1405089"/>
            <a:ext cx="252411" cy="2523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81" name="Google Shape;881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88" y="1423117"/>
            <a:ext cx="214944" cy="210783"/>
          </a:xfrm>
          <a:prstGeom prst="rect">
            <a:avLst/>
          </a:prstGeom>
          <a:noFill/>
          <a:ln>
            <a:noFill/>
          </a:ln>
        </p:spPr>
      </p:pic>
      <p:sp>
        <p:nvSpPr>
          <p:cNvPr id="882" name="Google Shape;882;p61"/>
          <p:cNvSpPr/>
          <p:nvPr/>
        </p:nvSpPr>
        <p:spPr>
          <a:xfrm>
            <a:off x="285749" y="2047943"/>
            <a:ext cx="1257293" cy="571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3" name="Google Shape;883;p61"/>
          <p:cNvSpPr/>
          <p:nvPr/>
        </p:nvSpPr>
        <p:spPr>
          <a:xfrm>
            <a:off x="285749" y="2047943"/>
            <a:ext cx="571497" cy="571426"/>
          </a:xfrm>
          <a:prstGeom prst="roundRect">
            <a:avLst>
              <a:gd fmla="val 27600" name="adj"/>
            </a:avLst>
          </a:prstGeom>
          <a:solidFill>
            <a:srgbClr val="0077FF">
              <a:alpha val="10196"/>
            </a:srgbClr>
          </a:solidFill>
          <a:ln cap="flat" cmpd="sng" w="9525">
            <a:solidFill>
              <a:srgbClr val="0077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884" name="Google Shape;884;p6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7673" y="2209847"/>
            <a:ext cx="252411" cy="2523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85" name="Google Shape;885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88" y="2227875"/>
            <a:ext cx="214944" cy="210783"/>
          </a:xfrm>
          <a:prstGeom prst="rect">
            <a:avLst/>
          </a:prstGeom>
          <a:noFill/>
          <a:ln>
            <a:noFill/>
          </a:ln>
        </p:spPr>
      </p:pic>
      <p:sp>
        <p:nvSpPr>
          <p:cNvPr id="886" name="Google Shape;886;p61"/>
          <p:cNvSpPr/>
          <p:nvPr/>
        </p:nvSpPr>
        <p:spPr>
          <a:xfrm>
            <a:off x="285749" y="2852700"/>
            <a:ext cx="1257293" cy="57142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7" name="Google Shape;887;p61"/>
          <p:cNvSpPr/>
          <p:nvPr/>
        </p:nvSpPr>
        <p:spPr>
          <a:xfrm>
            <a:off x="285749" y="2852700"/>
            <a:ext cx="571497" cy="571426"/>
          </a:xfrm>
          <a:prstGeom prst="roundRect">
            <a:avLst>
              <a:gd fmla="val 27600" name="adj"/>
            </a:avLst>
          </a:prstGeom>
          <a:solidFill>
            <a:srgbClr val="0077FF">
              <a:alpha val="10196"/>
            </a:srgbClr>
          </a:solidFill>
          <a:ln cap="flat" cmpd="sng" w="9525">
            <a:solidFill>
              <a:srgbClr val="0077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888" name="Google Shape;888;p6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7673" y="3014604"/>
            <a:ext cx="252411" cy="2523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89" name="Google Shape;889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88" y="3032632"/>
            <a:ext cx="214944" cy="210783"/>
          </a:xfrm>
          <a:prstGeom prst="rect">
            <a:avLst/>
          </a:prstGeom>
          <a:noFill/>
          <a:ln>
            <a:noFill/>
          </a:ln>
        </p:spPr>
      </p:pic>
      <p:sp>
        <p:nvSpPr>
          <p:cNvPr id="894" name="Google Shape;894;p61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400"/>
              <a:t xml:space="preserve">Пакетная загрузка замедляет доступ к данным, отчёт по продажам становится доступен только к 11:00 утра</a:t>
            </a:r>
          </a:p>
        </p:txBody>
      </p:sp>
      <p:sp>
        <p:nvSpPr>
          <p:cNvPr id="895" name="Google Shape;895;p61"/>
          <p:cNvSpPr/>
          <p:nvPr/>
        </p:nvSpPr>
        <p:spPr>
          <a:xfrm>
            <a:off x="1019170" y="1402177"/>
            <a:ext cx="1963516" cy="2271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Позднее время готовности отчёта</a:t>
            </a:r>
          </a:p>
        </p:txBody>
      </p:sp>
      <p:sp>
        <p:nvSpPr>
          <p:cNvPr id="896" name="Google Shape;896;p61"/>
          <p:cNvSpPr/>
          <p:nvPr/>
        </p:nvSpPr>
        <p:spPr>
          <a:xfrm>
            <a:off x="1019170" y="2218724"/>
            <a:ext cx="1963516" cy="2271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Отсутствие обновления в реальном времени</a:t>
            </a:r>
          </a:p>
        </p:txBody>
      </p:sp>
      <p:sp>
        <p:nvSpPr>
          <p:cNvPr id="897" name="Google Shape;897;p61"/>
          <p:cNvSpPr/>
          <p:nvPr/>
        </p:nvSpPr>
        <p:spPr>
          <a:xfrm>
            <a:off x="1019170" y="3024442"/>
            <a:ext cx="1963516" cy="2271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Риск задержек при инцидентах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7" name="Google Shape;417;p44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Play"/>
              <a:buNone/>
            </a:pPr>
            <a:r>
              <a:rPr lang="en-US" sz="2450"/>
              <a:t xml:space="preserve">Пилот на двух витринах показал значительное улучшение ключевых метрик</a:t>
            </a:r>
          </a:p>
        </p:txBody>
      </p:sp>
      <p:sp>
        <p:nvSpPr>
          <p:cNvPr id="418" name="Google Shape;418;p44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US" sz="900"/>
              <a:t xml:space="preserve">Проведение пилотного проекта на двух витринах подтвердило значительное улучшение показателей эффективности.</a:t>
            </a:r>
          </a:p>
        </p:txBody>
      </p:sp>
      <p:grpSp>
        <p:nvGrpSpPr>
          <p:cNvPr id="419" name="Google Shape;419;p44"/>
          <p:cNvGrpSpPr/>
          <p:nvPr/>
        </p:nvGrpSpPr>
        <p:grpSpPr>
          <a:xfrm>
            <a:off x="282380" y="3403462"/>
            <a:ext cx="1195387" cy="99124"/>
            <a:chOff x="658813" y="5548708"/>
            <a:chExt cx="2283170" cy="189326"/>
          </a:xfrm>
        </p:grpSpPr>
        <p:sp>
          <p:nvSpPr>
            <p:cNvPr id="420" name="Google Shape;420;p44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1" name="Google Shape;421;p44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2" name="Google Shape;422;p44"/>
            <p:cNvSpPr/>
            <p:nvPr/>
          </p:nvSpPr>
          <p:spPr>
            <a:xfrm>
              <a:off x="1705735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3" name="Google Shape;423;p44"/>
            <p:cNvSpPr/>
            <p:nvPr/>
          </p:nvSpPr>
          <p:spPr>
            <a:xfrm>
              <a:off x="2229196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4" name="Google Shape;424;p44"/>
            <p:cNvSpPr/>
            <p:nvPr/>
          </p:nvSpPr>
          <p:spPr>
            <a:xfrm>
              <a:off x="2752657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249" name="Google Shape;2249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85748" y="3576507"/>
            <a:ext cx="2381238" cy="285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0" name="Google Shape;225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43234" y="3576507"/>
            <a:ext cx="3762355" cy="28571"/>
          </a:xfrm>
          <a:prstGeom prst="rect">
            <a:avLst/>
          </a:prstGeom>
          <a:noFill/>
          <a:ln>
            <a:noFill/>
          </a:ln>
        </p:spPr>
      </p:pic>
      <p:sp>
        <p:nvSpPr>
          <p:cNvPr id="2251" name="Google Shape;2251;p8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Отчёт по продажам теперь доступен к 8:30 утра, что на 2.5 часа раньше прежнего срока в 11:00</a:t>
            </a:r>
          </a:p>
        </p:txBody>
      </p:sp>
      <p:sp>
        <p:nvSpPr>
          <p:cNvPr id="2252" name="Google Shape;2252;p83"/>
          <p:cNvSpPr txBox="1"/>
          <p:nvPr/>
        </p:nvSpPr>
        <p:spPr>
          <a:xfrm>
            <a:off x="177970" y="1664110"/>
            <a:ext cx="2381238" cy="21890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none" tIns="45700">
            <a:noAutofit/>
          </a:bodyPr>
          <a:lstStyle/>
          <a:p>
            <a:pPr indent="0" lvl="0" marL="0" marR="0" rtl="0" algn="l">
              <a:lnSpc>
                <a:spcPct val="1615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600"/>
              <a:buFont typeface="Play"/>
              <a:buNone/>
            </a:pPr>
            <a:r>
              <a:rPr b="1" i="0" lang="en-US" sz="64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rPr>
              <a:t xml:space="preserve">8:30</a:t>
            </a:r>
          </a:p>
        </p:txBody>
      </p:sp>
      <p:sp>
        <p:nvSpPr>
          <p:cNvPr id="2253" name="Google Shape;2253;p83"/>
          <p:cNvSpPr txBox="1"/>
          <p:nvPr/>
        </p:nvSpPr>
        <p:spPr>
          <a:xfrm>
            <a:off x="3143234" y="1664110"/>
            <a:ext cx="4320556" cy="21890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none" tIns="45700">
            <a:noAutofit/>
          </a:bodyPr>
          <a:lstStyle/>
          <a:p>
            <a:pPr indent="0" lvl="0" marL="0" marR="0" rtl="0" algn="l">
              <a:lnSpc>
                <a:spcPct val="1615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600"/>
              <a:buFont typeface="Play"/>
              <a:buNone/>
            </a:pPr>
            <a:endParaRPr b="1" i="0" lang="en-US" sz="16600" u="none" cap="none" strike="noStrike">
              <a:solidFill>
                <a:schemeClr val="accen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254" name="Google Shape;2254;p83"/>
          <p:cNvSpPr txBox="1"/>
          <p:nvPr/>
        </p:nvSpPr>
        <p:spPr>
          <a:xfrm>
            <a:off x="256559" y="3689483"/>
            <a:ext cx="4315441" cy="327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Отчёт по продажам доступен к 8:30 утра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69" name="Google Shape;2569;p9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Число инцидентов с опозданием снизилось в 4.5 раза</a:t>
            </a:r>
          </a:p>
        </p:txBody>
      </p:sp>
      <p:graphicFrame>
        <p:nvGraphicFramePr>
          <p:cNvPr id="2570" name="Chart 2569"/>
          <p:cNvGraphicFramePr>
            <a:graphicFrameLocks noGrp="1"/>
          </p:cNvGraphicFramePr>
          <p:nvPr/>
        </p:nvGraphicFramePr>
        <p:xfrm>
          <a:off x="285293" y="1110022"/>
          <a:ext cx="8572500" cy="3734641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56" name="Google Shape;1056;p66"/>
          <p:cNvSpPr/>
          <p:nvPr/>
        </p:nvSpPr>
        <p:spPr>
          <a:xfrm>
            <a:off x="285748" y="276524"/>
            <a:ext cx="8572456" cy="68571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7" name="Google Shape;1057;p66"/>
          <p:cNvSpPr/>
          <p:nvPr/>
        </p:nvSpPr>
        <p:spPr>
          <a:xfrm>
            <a:off x="3838239" y="276524"/>
            <a:ext cx="4948861" cy="1025866"/>
          </a:xfrm>
          <a:prstGeom prst="roundRect">
            <a:avLst>
              <a:gd fmla="val 1036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8" name="Google Shape;1058;p66"/>
          <p:cNvSpPr/>
          <p:nvPr/>
        </p:nvSpPr>
        <p:spPr>
          <a:xfrm>
            <a:off x="4048160" y="486417"/>
            <a:ext cx="4529021" cy="12857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9" name="Google Shape;1059;p66"/>
          <p:cNvSpPr/>
          <p:nvPr/>
        </p:nvSpPr>
        <p:spPr>
          <a:xfrm>
            <a:off x="4048160" y="486418"/>
            <a:ext cx="4585000" cy="1845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Рост затрат</a:t>
            </a:r>
          </a:p>
        </p:txBody>
      </p:sp>
      <p:sp>
        <p:nvSpPr>
          <p:cNvPr id="1060" name="Google Shape;1060;p66"/>
          <p:cNvSpPr/>
          <p:nvPr/>
        </p:nvSpPr>
        <p:spPr>
          <a:xfrm>
            <a:off x="4048160" y="740925"/>
            <a:ext cx="4571005" cy="3935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90" u="none" cap="none" strike="noStrike">
                <a:solidFill>
                  <a:srgbClr val="8F8F8F"/>
                </a:solidFill>
                <a:latin typeface="Play"/>
                <a:ea typeface="Play"/>
                <a:cs typeface="Play"/>
                <a:sym typeface="Play"/>
              </a:rPr>
              <a:t xml:space="preserve">Инфраструктурные расходы увеличились на 12 %.</a:t>
            </a:r>
          </a:p>
        </p:txBody>
      </p:sp>
      <p:sp>
        <p:nvSpPr>
          <p:cNvPr id="1061" name="Google Shape;1061;p66"/>
          <p:cNvSpPr/>
          <p:nvPr/>
        </p:nvSpPr>
        <p:spPr>
          <a:xfrm>
            <a:off x="3838239" y="1462423"/>
            <a:ext cx="4948861" cy="1025866"/>
          </a:xfrm>
          <a:prstGeom prst="roundRect">
            <a:avLst>
              <a:gd fmla="val 1036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2" name="Google Shape;1062;p66"/>
          <p:cNvSpPr/>
          <p:nvPr/>
        </p:nvSpPr>
        <p:spPr>
          <a:xfrm>
            <a:off x="4048160" y="1672316"/>
            <a:ext cx="4529021" cy="12857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3" name="Google Shape;1063;p66"/>
          <p:cNvSpPr/>
          <p:nvPr/>
        </p:nvSpPr>
        <p:spPr>
          <a:xfrm>
            <a:off x="4048160" y="1672317"/>
            <a:ext cx="4585000" cy="1845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Срок пилота</a:t>
            </a:r>
          </a:p>
        </p:txBody>
      </p:sp>
      <p:sp>
        <p:nvSpPr>
          <p:cNvPr id="1064" name="Google Shape;1064;p66"/>
          <p:cNvSpPr/>
          <p:nvPr/>
        </p:nvSpPr>
        <p:spPr>
          <a:xfrm>
            <a:off x="4048160" y="1926823"/>
            <a:ext cx="4571005" cy="3935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90" u="none" cap="none" strike="noStrike">
                <a:solidFill>
                  <a:srgbClr val="8F8F8F"/>
                </a:solidFill>
                <a:latin typeface="Play"/>
                <a:ea typeface="Play"/>
                <a:cs typeface="Play"/>
                <a:sym typeface="Play"/>
              </a:rPr>
              <a:t xml:space="preserve">Тестирование на двух витринах заняло 6 недель.</a:t>
            </a:r>
          </a:p>
        </p:txBody>
      </p:sp>
      <p:sp>
        <p:nvSpPr>
          <p:cNvPr id="1065" name="Google Shape;1065;p66"/>
          <p:cNvSpPr/>
          <p:nvPr/>
        </p:nvSpPr>
        <p:spPr>
          <a:xfrm>
            <a:off x="3838239" y="2648322"/>
            <a:ext cx="4948861" cy="1025866"/>
          </a:xfrm>
          <a:prstGeom prst="roundRect">
            <a:avLst>
              <a:gd fmla="val 1036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6" name="Google Shape;1066;p66"/>
          <p:cNvSpPr/>
          <p:nvPr/>
        </p:nvSpPr>
        <p:spPr>
          <a:xfrm>
            <a:off x="4048160" y="2858216"/>
            <a:ext cx="4529021" cy="12857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7" name="Google Shape;1067;p66"/>
          <p:cNvSpPr/>
          <p:nvPr/>
        </p:nvSpPr>
        <p:spPr>
          <a:xfrm>
            <a:off x="4048160" y="2858216"/>
            <a:ext cx="4585000" cy="1845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Баланс затрат и пользы</a:t>
            </a:r>
          </a:p>
        </p:txBody>
      </p:sp>
      <p:sp>
        <p:nvSpPr>
          <p:cNvPr id="1068" name="Google Shape;1068;p66"/>
          <p:cNvSpPr/>
          <p:nvPr/>
        </p:nvSpPr>
        <p:spPr>
          <a:xfrm>
            <a:off x="4048160" y="3112723"/>
            <a:ext cx="4571005" cy="3935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90" u="none" cap="none" strike="noStrike">
                <a:solidFill>
                  <a:srgbClr val="8F8F8F"/>
                </a:solidFill>
                <a:latin typeface="Play"/>
                <a:ea typeface="Play"/>
                <a:cs typeface="Play"/>
                <a:sym typeface="Play"/>
              </a:rPr>
              <a:t xml:space="preserve">Умеренный рост затрат дал значительный прирост скорости и надежности.</a:t>
            </a:r>
          </a:p>
        </p:txBody>
      </p:sp>
      <p:sp>
        <p:nvSpPr>
          <p:cNvPr id="1073" name="Google Shape;1073;p66"/>
          <p:cNvSpPr txBox="1"/>
          <p:nvPr>
            <p:ph type="title"/>
          </p:nvPr>
        </p:nvSpPr>
        <p:spPr>
          <a:xfrm>
            <a:off x="177971" y="282949"/>
            <a:ext cx="3412254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Инфраструктурные расходы выросли на 12 % при значительном улучшении метрик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7" name="Google Shape;417;p44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Play"/>
              <a:buNone/>
            </a:pPr>
            <a:r>
              <a:rPr lang="en-US" sz="2900"/>
              <a:t xml:space="preserve">Необходимо решение о переводе оставшихся 14 витрин</a:t>
            </a:r>
          </a:p>
        </p:txBody>
      </p:sp>
      <p:sp>
        <p:nvSpPr>
          <p:cNvPr id="418" name="Google Shape;418;p44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US" sz="900"/>
              <a:t xml:space="preserve">Необходимо решение о переводе оставшихся 14 витрин.</a:t>
            </a:r>
          </a:p>
        </p:txBody>
      </p:sp>
      <p:grpSp>
        <p:nvGrpSpPr>
          <p:cNvPr id="419" name="Google Shape;419;p44"/>
          <p:cNvGrpSpPr/>
          <p:nvPr/>
        </p:nvGrpSpPr>
        <p:grpSpPr>
          <a:xfrm>
            <a:off x="282380" y="3403462"/>
            <a:ext cx="1195387" cy="99124"/>
            <a:chOff x="658813" y="5548708"/>
            <a:chExt cx="2283170" cy="189326"/>
          </a:xfrm>
        </p:grpSpPr>
        <p:sp>
          <p:nvSpPr>
            <p:cNvPr id="420" name="Google Shape;420;p44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1" name="Google Shape;421;p44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2" name="Google Shape;422;p44"/>
            <p:cNvSpPr/>
            <p:nvPr/>
          </p:nvSpPr>
          <p:spPr>
            <a:xfrm>
              <a:off x="1705735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3" name="Google Shape;423;p44"/>
            <p:cNvSpPr/>
            <p:nvPr/>
          </p:nvSpPr>
          <p:spPr>
            <a:xfrm>
              <a:off x="2229196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4" name="Google Shape;424;p44"/>
            <p:cNvSpPr/>
            <p:nvPr/>
          </p:nvSpPr>
          <p:spPr>
            <a:xfrm>
              <a:off x="2752657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23" name="Google Shape;723;p57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4" name="Google Shape;724;p57"/>
          <p:cNvSpPr/>
          <p:nvPr/>
        </p:nvSpPr>
        <p:spPr>
          <a:xfrm>
            <a:off x="285748" y="286047"/>
            <a:ext cx="8572456" cy="417616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5" name="Google Shape;725;p57"/>
          <p:cNvSpPr/>
          <p:nvPr/>
        </p:nvSpPr>
        <p:spPr>
          <a:xfrm>
            <a:off x="285748" y="1209852"/>
            <a:ext cx="8572456" cy="32523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57"/>
          <p:cNvSpPr/>
          <p:nvPr/>
        </p:nvSpPr>
        <p:spPr>
          <a:xfrm>
            <a:off x="285748" y="1209852"/>
            <a:ext cx="8572456" cy="1578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7" name="Google Shape;727;p57"/>
          <p:cNvSpPr/>
          <p:nvPr/>
        </p:nvSpPr>
        <p:spPr>
          <a:xfrm>
            <a:off x="285749" y="1209852"/>
            <a:ext cx="2793986" cy="1578563"/>
          </a:xfrm>
          <a:prstGeom prst="roundRect">
            <a:avLst>
              <a:gd fmla="val 608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8" name="Google Shape;728;p57"/>
          <p:cNvSpPr/>
          <p:nvPr/>
        </p:nvSpPr>
        <p:spPr>
          <a:xfrm>
            <a:off x="491283" y="1362233"/>
            <a:ext cx="2382916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9" name="Google Shape;729;p57"/>
          <p:cNvSpPr/>
          <p:nvPr/>
        </p:nvSpPr>
        <p:spPr>
          <a:xfrm>
            <a:off x="491283" y="1362233"/>
            <a:ext cx="102766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0" name="Google Shape;730;p57"/>
          <p:cNvSpPr/>
          <p:nvPr/>
        </p:nvSpPr>
        <p:spPr>
          <a:xfrm>
            <a:off x="491283" y="1590803"/>
            <a:ext cx="2451428" cy="1650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Охват пилота</a:t>
            </a:r>
          </a:p>
        </p:txBody>
      </p:sp>
      <p:sp>
        <p:nvSpPr>
          <p:cNvPr id="731" name="Google Shape;731;p57"/>
          <p:cNvSpPr/>
          <p:nvPr/>
        </p:nvSpPr>
        <p:spPr>
          <a:xfrm>
            <a:off x="491283" y="1819373"/>
            <a:ext cx="2434300" cy="8547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8F8F8F"/>
                </a:solidFill>
                <a:latin typeface="Play"/>
                <a:ea typeface="Play"/>
                <a:cs typeface="Play"/>
                <a:sym typeface="Play"/>
              </a:rPr>
              <a:t xml:space="preserve">Успешно переведены 2 витрины.</a:t>
            </a:r>
          </a:p>
        </p:txBody>
      </p:sp>
      <p:sp>
        <p:nvSpPr>
          <p:cNvPr id="732" name="Google Shape;732;p57"/>
          <p:cNvSpPr/>
          <p:nvPr/>
        </p:nvSpPr>
        <p:spPr>
          <a:xfrm>
            <a:off x="3174984" y="1209852"/>
            <a:ext cx="2793986" cy="1578563"/>
          </a:xfrm>
          <a:prstGeom prst="roundRect">
            <a:avLst>
              <a:gd fmla="val 608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3" name="Google Shape;733;p57"/>
          <p:cNvSpPr/>
          <p:nvPr/>
        </p:nvSpPr>
        <p:spPr>
          <a:xfrm>
            <a:off x="3380518" y="1362233"/>
            <a:ext cx="2382916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4" name="Google Shape;734;p57"/>
          <p:cNvSpPr/>
          <p:nvPr/>
        </p:nvSpPr>
        <p:spPr>
          <a:xfrm>
            <a:off x="3380518" y="1362233"/>
            <a:ext cx="102766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5" name="Google Shape;735;p57"/>
          <p:cNvSpPr/>
          <p:nvPr/>
        </p:nvSpPr>
        <p:spPr>
          <a:xfrm>
            <a:off x="3380518" y="1590803"/>
            <a:ext cx="2451428" cy="1650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Остаток работ</a:t>
            </a:r>
          </a:p>
        </p:txBody>
      </p:sp>
      <p:sp>
        <p:nvSpPr>
          <p:cNvPr id="736" name="Google Shape;736;p57"/>
          <p:cNvSpPr/>
          <p:nvPr/>
        </p:nvSpPr>
        <p:spPr>
          <a:xfrm>
            <a:off x="3380518" y="1819373"/>
            <a:ext cx="2434300" cy="8547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8F8F8F"/>
                </a:solidFill>
                <a:latin typeface="Play"/>
                <a:ea typeface="Play"/>
                <a:cs typeface="Play"/>
                <a:sym typeface="Play"/>
              </a:rPr>
              <a:t xml:space="preserve">Осталось перевести 14 витрин.</a:t>
            </a:r>
          </a:p>
        </p:txBody>
      </p:sp>
      <p:sp>
        <p:nvSpPr>
          <p:cNvPr id="737" name="Google Shape;737;p57"/>
          <p:cNvSpPr/>
          <p:nvPr/>
        </p:nvSpPr>
        <p:spPr>
          <a:xfrm>
            <a:off x="6064218" y="1209852"/>
            <a:ext cx="2793986" cy="1578563"/>
          </a:xfrm>
          <a:prstGeom prst="roundRect">
            <a:avLst>
              <a:gd fmla="val 608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8" name="Google Shape;738;p57"/>
          <p:cNvSpPr/>
          <p:nvPr/>
        </p:nvSpPr>
        <p:spPr>
          <a:xfrm>
            <a:off x="6269754" y="1362233"/>
            <a:ext cx="2382916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9" name="Google Shape;739;p57"/>
          <p:cNvSpPr/>
          <p:nvPr/>
        </p:nvSpPr>
        <p:spPr>
          <a:xfrm>
            <a:off x="6269754" y="1362233"/>
            <a:ext cx="102766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0" name="Google Shape;740;p57"/>
          <p:cNvSpPr/>
          <p:nvPr/>
        </p:nvSpPr>
        <p:spPr>
          <a:xfrm>
            <a:off x="6269754" y="1590803"/>
            <a:ext cx="2451428" cy="1650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Срок реализации</a:t>
            </a:r>
          </a:p>
        </p:txBody>
      </p:sp>
      <p:sp>
        <p:nvSpPr>
          <p:cNvPr id="741" name="Google Shape;741;p57"/>
          <p:cNvSpPr/>
          <p:nvPr/>
        </p:nvSpPr>
        <p:spPr>
          <a:xfrm>
            <a:off x="6269754" y="1819373"/>
            <a:ext cx="2434300" cy="8547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8F8F8F"/>
                </a:solidFill>
                <a:latin typeface="Play"/>
                <a:ea typeface="Play"/>
                <a:cs typeface="Play"/>
                <a:sym typeface="Play"/>
              </a:rPr>
              <a:t xml:space="preserve">Полный переход запланирован до конца квартала.</a:t>
            </a:r>
          </a:p>
        </p:txBody>
      </p:sp>
      <p:sp>
        <p:nvSpPr>
          <p:cNvPr id="747" name="Google Shape;747;p57"/>
          <p:cNvSpPr/>
          <p:nvPr/>
        </p:nvSpPr>
        <p:spPr>
          <a:xfrm>
            <a:off x="285748" y="2883653"/>
            <a:ext cx="8572456" cy="1578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8" name="Google Shape;768;p57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 xml:space="preserve">Пилот на 2 витринах завершен, осталось перевести 14 для полного перехода до конца квартала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38" name="Google Shape;438;p46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</a:pPr>
            <a:r>
              <a:rPr lang="en-US" sz="4050"/>
              <a:t xml:space="preserve">Требуется решение о полном переходе</a:t>
            </a:r>
          </a:p>
        </p:txBody>
      </p:sp>
      <p:sp>
        <p:nvSpPr>
          <p:cNvPr id="439" name="Google Shape;439;p46"/>
          <p:cNvSpPr txBox="1"/>
          <p:nvPr>
            <p:ph idx="1" type="body"/>
          </p:nvPr>
        </p:nvSpPr>
        <p:spPr>
          <a:xfrm>
            <a:off x="1430534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</a:pPr>
            <a:r>
              <a:rPr lang="en-US" sz="1200"/>
              <a:t xml:space="preserve">Перевод всех 14 витрин до конца квартала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Google Shape;401;p4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lang="en-US" sz="1700"/>
              <a:t xml:space="preserve">Спасибо за внимание, мы готовы ответить на ваши вопросы по инициативе</a:t>
            </a:r>
          </a:p>
        </p:txBody>
      </p:sp>
      <p:sp>
        <p:nvSpPr>
          <p:cNvPr id="402" name="Google Shape;402;p4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</a:pPr>
            <a:r>
              <a:rPr lang="en-US" sz="1200"/>
              <a:t xml:space="preserve">Готовы ответить на вопросы по инициативе.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