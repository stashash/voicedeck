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Инциденты в месяц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Sheet1!$A$2:$A$3</c:f>
              <c:strCache>
                <c:ptCount val="2"/>
                <c:pt idx="0">
                  <c:v>До пилота</c:v>
                </c:pt>
                <c:pt idx="1">
                  <c:v>После пилота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9.0</c:v>
                </c:pt>
                <c:pt idx="1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999999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шт.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Здравствуйте, коллеги. Сегодня я представляю инициативу по модернизации нашей системы отчётности.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рассмотрим текущие проблемы, успехи пилотного проекта и следующие шаги.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Текущий процесс создает задержку, которая мешает быстрым управленческим решениям.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Перейдем к результатам нашего пилотного проекта, который подтвердил эффективность подхода.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Ключевая выгода: данные становятся доступны значительно раньше, что дает больше времени на анализ.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График наглядно демонстрирует рост стабильности системы и снижение рисков срыва сроков.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Стоимость перехода оправдана полученными операционными преимуществами.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Скорость реализации пилота показывает, что масштабирование возможно в сжатые сроки.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Теперь обсудим, как мы планируем распространить успех пилота на всю платформу.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имеем четкий план и сроки для завершения миграции всех витрин.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Прямое сравнение показывает превосходство новой модели по ключевым метрикам.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Таблица дает сжатую картину всех изменений, произошедших в ходе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Успех инициативы зависит от вашего решения о выделении ресурсов на масштабирование.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Прошу вас поддержать инициативу и утвердить план масштабирования.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Спасибо за время. Отвечу на любые вопросы по деталям инициативы.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8.png"/><Relationship Id="rId6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3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Титульный слайд">
  <p:cSld name="9_Титульный слайд"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3"/>
          <p:cNvPicPr preferRelativeResize="0"/>
          <p:nvPr/>
        </p:nvPicPr>
        <p:blipFill rotWithShape="1">
          <a:blip r:embed="rId2">
            <a:alphaModFix/>
          </a:blip>
          <a:srcRect b="-1" l="0" r="50023" t="66636"/>
          <a:stretch/>
        </p:blipFill>
        <p:spPr>
          <a:xfrm>
            <a:off x="794" y="4572000"/>
            <a:ext cx="6093175" cy="228599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1" y="5747081"/>
            <a:ext cx="4487332" cy="111091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745067" y="6160788"/>
            <a:ext cx="4487332" cy="69721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8" name="Google Shape;88;p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89" name="Google Shape;89;p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0" name="Google Shape;90;p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1" name="Google Shape;91;p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2" name="Google Shape;92;p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3" name="Google Shape;93;p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4" name="Google Shape;94;p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5" name="Google Shape;95;p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6" name="Google Shape;96;p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7" name="Google Shape;97;p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8" name="Google Shape;98;p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9" name="Google Shape;99;p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0" name="Google Shape;100;p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1" name="Google Shape;101;p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2" name="Google Shape;102;p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3" name="Google Shape;103;p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4" name="Google Shape;104;p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5" name="Google Shape;105;p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6" name="Google Shape;106;p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7" name="Google Shape;107;p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08" name="Google Shape;108;p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9" name="Google Shape;109;p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/>
          <p:nvPr/>
        </p:nvSpPr>
        <p:spPr>
          <a:xfrm>
            <a:off x="4487333" y="4377664"/>
            <a:ext cx="1608667" cy="2480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12" name="Google Shape;11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Заголовок">
  <p:cSld name="19_Заголовок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4" name="Google Shape;114;p4"/>
          <p:cNvPicPr preferRelativeResize="0"/>
          <p:nvPr/>
        </p:nvPicPr>
        <p:blipFill rotWithShape="1">
          <a:blip r:embed="rId2">
            <a:alphaModFix/>
          </a:blip>
          <a:srcRect b="0" l="0" r="61122" t="0"/>
          <a:stretch/>
        </p:blipFill>
        <p:spPr>
          <a:xfrm>
            <a:off x="0" y="0"/>
            <a:ext cx="4739951" cy="685714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Титульный слайд">
  <p:cSld name="18_Титульный слайд">
    <p:bg>
      <p:bgPr>
        <a:solidFill>
          <a:schemeClr val="dk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5"/>
          <p:cNvPicPr preferRelativeResize="0"/>
          <p:nvPr/>
        </p:nvPicPr>
        <p:blipFill rotWithShape="1">
          <a:blip r:embed="rId2">
            <a:alphaModFix/>
          </a:blip>
          <a:srcRect b="2847" l="52053" r="0" t="90954"/>
          <a:stretch/>
        </p:blipFill>
        <p:spPr>
          <a:xfrm flipH="1">
            <a:off x="-2" y="6433309"/>
            <a:ext cx="5845629" cy="4246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5"/>
          <p:cNvPicPr preferRelativeResize="0"/>
          <p:nvPr/>
        </p:nvPicPr>
        <p:blipFill rotWithShape="1">
          <a:blip r:embed="rId3">
            <a:alphaModFix/>
          </a:blip>
          <a:srcRect b="0" l="0" r="26515" t="13089"/>
          <a:stretch/>
        </p:blipFill>
        <p:spPr>
          <a:xfrm rot="10800000">
            <a:off x="-1" y="1831974"/>
            <a:ext cx="4249647" cy="50260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21" name="Google Shape;121;p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2" name="Google Shape;122;p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3" name="Google Shape;123;p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4" name="Google Shape;124;p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5" name="Google Shape;125;p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6" name="Google Shape;126;p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7" name="Google Shape;127;p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8" name="Google Shape;128;p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9" name="Google Shape;129;p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0" name="Google Shape;130;p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1" name="Google Shape;131;p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2" name="Google Shape;132;p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3" name="Google Shape;133;p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4" name="Google Shape;134;p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5" name="Google Shape;135;p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6" name="Google Shape;136;p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7" name="Google Shape;137;p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8" name="Google Shape;138;p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9" name="Google Shape;139;p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40" name="Google Shape;140;p5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41" name="Google Shape;141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2" name="Google Shape;142;p5"/>
          <p:cNvPicPr preferRelativeResize="0"/>
          <p:nvPr/>
        </p:nvPicPr>
        <p:blipFill rotWithShape="1">
          <a:blip r:embed="rId5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46" name="Google Shape;146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Заголовок">
  <p:cSld name="8_Заголовок">
    <p:bg>
      <p:bgPr>
        <a:solidFill>
          <a:schemeClr val="dk1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8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 flipH="1">
            <a:off x="2907772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8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 flipH="1">
            <a:off x="5862319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6" name="Google Shape;20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07" name="Google Shape;20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Титульный слайд">
  <p:cSld name="14_Титульный слайд">
    <p:bg>
      <p:bgPr>
        <a:solidFill>
          <a:schemeClr val="dk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35" name="Google Shape;235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96000" y="5844358"/>
            <a:ext cx="6096000" cy="10136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6" name="Google Shape;236;p10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37" name="Google Shape;237;p10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8" name="Google Shape;238;p10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9" name="Google Shape;239;p10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0" name="Google Shape;240;p10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1" name="Google Shape;241;p10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2" name="Google Shape;242;p10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3" name="Google Shape;243;p10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4" name="Google Shape;244;p10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5" name="Google Shape;245;p10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6" name="Google Shape;246;p10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7" name="Google Shape;247;p10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8" name="Google Shape;248;p10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9" name="Google Shape;249;p10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0" name="Google Shape;250;p10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1" name="Google Shape;251;p10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2" name="Google Shape;252;p10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3" name="Google Shape;253;p10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4" name="Google Shape;254;p10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5" name="Google Shape;255;p10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56" name="Google Shape;256;p1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57" name="Google Shape;2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66292" y="0"/>
            <a:ext cx="1325708" cy="372397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Заголовок">
  <p:cSld name="11_Заголовок">
    <p:bg>
      <p:bgPr>
        <a:solidFill>
          <a:schemeClr val="dk1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11"/>
          <p:cNvSpPr txBox="1"/>
          <p:nvPr>
            <p:ph type="title"/>
          </p:nvPr>
        </p:nvSpPr>
        <p:spPr>
          <a:xfrm>
            <a:off x="429253" y="424691"/>
            <a:ext cx="11354760" cy="76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63" name="Google Shape;26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4" name="Google Shape;264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Заголовок">
  <p:cSld name="17_Заголовок">
    <p:bg>
      <p:bgPr>
        <a:solidFill>
          <a:schemeClr val="dk1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2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>
            <a:off x="-1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12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>
            <a:off x="-1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1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69" name="Google Shape;269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Титульный слайд">
  <p:cSld name="11_Титульный слайд">
    <p:bg>
      <p:bgPr>
        <a:solidFill>
          <a:schemeClr val="dk1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" name="Google Shape;272;p1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73" name="Google Shape;273;p1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4" name="Google Shape;274;p1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5" name="Google Shape;275;p1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6" name="Google Shape;276;p1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7" name="Google Shape;277;p1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8" name="Google Shape;278;p1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9" name="Google Shape;279;p1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0" name="Google Shape;280;p1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1" name="Google Shape;281;p1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2" name="Google Shape;282;p1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3" name="Google Shape;283;p1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4" name="Google Shape;284;p1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5" name="Google Shape;285;p1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6" name="Google Shape;286;p1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7" name="Google Shape;287;p1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8" name="Google Shape;288;p1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9" name="Google Shape;289;p1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0" name="Google Shape;290;p1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1" name="Google Shape;291;p1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92" name="Google Shape;292;p1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93" name="Google Shape;293;p1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95" name="Google Shape;29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Титульный слайд">
  <p:cSld name="16_Титульный слайд">
    <p:bg>
      <p:bgPr>
        <a:solidFill>
          <a:schemeClr val="dk1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97" name="Google Shape;297;p14"/>
          <p:cNvPicPr preferRelativeResize="0"/>
          <p:nvPr/>
        </p:nvPicPr>
        <p:blipFill rotWithShape="1">
          <a:blip r:embed="rId2">
            <a:alphaModFix/>
          </a:blip>
          <a:srcRect b="0" l="20444" r="24824" t="0"/>
          <a:stretch/>
        </p:blipFill>
        <p:spPr>
          <a:xfrm>
            <a:off x="5519099" y="0"/>
            <a:ext cx="6672901" cy="685713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8" name="Google Shape;298;p14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99" name="Google Shape;299;p14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0" name="Google Shape;300;p14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1" name="Google Shape;301;p14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2" name="Google Shape;302;p14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3" name="Google Shape;303;p14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4" name="Google Shape;304;p14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5" name="Google Shape;305;p14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6" name="Google Shape;306;p14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7" name="Google Shape;307;p14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8" name="Google Shape;308;p14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9" name="Google Shape;309;p14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0" name="Google Shape;310;p14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1" name="Google Shape;311;p14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2" name="Google Shape;312;p14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3" name="Google Shape;313;p14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4" name="Google Shape;314;p14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5" name="Google Shape;315;p14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6" name="Google Shape;316;p14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7" name="Google Shape;317;p14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18" name="Google Shape;318;p14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319" name="Google Shape;31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14"/>
          <p:cNvSpPr/>
          <p:nvPr/>
        </p:nvSpPr>
        <p:spPr>
          <a:xfrm>
            <a:off x="5404757" y="4555671"/>
            <a:ext cx="1926772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4"/>
          <p:cNvSpPr/>
          <p:nvPr/>
        </p:nvSpPr>
        <p:spPr>
          <a:xfrm>
            <a:off x="8490856" y="5372100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6498771" y="342900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4"/>
          <p:cNvSpPr/>
          <p:nvPr/>
        </p:nvSpPr>
        <p:spPr>
          <a:xfrm>
            <a:off x="7903028" y="32658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4"/>
          <p:cNvSpPr/>
          <p:nvPr/>
        </p:nvSpPr>
        <p:spPr>
          <a:xfrm>
            <a:off x="5323114" y="930729"/>
            <a:ext cx="1175657" cy="973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5" name="Google Shape;32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Титульный слайд">
  <p:cSld name="10_Титульный слайд">
    <p:bg>
      <p:bgPr>
        <a:solidFill>
          <a:schemeClr val="dk1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1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55" name="Google Shape;355;p1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6" name="Google Shape;356;p1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7" name="Google Shape;357;p1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8" name="Google Shape;358;p1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9" name="Google Shape;359;p1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0" name="Google Shape;360;p1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1" name="Google Shape;361;p1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2" name="Google Shape;362;p1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3" name="Google Shape;363;p1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4" name="Google Shape;364;p1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5" name="Google Shape;365;p1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6" name="Google Shape;366;p1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7" name="Google Shape;367;p1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8" name="Google Shape;368;p1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9" name="Google Shape;369;p1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0" name="Google Shape;370;p1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1" name="Google Shape;371;p1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2" name="Google Shape;372;p1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3" name="Google Shape;373;p1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74" name="Google Shape;374;p1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75" name="Google Shape;375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76" name="Google Shape;3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Google Shape;381;p17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ru-RU" sz="4500"/>
              <a:t xml:space="preserve">Переход на потоковую отчётность: инициатива</a:t>
            </a:r>
          </a:p>
        </p:txBody>
      </p:sp>
      <p:sp>
        <p:nvSpPr>
          <p:cNvPr id="383" name="Google Shape;383;p17"/>
          <p:cNvSpPr txBox="1"/>
          <p:nvPr/>
        </p:nvSpPr>
        <p:spPr>
          <a:xfrm>
            <a:off x="1510259" y="4682209"/>
            <a:ext cx="2213844" cy="8342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FB8C2"/>
              </a:buClr>
              <a:buSzPts val="1600"/>
              <a:buFont typeface="Play"/>
              <a:buNone/>
            </a:pPr>
            <a:r>
              <a:rPr b="0" i="0" lang="ru-RU" sz="1200" u="none" cap="none" strike="noStrike">
                <a:solidFill>
                  <a:srgbClr val="AFB8C2"/>
                </a:solidFill>
                <a:latin typeface="Play"/>
                <a:ea typeface="Play"/>
                <a:cs typeface="Play"/>
                <a:sym typeface="Play"/>
              </a:rPr>
              <a:t xml:space="preserve">Предложение перевести ночные отчёты с пакетной загрузки на потоковую для ускорения доступности данных.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91" name="Google Shape;691;p32"/>
          <p:cNvSpPr/>
          <p:nvPr/>
        </p:nvSpPr>
        <p:spPr>
          <a:xfrm>
            <a:off x="427866" y="1971330"/>
            <a:ext cx="3597514" cy="3443958"/>
          </a:xfrm>
          <a:prstGeom prst="roundRect">
            <a:avLst>
              <a:gd fmla="val 5112" name="adj"/>
            </a:avLst>
          </a:prstGeom>
          <a:solidFill>
            <a:srgbClr val="000000">
              <a:alpha val="29804"/>
            </a:srgbClr>
          </a:solidFill>
          <a:ln cap="flat" cmpd="sng" w="9525">
            <a:solidFill>
              <a:srgbClr val="70C3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32"/>
          <p:cNvSpPr/>
          <p:nvPr/>
        </p:nvSpPr>
        <p:spPr>
          <a:xfrm>
            <a:off x="427866" y="1971329"/>
            <a:ext cx="3597514" cy="732775"/>
          </a:xfrm>
          <a:prstGeom prst="round2SameRect">
            <a:avLst>
              <a:gd fmla="val 17490" name="adj1"/>
              <a:gd fmla="val 0" name="adj2"/>
            </a:avLst>
          </a:prstGeom>
          <a:gradFill>
            <a:gsLst>
              <a:gs pos="0">
                <a:srgbClr val="00AEE8"/>
              </a:gs>
              <a:gs pos="100000">
                <a:srgbClr val="0077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32"/>
          <p:cNvSpPr/>
          <p:nvPr/>
        </p:nvSpPr>
        <p:spPr>
          <a:xfrm>
            <a:off x="597903" y="2182506"/>
            <a:ext cx="3277416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212121"/>
                </a:solidFill>
                <a:latin typeface="Play"/>
                <a:ea typeface="Play"/>
                <a:cs typeface="Play"/>
                <a:sym typeface="Play"/>
              </a:rPr>
              <a:t xml:space="preserve">Текущая ситуация</a:t>
            </a:r>
          </a:p>
        </p:txBody>
      </p:sp>
      <p:sp>
        <p:nvSpPr>
          <p:cNvPr id="694" name="Google Shape;694;p32"/>
          <p:cNvSpPr/>
          <p:nvPr/>
        </p:nvSpPr>
        <p:spPr>
          <a:xfrm>
            <a:off x="597903" y="2841868"/>
            <a:ext cx="3277416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6800" lvl="2" marL="136800" marR="0" rtl="0" algn="l">
              <a:spcBef>
                <a:spcPts val="0"/>
              </a:spcBef>
              <a:spcAft>
                <a:spcPts val="0"/>
              </a:spcAft>
              <a:buClr>
                <a:srgbClr val="70C3FF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Как работают отчёты сейчас и их ограничения.</a:t>
            </a:r>
          </a:p>
        </p:txBody>
      </p:sp>
      <p:sp>
        <p:nvSpPr>
          <p:cNvPr id="695" name="Google Shape;695;p32"/>
          <p:cNvSpPr/>
          <p:nvPr/>
        </p:nvSpPr>
        <p:spPr>
          <a:xfrm>
            <a:off x="4127508" y="1971330"/>
            <a:ext cx="3597514" cy="3443958"/>
          </a:xfrm>
          <a:prstGeom prst="roundRect">
            <a:avLst>
              <a:gd fmla="val 5112" name="adj"/>
            </a:avLst>
          </a:prstGeom>
          <a:solidFill>
            <a:srgbClr val="000000">
              <a:alpha val="29804"/>
            </a:srgbClr>
          </a:solidFill>
          <a:ln cap="flat" cmpd="sng" w="9525">
            <a:solidFill>
              <a:srgbClr val="70C3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32"/>
          <p:cNvSpPr/>
          <p:nvPr/>
        </p:nvSpPr>
        <p:spPr>
          <a:xfrm>
            <a:off x="4127508" y="1971329"/>
            <a:ext cx="3597514" cy="732775"/>
          </a:xfrm>
          <a:prstGeom prst="round2SameRect">
            <a:avLst>
              <a:gd fmla="val 17490" name="adj1"/>
              <a:gd fmla="val 0" name="adj2"/>
            </a:avLst>
          </a:prstGeom>
          <a:gradFill>
            <a:gsLst>
              <a:gs pos="0">
                <a:srgbClr val="00AEE8"/>
              </a:gs>
              <a:gs pos="100000">
                <a:srgbClr val="0077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32"/>
          <p:cNvSpPr/>
          <p:nvPr/>
        </p:nvSpPr>
        <p:spPr>
          <a:xfrm>
            <a:off x="4297545" y="2182506"/>
            <a:ext cx="3277416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212121"/>
                </a:solidFill>
                <a:latin typeface="Play"/>
                <a:ea typeface="Play"/>
                <a:cs typeface="Play"/>
                <a:sym typeface="Play"/>
              </a:rPr>
              <a:t xml:space="preserve">Результаты пилота</a:t>
            </a:r>
          </a:p>
        </p:txBody>
      </p:sp>
      <p:sp>
        <p:nvSpPr>
          <p:cNvPr id="698" name="Google Shape;698;p32"/>
          <p:cNvSpPr/>
          <p:nvPr/>
        </p:nvSpPr>
        <p:spPr>
          <a:xfrm>
            <a:off x="4297545" y="2841868"/>
            <a:ext cx="3277416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6800" lvl="2" marL="136800" marR="0" rtl="0" algn="l">
              <a:spcBef>
                <a:spcPts val="0"/>
              </a:spcBef>
              <a:spcAft>
                <a:spcPts val="0"/>
              </a:spcAft>
              <a:buClr>
                <a:srgbClr val="70C3FF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Показатели эффективности на двух витринах.</a:t>
            </a:r>
          </a:p>
        </p:txBody>
      </p:sp>
      <p:sp>
        <p:nvSpPr>
          <p:cNvPr id="699" name="Google Shape;699;p32"/>
          <p:cNvSpPr/>
          <p:nvPr/>
        </p:nvSpPr>
        <p:spPr>
          <a:xfrm>
            <a:off x="7827149" y="1971330"/>
            <a:ext cx="3597513" cy="3443958"/>
          </a:xfrm>
          <a:prstGeom prst="roundRect">
            <a:avLst>
              <a:gd fmla="val 5112" name="adj"/>
            </a:avLst>
          </a:prstGeom>
          <a:gradFill>
            <a:gsLst>
              <a:gs pos="0">
                <a:srgbClr val="00AEE8"/>
              </a:gs>
              <a:gs pos="100000">
                <a:srgbClr val="0077FF"/>
              </a:gs>
            </a:gsLst>
            <a:lin ang="2700000" scaled="0"/>
          </a:gradFill>
          <a:ln cap="flat" cmpd="sng" w="9525">
            <a:solidFill>
              <a:srgbClr val="70C3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32"/>
          <p:cNvSpPr/>
          <p:nvPr/>
        </p:nvSpPr>
        <p:spPr>
          <a:xfrm>
            <a:off x="7989513" y="2196653"/>
            <a:ext cx="343515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212121"/>
                </a:solidFill>
                <a:latin typeface="Play"/>
                <a:ea typeface="Play"/>
                <a:cs typeface="Play"/>
                <a:sym typeface="Play"/>
              </a:rPr>
              <a:t xml:space="preserve">План масштабирования</a:t>
            </a:r>
          </a:p>
        </p:txBody>
      </p:sp>
      <p:sp>
        <p:nvSpPr>
          <p:cNvPr id="701" name="Google Shape;701;p32"/>
          <p:cNvSpPr/>
          <p:nvPr/>
        </p:nvSpPr>
        <p:spPr>
          <a:xfrm>
            <a:off x="7989513" y="2841868"/>
            <a:ext cx="3129499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6800" lvl="2" marL="1368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Перевод оставшихся 14 витрин до конца квартала.</a:t>
            </a:r>
          </a:p>
        </p:txBody>
      </p:sp>
      <p:sp>
        <p:nvSpPr>
          <p:cNvPr id="702" name="Google Shape;702;p32"/>
          <p:cNvSpPr/>
          <p:nvPr/>
        </p:nvSpPr>
        <p:spPr>
          <a:xfrm>
            <a:off x="431328" y="1243208"/>
            <a:ext cx="9699808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Обсудим текущее состояние, результаты пилота и план масштабирования.</a:t>
            </a:r>
          </a:p>
        </p:txBody>
      </p:sp>
      <p:sp>
        <p:nvSpPr>
          <p:cNvPr id="703" name="Google Shape;703;p3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Согласуем статус отчётов, итоги пилота и график перевода оставшихся витрин до конца квартала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56" name="Google Shape;756;p38"/>
          <p:cNvSpPr txBox="1"/>
          <p:nvPr/>
        </p:nvSpPr>
        <p:spPr>
          <a:xfrm>
            <a:off x="6559297" y="976912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Пакетная загрузка данных</a:t>
            </a:r>
          </a:p>
        </p:txBody>
      </p:sp>
      <p:sp>
        <p:nvSpPr>
          <p:cNvPr id="757" name="Google Shape;757;p38"/>
          <p:cNvSpPr/>
          <p:nvPr/>
        </p:nvSpPr>
        <p:spPr>
          <a:xfrm>
            <a:off x="5759521" y="976749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38"/>
          <p:cNvSpPr txBox="1"/>
          <p:nvPr/>
        </p:nvSpPr>
        <p:spPr>
          <a:xfrm>
            <a:off x="6559297" y="2357191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Готовность отчёта к 11:00</a:t>
            </a:r>
          </a:p>
        </p:txBody>
      </p:sp>
      <p:sp>
        <p:nvSpPr>
          <p:cNvPr id="759" name="Google Shape;759;p38"/>
          <p:cNvSpPr/>
          <p:nvPr/>
        </p:nvSpPr>
        <p:spPr>
          <a:xfrm>
            <a:off x="5759521" y="2357028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38"/>
          <p:cNvSpPr txBox="1"/>
          <p:nvPr/>
        </p:nvSpPr>
        <p:spPr>
          <a:xfrm>
            <a:off x="6559297" y="3737471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Ожидание данных до полудня</a:t>
            </a:r>
          </a:p>
        </p:txBody>
      </p:sp>
      <p:sp>
        <p:nvSpPr>
          <p:cNvPr id="761" name="Google Shape;761;p38"/>
          <p:cNvSpPr/>
          <p:nvPr/>
        </p:nvSpPr>
        <p:spPr>
          <a:xfrm>
            <a:off x="5759521" y="3737308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4" name="Google Shape;764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39536" y="1156764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5" name="Google Shape;765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39536" y="253578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6" name="Google Shape;766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39536" y="3912727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8" name="Google Shape;768;p38"/>
          <p:cNvSpPr txBox="1"/>
          <p:nvPr>
            <p:ph type="title"/>
          </p:nvPr>
        </p:nvSpPr>
        <p:spPr>
          <a:xfrm>
            <a:off x="429253" y="2327310"/>
            <a:ext cx="4499229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Задержка отчётов до 11 утра снижает оперативность управления продажами</a:t>
            </a:r>
          </a:p>
        </p:txBody>
      </p:sp>
      <p:sp>
        <p:nvSpPr>
          <p:cNvPr id="769" name="Google Shape;769;p38"/>
          <p:cNvSpPr/>
          <p:nvPr/>
        </p:nvSpPr>
        <p:spPr>
          <a:xfrm>
            <a:off x="431328" y="3528845"/>
            <a:ext cx="44971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Пакетная загрузка данных ночными батчами делает отчёт по продажам доступным только к 11:00, заставляя директоров ждать до полудня.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4" name="Google Shape;874;p44"/>
          <p:cNvSpPr txBox="1"/>
          <p:nvPr>
            <p:ph type="title"/>
          </p:nvPr>
        </p:nvSpPr>
        <p:spPr>
          <a:xfrm>
            <a:off x="429253" y="2291422"/>
            <a:ext cx="484600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0"/>
              <a:buFont typeface="Play"/>
              <a:buNone/>
            </a:pPr>
            <a:r>
              <a:rPr b="1" lang="ru-RU" sz="3050"/>
              <a:t xml:space="preserve">Пилот на двух витринах показал значительное улучшение метрик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Время готовности отчета сократилось с 11:00 до 8:30, что позволило получить отчет на 2.5 часа раньше</a:t>
            </a:r>
          </a:p>
        </p:txBody>
      </p:sp>
      <p:sp>
        <p:nvSpPr>
          <p:cNvPr id="710" name="Google Shape;710;p33"/>
          <p:cNvSpPr txBox="1"/>
          <p:nvPr/>
        </p:nvSpPr>
        <p:spPr>
          <a:xfrm>
            <a:off x="6316808" y="1243208"/>
            <a:ext cx="4305644" cy="1912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0" spcFirstLastPara="1" rIns="1218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-RU" sz="80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8:30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Время готовности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Отчет по продажам доступен к 8:30 утра.</a:t>
            </a:r>
          </a:p>
        </p:txBody>
      </p:sp>
      <p:sp>
        <p:nvSpPr>
          <p:cNvPr id="711" name="Google Shape;711;p33"/>
          <p:cNvSpPr txBox="1"/>
          <p:nvPr/>
        </p:nvSpPr>
        <p:spPr>
          <a:xfrm>
            <a:off x="6316808" y="3598223"/>
            <a:ext cx="4305644" cy="2589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Отчет по продажам теперь доступен к 8:30 утра, что на 2.5 часа раньше предыдущего срока.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Google Shape;547;p26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Число инцидентов с опозданием упало в 4.5 раза</a:t>
            </a:r>
          </a:p>
        </p:txBody>
      </p:sp>
      <p:graphicFrame>
        <p:nvGraphicFramePr>
          <p:cNvPr id="558" name="Chart 557"/>
          <p:cNvGraphicFramePr>
            <a:graphicFrameLocks noGrp="1"/>
          </p:cNvGraphicFramePr>
          <p:nvPr/>
        </p:nvGraphicFramePr>
        <p:xfrm>
          <a:off x="4739951" y="1188720"/>
          <a:ext cx="7022891" cy="500748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Google Shape;680;p31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Затраты на инфраструктуру выросли умеренно</a:t>
            </a:r>
          </a:p>
        </p:txBody>
      </p:sp>
      <p:sp>
        <p:nvSpPr>
          <p:cNvPr id="681" name="Google Shape;681;p31"/>
          <p:cNvSpPr/>
          <p:nvPr/>
        </p:nvSpPr>
        <p:spPr>
          <a:xfrm>
            <a:off x="427864" y="1837067"/>
            <a:ext cx="3636000" cy="2022006"/>
          </a:xfrm>
          <a:prstGeom prst="roundRect">
            <a:avLst>
              <a:gd fmla="val 632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Инфраструктурные расходы увеличились на 12%</a:t>
            </a:r>
          </a:p>
        </p:txBody>
      </p:sp>
      <p:sp>
        <p:nvSpPr>
          <p:cNvPr id="682" name="Google Shape;682;p31"/>
          <p:cNvSpPr/>
          <p:nvPr/>
        </p:nvSpPr>
        <p:spPr>
          <a:xfrm>
            <a:off x="4217594" y="1837067"/>
            <a:ext cx="3636000" cy="2022006"/>
          </a:xfrm>
          <a:prstGeom prst="roundRect">
            <a:avLst>
              <a:gd fmla="val 6871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Взамен получено ускорение и стабильность</a:t>
            </a:r>
          </a:p>
        </p:txBody>
      </p:sp>
      <p:sp>
        <p:nvSpPr>
          <p:cNvPr id="683" name="Google Shape;683;p31"/>
          <p:cNvSpPr/>
          <p:nvPr/>
        </p:nvSpPr>
        <p:spPr>
          <a:xfrm>
            <a:off x="8007324" y="1837067"/>
            <a:ext cx="3636000" cy="2022006"/>
          </a:xfrm>
          <a:prstGeom prst="roundRect">
            <a:avLst>
              <a:gd fmla="val 5781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Затраты находятся в управляемых пределах</a:t>
            </a:r>
          </a:p>
        </p:txBody>
      </p:sp>
      <p:sp>
        <p:nvSpPr>
          <p:cNvPr id="684" name="Google Shape;684;p31"/>
          <p:cNvSpPr/>
          <p:nvPr/>
        </p:nvSpPr>
        <p:spPr>
          <a:xfrm>
            <a:off x="423103" y="5533764"/>
            <a:ext cx="6565676" cy="395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Рост затрат на</a:t>
            </a:r>
          </a:p>
        </p:txBody>
      </p:sp>
      <p:sp>
        <p:nvSpPr>
          <p:cNvPr id="685" name="Google Shape;685;p31"/>
          <p:cNvSpPr/>
          <p:nvPr/>
        </p:nvSpPr>
        <p:spPr>
          <a:xfrm>
            <a:off x="427864" y="4932833"/>
            <a:ext cx="1785581" cy="396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endParaRPr lang="ru-RU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Время реализации пилотного проекта составило 6 недель</a:t>
            </a:r>
          </a:p>
        </p:txBody>
      </p:sp>
      <p:sp>
        <p:nvSpPr>
          <p:cNvPr id="710" name="Google Shape;710;p33"/>
          <p:cNvSpPr txBox="1"/>
          <p:nvPr/>
        </p:nvSpPr>
        <p:spPr>
          <a:xfrm>
            <a:off x="6316808" y="1243208"/>
            <a:ext cx="4305644" cy="1912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0" spcFirstLastPara="1" rIns="1218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-RU" sz="58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6 недель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Срок пилота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Работы на двух витринах заняли 6 недель.</a:t>
            </a:r>
          </a:p>
        </p:txBody>
      </p:sp>
      <p:sp>
        <p:nvSpPr>
          <p:cNvPr id="711" name="Google Shape;711;p33"/>
          <p:cNvSpPr txBox="1"/>
          <p:nvPr/>
        </p:nvSpPr>
        <p:spPr>
          <a:xfrm>
            <a:off x="6316808" y="3598223"/>
            <a:ext cx="4305644" cy="2589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Работы на двух витринах заняли 6 недель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4" name="Google Shape;874;p44"/>
          <p:cNvSpPr txBox="1"/>
          <p:nvPr>
            <p:ph type="title"/>
          </p:nvPr>
        </p:nvSpPr>
        <p:spPr>
          <a:xfrm>
            <a:off x="429253" y="2291422"/>
            <a:ext cx="484600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0"/>
              <a:buFont typeface="Play"/>
              <a:buNone/>
            </a:pPr>
            <a:r>
              <a:rPr b="1" lang="ru-RU" sz="3300"/>
              <a:t xml:space="preserve">План перевода остальных витрин на потоковую отчётность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8" name="Google Shape;388;p18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Перевод оставшихся 14 витрин завершится до конца квартала</a:t>
            </a:r>
          </a:p>
        </p:txBody>
      </p:sp>
      <p:sp>
        <p:nvSpPr>
          <p:cNvPr id="389" name="Google Shape;389;p18"/>
          <p:cNvSpPr txBox="1"/>
          <p:nvPr/>
        </p:nvSpPr>
        <p:spPr>
          <a:xfrm>
            <a:off x="4909649" y="1016001"/>
            <a:ext cx="1594338" cy="69791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4000"/>
              <a:buFont typeface="Play"/>
              <a:buNone/>
            </a:pPr>
            <a:r>
              <a:rPr b="1" i="0" lang="ru-RU" sz="40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1</a:t>
            </a:r>
          </a:p>
        </p:txBody>
      </p:sp>
      <p:sp>
        <p:nvSpPr>
          <p:cNvPr id="390" name="Google Shape;390;p18"/>
          <p:cNvSpPr txBox="1"/>
          <p:nvPr/>
        </p:nvSpPr>
        <p:spPr>
          <a:xfrm>
            <a:off x="4909649" y="2074202"/>
            <a:ext cx="1594338" cy="69791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4000"/>
              <a:buFont typeface="Play"/>
              <a:buNone/>
            </a:pPr>
            <a:r>
              <a:rPr b="1" i="0" lang="ru-RU" sz="40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2</a:t>
            </a:r>
          </a:p>
        </p:txBody>
      </p:sp>
      <p:sp>
        <p:nvSpPr>
          <p:cNvPr id="391" name="Google Shape;391;p18"/>
          <p:cNvSpPr txBox="1"/>
          <p:nvPr/>
        </p:nvSpPr>
        <p:spPr>
          <a:xfrm>
            <a:off x="4909649" y="3132402"/>
            <a:ext cx="1594338" cy="69791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4000"/>
              <a:buFont typeface="Play"/>
              <a:buNone/>
            </a:pPr>
            <a:r>
              <a:rPr b="1" i="0" lang="ru-RU" sz="40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3</a:t>
            </a:r>
          </a:p>
        </p:txBody>
      </p:sp>
      <p:sp>
        <p:nvSpPr>
          <p:cNvPr id="394" name="Google Shape;394;p18"/>
          <p:cNvSpPr txBox="1"/>
          <p:nvPr/>
        </p:nvSpPr>
        <p:spPr>
          <a:xfrm>
            <a:off x="6793020" y="1016001"/>
            <a:ext cx="4969726" cy="59319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</a:pPr>
            <a:r>
              <a:rPr b="0" i="0" lang="ru-RU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Остаток работ: 14 витрин</a:t>
            </a:r>
          </a:p>
        </p:txBody>
      </p:sp>
      <p:sp>
        <p:nvSpPr>
          <p:cNvPr id="395" name="Google Shape;395;p18"/>
          <p:cNvSpPr txBox="1"/>
          <p:nvPr/>
        </p:nvSpPr>
        <p:spPr>
          <a:xfrm>
            <a:off x="6793020" y="2088056"/>
            <a:ext cx="4969726" cy="59319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</a:pPr>
            <a:r>
              <a:rPr b="0" i="0" lang="ru-RU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Срок: до конца квартала</a:t>
            </a:r>
          </a:p>
        </p:txBody>
      </p:sp>
      <p:sp>
        <p:nvSpPr>
          <p:cNvPr id="396" name="Google Shape;396;p18"/>
          <p:cNvSpPr txBox="1"/>
          <p:nvPr/>
        </p:nvSpPr>
        <p:spPr>
          <a:xfrm>
            <a:off x="6793020" y="3160111"/>
            <a:ext cx="4969726" cy="59319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</a:pPr>
            <a:r>
              <a:rPr b="0" i="0" lang="ru-RU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Ресурсы: опыт и инфраструктура пилота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13" name="Google Shape;613;p2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Потоковая модель обеспечивает более раннюю готовность и меньшее число сбоев</a:t>
            </a:r>
          </a:p>
        </p:txBody>
      </p:sp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5" name="Google Shape;625;p28"/>
          <p:cNvSpPr/>
          <p:nvPr/>
        </p:nvSpPr>
        <p:spPr>
          <a:xfrm>
            <a:off x="427865" y="3429000"/>
            <a:ext cx="5693613" cy="956688"/>
          </a:xfrm>
          <a:prstGeom prst="roundRect">
            <a:avLst>
              <a:gd fmla="val 10569" name="adj"/>
            </a:avLst>
          </a:prstGeom>
          <a:solidFill>
            <a:srgbClr val="000000"/>
          </a:solidFill>
          <a:ln cap="flat" cmpd="sng" w="9525">
            <a:solidFill>
              <a:srgbClr val="00AEE8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Пакетная загрузка: готовность к 11:00, 9 инцидентов в месяц</a:t>
            </a:r>
          </a:p>
        </p:txBody>
      </p:sp>
      <p:sp>
        <p:nvSpPr>
          <p:cNvPr id="626" name="Google Shape;626;p28"/>
          <p:cNvSpPr/>
          <p:nvPr/>
        </p:nvSpPr>
        <p:spPr>
          <a:xfrm>
            <a:off x="6193587" y="3429000"/>
            <a:ext cx="5693613" cy="956688"/>
          </a:xfrm>
          <a:prstGeom prst="roundRect">
            <a:avLst>
              <a:gd fmla="val 10569" name="adj"/>
            </a:avLst>
          </a:prstGeom>
          <a:solidFill>
            <a:srgbClr val="000000"/>
          </a:solidFill>
          <a:ln cap="flat" cmpd="sng" w="9525">
            <a:solidFill>
              <a:srgbClr val="00AEE8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Потоковая загрузка: готовность к 8:30, 2 инцидента в месяц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Сводка ключевых показателей пилота: время, инциденты, затраты, срок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8300"/>
                <a:gridCol w="3778300"/>
                <a:gridCol w="3778302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Было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Стало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Время готовности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11:00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8:30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Инциденты в месяц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Затраты на инфраструктуру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Базовый уровень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+12%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8" name="Google Shape;858;p4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Для перевода оставшихся 14 витрин необходимо получить одобрение руководства</a:t>
            </a:r>
          </a:p>
        </p:txBody>
      </p:sp>
      <p:sp>
        <p:nvSpPr>
          <p:cNvPr id="863" name="Google Shape;863;p43"/>
          <p:cNvSpPr txBox="1"/>
          <p:nvPr/>
        </p:nvSpPr>
        <p:spPr>
          <a:xfrm>
            <a:off x="429254" y="2794729"/>
            <a:ext cx="10436669" cy="89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6600"/>
              <a:buFont typeface="Play"/>
              <a:buNone/>
            </a:pPr>
            <a:r>
              <a:rPr b="1" i="0" lang="ru-RU" sz="585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??</a:t>
            </a:r>
          </a:p>
        </p:txBody>
      </p:sp>
      <p:cxnSp>
        <p:nvCxnSpPr>
          <p:cNvPr id="867" name="Google Shape;867;p43"/>
          <p:cNvCxnSpPr>
            <a:stCxn id="863" idx="3"/>
          </p:cNvCxnSpPr>
          <p:nvPr/>
        </p:nvCxnSpPr>
        <p:spPr>
          <a:xfrm>
            <a:off x="2196935" y="3242978"/>
            <a:ext cx="877500" cy="0"/>
          </a:xfrm>
          <a:prstGeom prst="straightConnector1">
            <a:avLst/>
          </a:prstGeom>
          <a:noFill/>
          <a:ln cap="flat" cmpd="sng" w="28575">
            <a:solidFill>
              <a:srgbClr val="0077FF"/>
            </a:solidFill>
            <a:prstDash val="solid"/>
            <a:miter lim="8000"/>
            <a:headEnd len="sm" w="sm" type="none"/>
            <a:tailEnd len="med" w="med" type="stealth"/>
          </a:ln>
        </p:spPr>
      </p:cxnSp>
      <p:cxnSp>
        <p:nvCxnSpPr>
          <p:cNvPr id="868" name="Google Shape;868;p43"/>
          <p:cNvCxnSpPr/>
          <p:nvPr/>
        </p:nvCxnSpPr>
        <p:spPr>
          <a:xfrm>
            <a:off x="5082639" y="3242978"/>
            <a:ext cx="877546" cy="0"/>
          </a:xfrm>
          <a:prstGeom prst="straightConnector1">
            <a:avLst/>
          </a:prstGeom>
          <a:noFill/>
          <a:ln cap="flat" cmpd="sng" w="28575">
            <a:solidFill>
              <a:srgbClr val="0077FF"/>
            </a:solidFill>
            <a:prstDash val="solid"/>
            <a:miter lim="8000"/>
            <a:headEnd len="sm" w="sm" type="none"/>
            <a:tailEnd len="med" w="med" type="stealth"/>
          </a:ln>
        </p:spPr>
      </p:cxnSp>
      <p:cxnSp>
        <p:nvCxnSpPr>
          <p:cNvPr id="869" name="Google Shape;869;p43"/>
          <p:cNvCxnSpPr/>
          <p:nvPr/>
        </p:nvCxnSpPr>
        <p:spPr>
          <a:xfrm>
            <a:off x="7992094" y="3242978"/>
            <a:ext cx="877546" cy="0"/>
          </a:xfrm>
          <a:prstGeom prst="straightConnector1">
            <a:avLst/>
          </a:prstGeom>
          <a:noFill/>
          <a:ln cap="flat" cmpd="sng" w="28575">
            <a:solidFill>
              <a:srgbClr val="0077FF"/>
            </a:solidFill>
            <a:prstDash val="solid"/>
            <a:miter lim="8000"/>
            <a:headEnd len="sm" w="sm" type="none"/>
            <a:tailEnd len="med" w="med" type="stealth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39" name="Google Shape;839;p4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Директорам необходимо принять решение о масштабировании инициативы по переводу 14 витрин до конца квартала</a:t>
            </a:r>
          </a:p>
        </p:txBody>
      </p:sp>
      <p:sp>
        <p:nvSpPr>
          <p:cNvPr id="840" name="Google Shape;840;p42"/>
          <p:cNvSpPr txBox="1"/>
          <p:nvPr/>
        </p:nvSpPr>
        <p:spPr>
          <a:xfrm>
            <a:off x="429253" y="3650071"/>
            <a:ext cx="11315700" cy="593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</a:pPr>
            <a:r>
              <a:rPr b="0" i="0" lang="ru-RU" sz="18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Принять решение о масштабировании инициативы по переводу 14 витрин до конца квартала</a:t>
            </a:r>
          </a:p>
        </p:txBody>
      </p:sp>
      <p:cxnSp>
        <p:nvCxnSpPr>
          <p:cNvPr id="844" name="Google Shape;844;p42"/>
          <p:cNvCxnSpPr/>
          <p:nvPr/>
        </p:nvCxnSpPr>
        <p:spPr>
          <a:xfrm>
            <a:off x="0" y="3401671"/>
            <a:ext cx="12192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845" name="Google Shape;845;p42"/>
          <p:cNvSpPr/>
          <p:nvPr/>
        </p:nvSpPr>
        <p:spPr>
          <a:xfrm>
            <a:off x="1678105" y="3339632"/>
            <a:ext cx="147523" cy="147523"/>
          </a:xfrm>
          <a:prstGeom prst="ellipse">
            <a:avLst/>
          </a:prstGeom>
          <a:solidFill>
            <a:srgbClr val="0077FF"/>
          </a:solidFill>
          <a:ln cap="flat" cmpd="sng" w="2857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42"/>
          <p:cNvSpPr/>
          <p:nvPr/>
        </p:nvSpPr>
        <p:spPr>
          <a:xfrm>
            <a:off x="4566961" y="3339632"/>
            <a:ext cx="147523" cy="147523"/>
          </a:xfrm>
          <a:prstGeom prst="ellipse">
            <a:avLst/>
          </a:prstGeom>
          <a:solidFill>
            <a:srgbClr val="0077FF"/>
          </a:solidFill>
          <a:ln cap="flat" cmpd="sng" w="2857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42"/>
          <p:cNvSpPr/>
          <p:nvPr/>
        </p:nvSpPr>
        <p:spPr>
          <a:xfrm>
            <a:off x="7463910" y="3339632"/>
            <a:ext cx="147523" cy="147523"/>
          </a:xfrm>
          <a:prstGeom prst="ellipse">
            <a:avLst/>
          </a:prstGeom>
          <a:solidFill>
            <a:srgbClr val="0077FF"/>
          </a:solidFill>
          <a:ln cap="flat" cmpd="sng" w="2857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42"/>
          <p:cNvSpPr/>
          <p:nvPr/>
        </p:nvSpPr>
        <p:spPr>
          <a:xfrm>
            <a:off x="10368951" y="3339632"/>
            <a:ext cx="147523" cy="147523"/>
          </a:xfrm>
          <a:prstGeom prst="ellipse">
            <a:avLst/>
          </a:prstGeom>
          <a:solidFill>
            <a:srgbClr val="0077FF"/>
          </a:solidFill>
          <a:ln cap="flat" cmpd="sng" w="2857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Google Shape;381;p17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ru-RU" sz="4100"/>
              <a:t xml:space="preserve">Спасибо за внимание: готовы ответить на ваши вопросы</a:t>
            </a:r>
          </a:p>
        </p:txBody>
      </p:sp>
      <p:sp>
        <p:nvSpPr>
          <p:cNvPr id="383" name="Google Shape;383;p17"/>
          <p:cNvSpPr txBox="1"/>
          <p:nvPr/>
        </p:nvSpPr>
        <p:spPr>
          <a:xfrm>
            <a:off x="1510259" y="4682209"/>
            <a:ext cx="2213844" cy="8342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FB8C2"/>
              </a:buClr>
              <a:buSzPts val="1600"/>
              <a:buFont typeface="Play"/>
              <a:buNone/>
            </a:pPr>
            <a:r>
              <a:rPr b="0" i="0" lang="ru-RU" sz="1600" u="none" cap="none" strike="noStrike">
                <a:solidFill>
                  <a:srgbClr val="AFB8C2"/>
                </a:solidFill>
                <a:latin typeface="Play"/>
                <a:ea typeface="Play"/>
                <a:cs typeface="Play"/>
                <a:sym typeface="Play"/>
              </a:rPr>
              <a:t xml:space="preserve">Готовы ответить на ваши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