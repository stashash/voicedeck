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Инциденты с опозданием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999999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шт/мес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Приветствие и представление инициативы по изменению архитектуры отчётности.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Обзор структуры презентации и ключевых тем для обсуждения.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Подчёркивание проблем текущего подхода к отчётности.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Демонстрация ключевого преимущества новой архитектуры.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Визуализация улучшения надёжности отчётного процесса.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Подчёркивание эффективности пилотной реализации.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Анализ финансовой составляющей инициативы.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Детализация процесса масштабирования инициативы.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Прямое сопоставление преимуществ нового подхода.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Формулировка ключевых преимуществ для бизнеса.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Честное представление потенциальных проблем и их решений.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Определение необходимых ресурсов для успешной реализации.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Представление временного плана реализации инициативы.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Призыв к принятию решения о переводе остальных 14 витрин.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Завершение презентации и приглашение к обсуждению.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4" name="Google Shape;874;p44"/>
          <p:cNvSpPr txBox="1"/>
          <p:nvPr>
            <p:ph type="title"/>
          </p:nvPr>
        </p:nvSpPr>
        <p:spPr>
          <a:xfrm>
            <a:off x="429253" y="2291422"/>
            <a:ext cx="484600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0"/>
              <a:buFont typeface="Play"/>
              <a:buNone/>
            </a:pPr>
            <a:r>
              <a:rPr b="1" lang="ru-RU" sz="2450"/>
              <a:t xml:space="preserve">Инициатива команды платформы данных по оптимизации отчётности: перевод ночных отчётов на потоковую загрузку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13" name="Google Shape;613;p2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План обсуждения ключевых аспектов перехода на потоковую загрузку</a:t>
            </a:r>
          </a:p>
        </p:txBody>
      </p:sp>
      <p:pic>
        <p:nvPicPr>
          <p:cNvPr id="620" name="Google Shape;6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21" name="Google Shape;6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28"/>
          <p:cNvSpPr/>
          <p:nvPr/>
        </p:nvSpPr>
        <p:spPr>
          <a:xfrm>
            <a:off x="427865" y="3429000"/>
            <a:ext cx="2810752" cy="956688"/>
          </a:xfrm>
          <a:prstGeom prst="roundRect">
            <a:avLst>
              <a:gd fmla="val 10569" name="adj"/>
            </a:avLst>
          </a:prstGeom>
          <a:solidFill>
            <a:srgbClr val="000000"/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Текущее состояние отчётности и существующие ограничения процессов</a:t>
            </a:r>
          </a:p>
        </p:txBody>
      </p:sp>
      <p:sp>
        <p:nvSpPr>
          <p:cNvPr id="626" name="Google Shape;626;p28"/>
          <p:cNvSpPr/>
          <p:nvPr/>
        </p:nvSpPr>
        <p:spPr>
          <a:xfrm>
            <a:off x="3310726" y="3429000"/>
            <a:ext cx="2810752" cy="956688"/>
          </a:xfrm>
          <a:prstGeom prst="roundRect">
            <a:avLst>
              <a:gd fmla="val 10569" name="adj"/>
            </a:avLst>
          </a:prstGeom>
          <a:solidFill>
            <a:srgbClr val="000000"/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Результаты пилотного проекта и показатели эффективности витрин</a:t>
            </a:r>
          </a:p>
        </p:txBody>
      </p:sp>
      <p:sp>
        <p:nvSpPr>
          <p:cNvPr id="627" name="Google Shape;627;p28"/>
          <p:cNvSpPr/>
          <p:nvPr/>
        </p:nvSpPr>
        <p:spPr>
          <a:xfrm>
            <a:off x="6193587" y="3429000"/>
            <a:ext cx="2810752" cy="956688"/>
          </a:xfrm>
          <a:prstGeom prst="roundRect">
            <a:avLst>
              <a:gd fmla="val 10569" name="adj"/>
            </a:avLst>
          </a:prstGeom>
          <a:solidFill>
            <a:srgbClr val="000000"/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План масштабирования и стратегия перевода остальных витрин</a:t>
            </a:r>
          </a:p>
        </p:txBody>
      </p:sp>
      <p:sp>
        <p:nvSpPr>
          <p:cNvPr id="628" name="Google Shape;628;p28"/>
          <p:cNvSpPr/>
          <p:nvPr/>
        </p:nvSpPr>
        <p:spPr>
          <a:xfrm>
            <a:off x="9076448" y="3429000"/>
            <a:ext cx="2810752" cy="956688"/>
          </a:xfrm>
          <a:prstGeom prst="roundRect">
            <a:avLst>
              <a:gd fmla="val 10569" name="adj"/>
            </a:avLst>
          </a:prstGeom>
          <a:solidFill>
            <a:srgbClr val="000000"/>
          </a:solidFill>
          <a:ln cap="flat" cmpd="sng" w="9525">
            <a:solidFill>
              <a:srgbClr val="00AEE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Решение руководства о сроках и ресурсах реализации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Google Shape;441;p2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Существующий подход к отчётности создаёт задержки в доступе к данным</a:t>
            </a:r>
          </a:p>
        </p:txBody>
      </p:sp>
      <p:sp>
        <p:nvSpPr>
          <p:cNvPr id="442" name="Google Shape;442;p21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Отчёт по продажам доступен только к 11 утра</a:t>
            </a:r>
          </a:p>
        </p:txBody>
      </p:sp>
      <p:grpSp>
        <p:nvGrpSpPr>
          <p:cNvPr id="443" name="Google Shape;443;p21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444" name="Google Shape;444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5" name="Google Shape;445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Google Shape;446;p21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9 инцидентов с задержкой отчёта в месяц</a:t>
            </a:r>
          </a:p>
        </p:txBody>
      </p:sp>
      <p:grpSp>
        <p:nvGrpSpPr>
          <p:cNvPr id="447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448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Google Shape;450;p21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Пакетная загрузка не позволяет оперативно обновлять данные</a:t>
            </a:r>
          </a:p>
        </p:txBody>
      </p:sp>
      <p:grpSp>
        <p:nvGrpSpPr>
          <p:cNvPr id="451" name="Google Shape;451;p21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452" name="Google Shape;452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Переход на потоковую загрузку ускоряет доступ к данным, обеспечивая раннюю готовность отчётов уже к 8:30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8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8:30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Потоковая загрузка ускоряет доступ к данным, делая отчёты готовыми к 8:30.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Google Shape;547;p26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Потоковая загрузка повышает надёжность отчётности</a:t>
            </a:r>
          </a:p>
        </p:txBody>
      </p:sp>
      <p:graphicFrame>
        <p:nvGraphicFramePr>
          <p:cNvPr id="558" name="Chart 557"/>
          <p:cNvGraphicFramePr>
            <a:graphicFrameLocks noGrp="1"/>
          </p:cNvGraphicFramePr>
          <p:nvPr/>
        </p:nvGraphicFramePr>
        <p:xfrm>
          <a:off x="4739951" y="1188720"/>
          <a:ext cx="7022891" cy="500748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Переход на потоковую загрузку реализуем в короткие сроки: всего 6 недель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58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6 недель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lang="ru-RU" sz="1600">
              <a:solidFill>
                <a:srgbClr val="CAD0D5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Рост затрат на инфраструктуру компенсируется повышением надёжности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8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12 %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12 %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8" name="Google Shape;858;p4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Пошаговый план перевода оставшихся витрин на потоковую загрузку</a:t>
            </a:r>
          </a:p>
        </p:txBody>
      </p:sp>
      <p:sp>
        <p:nvSpPr>
          <p:cNvPr id="863" name="Google Shape;863;p43"/>
          <p:cNvSpPr txBox="1"/>
          <p:nvPr/>
        </p:nvSpPr>
        <p:spPr>
          <a:xfrm>
            <a:off x="429254" y="2794729"/>
            <a:ext cx="1767681" cy="89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600"/>
              <a:buFont typeface="Play"/>
              <a:buNone/>
            </a:pPr>
            <a:r>
              <a:rPr b="1" i="0" lang="ru-RU" sz="585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1</a:t>
            </a:r>
          </a:p>
        </p:txBody>
      </p:sp>
      <p:sp>
        <p:nvSpPr>
          <p:cNvPr id="864" name="Google Shape;864;p43"/>
          <p:cNvSpPr txBox="1"/>
          <p:nvPr/>
        </p:nvSpPr>
        <p:spPr>
          <a:xfrm>
            <a:off x="3318917" y="2794729"/>
            <a:ext cx="1767681" cy="89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600"/>
              <a:buFont typeface="Play"/>
              <a:buNone/>
            </a:pPr>
            <a:r>
              <a:rPr b="1" i="0" lang="ru-RU" sz="585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2</a:t>
            </a:r>
          </a:p>
        </p:txBody>
      </p:sp>
      <p:sp>
        <p:nvSpPr>
          <p:cNvPr id="865" name="Google Shape;865;p43"/>
          <p:cNvSpPr txBox="1"/>
          <p:nvPr/>
        </p:nvSpPr>
        <p:spPr>
          <a:xfrm>
            <a:off x="6208579" y="2794729"/>
            <a:ext cx="1767681" cy="89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600"/>
              <a:buFont typeface="Play"/>
              <a:buNone/>
            </a:pPr>
            <a:r>
              <a:rPr b="1" i="0" lang="ru-RU" sz="585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3</a:t>
            </a:r>
          </a:p>
        </p:txBody>
      </p:sp>
      <p:sp>
        <p:nvSpPr>
          <p:cNvPr id="866" name="Google Shape;866;p43"/>
          <p:cNvSpPr txBox="1"/>
          <p:nvPr/>
        </p:nvSpPr>
        <p:spPr>
          <a:xfrm>
            <a:off x="9098242" y="2794729"/>
            <a:ext cx="1767681" cy="89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600"/>
              <a:buFont typeface="Play"/>
              <a:buNone/>
            </a:pPr>
            <a:r>
              <a:rPr b="1" i="0" lang="ru-RU" sz="585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4</a:t>
            </a:r>
          </a:p>
        </p:txBody>
      </p:sp>
      <p:cxnSp>
        <p:nvCxnSpPr>
          <p:cNvPr id="867" name="Google Shape;867;p43"/>
          <p:cNvCxnSpPr>
            <a:stCxn id="863" idx="3"/>
          </p:cNvCxnSpPr>
          <p:nvPr/>
        </p:nvCxnSpPr>
        <p:spPr>
          <a:xfrm>
            <a:off x="2196935" y="3242978"/>
            <a:ext cx="877500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868" name="Google Shape;868;p43"/>
          <p:cNvCxnSpPr/>
          <p:nvPr/>
        </p:nvCxnSpPr>
        <p:spPr>
          <a:xfrm>
            <a:off x="5082639" y="3242978"/>
            <a:ext cx="877546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869" name="Google Shape;869;p43"/>
          <p:cNvCxnSpPr/>
          <p:nvPr/>
        </p:nvCxnSpPr>
        <p:spPr>
          <a:xfrm>
            <a:off x="7992094" y="3242978"/>
            <a:ext cx="877546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Google Shape;680;p31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Потоковая загрузка превосходит пакетную по ключевым метрикам</a:t>
            </a:r>
          </a:p>
        </p:txBody>
      </p:sp>
      <p:sp>
        <p:nvSpPr>
          <p:cNvPr id="681" name="Google Shape;681;p31"/>
          <p:cNvSpPr/>
          <p:nvPr/>
        </p:nvSpPr>
        <p:spPr>
          <a:xfrm>
            <a:off x="427864" y="1837067"/>
            <a:ext cx="5530865" cy="2022006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Пакетная загрузка — Отчёт к 11:00, 9 инцидентов в месяц</a:t>
            </a:r>
          </a:p>
        </p:txBody>
      </p:sp>
      <p:sp>
        <p:nvSpPr>
          <p:cNvPr id="682" name="Google Shape;682;p31"/>
          <p:cNvSpPr/>
          <p:nvPr/>
        </p:nvSpPr>
        <p:spPr>
          <a:xfrm>
            <a:off x="6112459" y="1837067"/>
            <a:ext cx="5530865" cy="2022006"/>
          </a:xfrm>
          <a:prstGeom prst="roundRect">
            <a:avLst>
              <a:gd fmla="val 687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Потоковая загрузка — Отчёт к 8:30, 2 инцидента в месяц</a:t>
            </a:r>
          </a:p>
        </p:txBody>
      </p:sp>
      <p:sp>
        <p:nvSpPr>
          <p:cNvPr id="684" name="Google Shape;684;p31"/>
          <p:cNvSpPr/>
          <p:nvPr/>
        </p:nvSpPr>
        <p:spPr>
          <a:xfrm>
            <a:off x="423103" y="5533764"/>
            <a:ext cx="6565676" cy="395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lang="ru-RU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5" name="Google Shape;685;p31"/>
          <p:cNvSpPr/>
          <p:nvPr/>
        </p:nvSpPr>
        <p:spPr>
          <a:xfrm>
            <a:off x="427864" y="4932833"/>
            <a:ext cx="1785581" cy="396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lang="ru-RU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8" name="Google Shape;388;p18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Перевод всех витрин обеспечит системные улучшения: отчёты к 8:30, снижение инцидентов до 2 в месяц и повышение эффективности</a:t>
            </a:r>
          </a:p>
        </p:txBody>
      </p:sp>
      <p:sp>
        <p:nvSpPr>
          <p:cNvPr id="389" name="Google Shape;389;p18"/>
          <p:cNvSpPr txBox="1"/>
          <p:nvPr/>
        </p:nvSpPr>
        <p:spPr>
          <a:xfrm>
            <a:off x="4909649" y="1016001"/>
            <a:ext cx="1594338" cy="6979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4000"/>
              <a:buFont typeface="Play"/>
              <a:buNone/>
            </a:pPr>
            <a:r>
              <a:rPr b="1" i="0" lang="ru-RU" sz="4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1</a:t>
            </a:r>
          </a:p>
        </p:txBody>
      </p:sp>
      <p:sp>
        <p:nvSpPr>
          <p:cNvPr id="390" name="Google Shape;390;p18"/>
          <p:cNvSpPr txBox="1"/>
          <p:nvPr/>
        </p:nvSpPr>
        <p:spPr>
          <a:xfrm>
            <a:off x="4909649" y="2088056"/>
            <a:ext cx="1594338" cy="6979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4000"/>
              <a:buFont typeface="Play"/>
              <a:buNone/>
            </a:pPr>
            <a:r>
              <a:rPr b="1" i="0" lang="ru-RU" sz="4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2</a:t>
            </a:r>
          </a:p>
        </p:txBody>
      </p:sp>
      <p:sp>
        <p:nvSpPr>
          <p:cNvPr id="391" name="Google Shape;391;p18"/>
          <p:cNvSpPr txBox="1"/>
          <p:nvPr/>
        </p:nvSpPr>
        <p:spPr>
          <a:xfrm>
            <a:off x="4909649" y="3160111"/>
            <a:ext cx="1594338" cy="6979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4000"/>
              <a:buFont typeface="Play"/>
              <a:buNone/>
            </a:pPr>
            <a:r>
              <a:rPr b="1" i="0" lang="ru-RU" sz="4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3</a:t>
            </a:r>
          </a:p>
        </p:txBody>
      </p:sp>
      <p:sp>
        <p:nvSpPr>
          <p:cNvPr id="394" name="Google Shape;394;p18"/>
          <p:cNvSpPr txBox="1"/>
          <p:nvPr/>
        </p:nvSpPr>
        <p:spPr>
          <a:xfrm>
            <a:off x="6793020" y="1016001"/>
            <a:ext cx="4969726" cy="5931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Ранний доступ к данным</a:t>
            </a:r>
          </a:p>
        </p:txBody>
      </p:sp>
      <p:sp>
        <p:nvSpPr>
          <p:cNvPr id="395" name="Google Shape;395;p18"/>
          <p:cNvSpPr txBox="1"/>
          <p:nvPr/>
        </p:nvSpPr>
        <p:spPr>
          <a:xfrm>
            <a:off x="6793020" y="2088056"/>
            <a:ext cx="4969726" cy="5931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Повышение надёжности</a:t>
            </a:r>
          </a:p>
        </p:txBody>
      </p:sp>
      <p:sp>
        <p:nvSpPr>
          <p:cNvPr id="396" name="Google Shape;396;p18"/>
          <p:cNvSpPr txBox="1"/>
          <p:nvPr/>
        </p:nvSpPr>
        <p:spPr>
          <a:xfrm>
            <a:off x="6793020" y="3160111"/>
            <a:ext cx="4969726" cy="5931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Операционная эффективность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Идентифицированы основные риски и способы их минимизации</a:t>
            </a:r>
          </a:p>
        </p:txBody>
      </p:sp>
      <p:sp>
        <p:nvSpPr>
          <p:cNvPr id="460" name="Google Shape;460;p22"/>
          <p:cNvSpPr/>
          <p:nvPr/>
        </p:nvSpPr>
        <p:spPr>
          <a:xfrm>
            <a:off x="7729481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Временные задержки</a:t>
            </a:r>
          </a:p>
        </p:txBody>
      </p:sp>
      <p:sp>
        <p:nvSpPr>
          <p:cNvPr id="461" name="Google Shape;461;p22"/>
          <p:cNvSpPr/>
          <p:nvPr/>
        </p:nvSpPr>
        <p:spPr>
          <a:xfrm>
            <a:off x="4072584" y="1666499"/>
            <a:ext cx="3420000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Сложность миграции</a:t>
            </a:r>
          </a:p>
        </p:txBody>
      </p:sp>
      <p:sp>
        <p:nvSpPr>
          <p:cNvPr id="462" name="Google Shape;462;p22"/>
          <p:cNvSpPr/>
          <p:nvPr/>
        </p:nvSpPr>
        <p:spPr>
          <a:xfrm>
            <a:off x="415687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Рост затрат</a:t>
            </a:r>
          </a:p>
        </p:txBody>
      </p:sp>
      <p:sp>
        <p:nvSpPr>
          <p:cNvPr id="463" name="Google Shape;463;p22"/>
          <p:cNvSpPr txBox="1"/>
          <p:nvPr/>
        </p:nvSpPr>
        <p:spPr>
          <a:xfrm>
            <a:off x="596659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Расходы на инфраструктуру вырастут на 12 %</a:t>
            </a:r>
          </a:p>
        </p:txBody>
      </p:sp>
      <p:pic>
        <p:nvPicPr>
          <p:cNvPr id="464" name="Google Shape;4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6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2"/>
          <p:cNvSpPr txBox="1"/>
          <p:nvPr/>
        </p:nvSpPr>
        <p:spPr>
          <a:xfrm>
            <a:off x="4256098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Требуется настройка потоковых компонентов</a:t>
            </a:r>
          </a:p>
        </p:txBody>
      </p:sp>
      <p:pic>
        <p:nvPicPr>
          <p:cNvPr id="466" name="Google Shape;4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097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2"/>
          <p:cNvSpPr txBox="1"/>
          <p:nvPr/>
        </p:nvSpPr>
        <p:spPr>
          <a:xfrm>
            <a:off x="7911859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Возможны простои при переводе витрин</a:t>
            </a:r>
          </a:p>
        </p:txBody>
      </p:sp>
      <p:pic>
        <p:nvPicPr>
          <p:cNvPr id="468" name="Google Shape;46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118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1" name="Google Shape;691;p32"/>
          <p:cNvSpPr/>
          <p:nvPr/>
        </p:nvSpPr>
        <p:spPr>
          <a:xfrm>
            <a:off x="427866" y="1971330"/>
            <a:ext cx="3597514" cy="3443958"/>
          </a:xfrm>
          <a:prstGeom prst="roundRect">
            <a:avLst>
              <a:gd fmla="val 5112" name="adj"/>
            </a:avLst>
          </a:prstGeom>
          <a:solidFill>
            <a:srgbClr val="000000">
              <a:alpha val="29804"/>
            </a:srgbClr>
          </a:soli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427866" y="1971329"/>
            <a:ext cx="3597514" cy="732775"/>
          </a:xfrm>
          <a:prstGeom prst="round2SameRect">
            <a:avLst>
              <a:gd fmla="val 17490" name="adj1"/>
              <a:gd fmla="val 0" name="adj2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2"/>
          <p:cNvSpPr/>
          <p:nvPr/>
        </p:nvSpPr>
        <p:spPr>
          <a:xfrm>
            <a:off x="597903" y="2182506"/>
            <a:ext cx="32774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 xml:space="preserve">Инфраструктурные мощности</a:t>
            </a:r>
          </a:p>
        </p:txBody>
      </p:sp>
      <p:sp>
        <p:nvSpPr>
          <p:cNvPr id="694" name="Google Shape;694;p32"/>
          <p:cNvSpPr/>
          <p:nvPr/>
        </p:nvSpPr>
        <p:spPr>
          <a:xfrm>
            <a:off x="597903" y="2841868"/>
            <a:ext cx="3277416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Расширение вычислительных ресурсов</a:t>
            </a:r>
          </a:p>
        </p:txBody>
      </p:sp>
      <p:sp>
        <p:nvSpPr>
          <p:cNvPr id="695" name="Google Shape;695;p32"/>
          <p:cNvSpPr/>
          <p:nvPr/>
        </p:nvSpPr>
        <p:spPr>
          <a:xfrm>
            <a:off x="4127508" y="1971330"/>
            <a:ext cx="3597514" cy="3443958"/>
          </a:xfrm>
          <a:prstGeom prst="roundRect">
            <a:avLst>
              <a:gd fmla="val 5112" name="adj"/>
            </a:avLst>
          </a:prstGeom>
          <a:solidFill>
            <a:srgbClr val="000000">
              <a:alpha val="29804"/>
            </a:srgbClr>
          </a:soli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2"/>
          <p:cNvSpPr/>
          <p:nvPr/>
        </p:nvSpPr>
        <p:spPr>
          <a:xfrm>
            <a:off x="4127508" y="1971329"/>
            <a:ext cx="3597514" cy="732775"/>
          </a:xfrm>
          <a:prstGeom prst="round2SameRect">
            <a:avLst>
              <a:gd fmla="val 17490" name="adj1"/>
              <a:gd fmla="val 0" name="adj2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2"/>
          <p:cNvSpPr/>
          <p:nvPr/>
        </p:nvSpPr>
        <p:spPr>
          <a:xfrm>
            <a:off x="4297545" y="2182506"/>
            <a:ext cx="32774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 xml:space="preserve">Командные усилия</a:t>
            </a:r>
          </a:p>
        </p:txBody>
      </p:sp>
      <p:sp>
        <p:nvSpPr>
          <p:cNvPr id="698" name="Google Shape;698;p32"/>
          <p:cNvSpPr/>
          <p:nvPr/>
        </p:nvSpPr>
        <p:spPr>
          <a:xfrm>
            <a:off x="4297545" y="2841868"/>
            <a:ext cx="3277416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Вовлечение специалистов платформы данных</a:t>
            </a:r>
          </a:p>
        </p:txBody>
      </p:sp>
      <p:sp>
        <p:nvSpPr>
          <p:cNvPr id="699" name="Google Shape;699;p32"/>
          <p:cNvSpPr/>
          <p:nvPr/>
        </p:nvSpPr>
        <p:spPr>
          <a:xfrm>
            <a:off x="7827149" y="1971330"/>
            <a:ext cx="3597513" cy="3443958"/>
          </a:xfrm>
          <a:prstGeom prst="roundRect">
            <a:avLst>
              <a:gd fmla="val 5112" name="adj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2"/>
          <p:cNvSpPr/>
          <p:nvPr/>
        </p:nvSpPr>
        <p:spPr>
          <a:xfrm>
            <a:off x="7989513" y="2196653"/>
            <a:ext cx="34351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 xml:space="preserve">Финансирование</a:t>
            </a:r>
          </a:p>
        </p:txBody>
      </p:sp>
      <p:sp>
        <p:nvSpPr>
          <p:cNvPr id="701" name="Google Shape;701;p32"/>
          <p:cNvSpPr/>
          <p:nvPr/>
        </p:nvSpPr>
        <p:spPr>
          <a:xfrm>
            <a:off x="7989513" y="2841868"/>
            <a:ext cx="312949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Бюджет на увеличение затрат в 12 %</a:t>
            </a:r>
          </a:p>
        </p:txBody>
      </p:sp>
      <p:sp>
        <p:nvSpPr>
          <p:cNvPr id="702" name="Google Shape;702;p32"/>
          <p:cNvSpPr/>
          <p:nvPr/>
        </p:nvSpPr>
        <p:spPr>
          <a:xfrm>
            <a:off x="431328" y="1243208"/>
            <a:ext cx="9699808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Для реализации инициативы необходимы определённые ресурсы</a:t>
            </a:r>
          </a:p>
        </p:txBody>
      </p:sp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1800"/>
              <a:t xml:space="preserve">Для реализации инициативы необходимы вычислительные мощности, специалисты платформы данных и увеличение бюджета на 12 %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9" name="Google Shape;839;p4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План перевода 14 витрин до конца квартала</a:t>
            </a:r>
          </a:p>
        </p:txBody>
      </p:sp>
      <p:sp>
        <p:nvSpPr>
          <p:cNvPr id="840" name="Google Shape;840;p42"/>
          <p:cNvSpPr txBox="1"/>
          <p:nvPr/>
        </p:nvSpPr>
        <p:spPr>
          <a:xfrm>
            <a:off x="429253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Недели 1-2: анализ витрин</a:t>
            </a:r>
          </a:p>
        </p:txBody>
      </p:sp>
      <p:sp>
        <p:nvSpPr>
          <p:cNvPr id="841" name="Google Shape;841;p42"/>
          <p:cNvSpPr txBox="1"/>
          <p:nvPr/>
        </p:nvSpPr>
        <p:spPr>
          <a:xfrm>
            <a:off x="3319410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Недели 3-4: первая группа</a:t>
            </a:r>
          </a:p>
        </p:txBody>
      </p:sp>
      <p:sp>
        <p:nvSpPr>
          <p:cNvPr id="842" name="Google Shape;842;p42"/>
          <p:cNvSpPr txBox="1"/>
          <p:nvPr/>
        </p:nvSpPr>
        <p:spPr>
          <a:xfrm>
            <a:off x="6209568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Недели 5-6: вторая группа</a:t>
            </a:r>
          </a:p>
        </p:txBody>
      </p:sp>
      <p:sp>
        <p:nvSpPr>
          <p:cNvPr id="843" name="Google Shape;843;p42"/>
          <p:cNvSpPr txBox="1"/>
          <p:nvPr/>
        </p:nvSpPr>
        <p:spPr>
          <a:xfrm>
            <a:off x="9099725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1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Неделя 7: валидация и запуск</a:t>
            </a:r>
          </a:p>
        </p:txBody>
      </p:sp>
      <p:cxnSp>
        <p:nvCxnSpPr>
          <p:cNvPr id="844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45" name="Google Shape;845;p42"/>
          <p:cNvSpPr/>
          <p:nvPr/>
        </p:nvSpPr>
        <p:spPr>
          <a:xfrm>
            <a:off x="1678105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2"/>
          <p:cNvSpPr/>
          <p:nvPr/>
        </p:nvSpPr>
        <p:spPr>
          <a:xfrm>
            <a:off x="456696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2"/>
          <p:cNvSpPr/>
          <p:nvPr/>
        </p:nvSpPr>
        <p:spPr>
          <a:xfrm>
            <a:off x="7463910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2"/>
          <p:cNvSpPr/>
          <p:nvPr/>
        </p:nvSpPr>
        <p:spPr>
          <a:xfrm>
            <a:off x="1036895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4" name="Google Shape;874;p44"/>
          <p:cNvSpPr txBox="1"/>
          <p:nvPr>
            <p:ph type="title"/>
          </p:nvPr>
        </p:nvSpPr>
        <p:spPr>
          <a:xfrm>
            <a:off x="429253" y="2291422"/>
            <a:ext cx="484600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0"/>
              <a:buFont typeface="Play"/>
              <a:buNone/>
            </a:pPr>
            <a:r>
              <a:rPr b="1" lang="ru-RU" sz="3050"/>
              <a:t xml:space="preserve">Необходимо одобрение руководства для масштабирования решения о переводе витрин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ru-RU" sz="4100"/>
              <a:t xml:space="preserve">Спасибо за внимание: готовы ответить на вопросы по инициативе</a:t>
            </a:r>
          </a:p>
        </p:txBody>
      </p:sp>
      <p:sp>
        <p:nvSpPr>
          <p:cNvPr id="383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lang="ru-RU" sz="1600" u="none" cap="none" strike="noStrike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