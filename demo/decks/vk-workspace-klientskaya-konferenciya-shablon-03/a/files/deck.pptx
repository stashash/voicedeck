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с опозданием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99999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шт/мес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Приветствие и представление инициативы по изменению архитектуры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Обзор структуры презентации и ключевых тем для обсуждения.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Подчёркивание проблем текущего подхода к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Демонстрация ключевого преимущества новой архитектуры.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Визуализация улучшения надёжности отчётного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Подчёркивание эффективности пилотной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Анализ финансовой составляющей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Детализация процесса масштабирования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Прямое сопоставление преимуществ нового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Формулировка ключевых преимуществ для бизнеса.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Честное представление потенциальных проблем и их решений.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Определение необходимых ресурсов для успешной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Представление временного плана реализации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Призыв к принятию решения о переводе остальных 14 витрин.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Завершение презентации и приглашение к обсуждению.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3050"/>
              <a:t xml:space="preserve">Команда платформы данных инициировала перевод ночных отчётов на потоковую загрузку для оптимизации отчётности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2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 xml:space="preserve">Инициатива команды платформы данных по оптимизации отчётности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План обсуждения ключевых аспектов перехода на потоковую загрузку</a:t>
            </a:r>
          </a:p>
        </p:txBody>
      </p:sp>
      <p:sp>
        <p:nvSpPr>
          <p:cNvPr id="487" name="Google Shape;487;p24"/>
          <p:cNvSpPr/>
          <p:nvPr/>
        </p:nvSpPr>
        <p:spPr>
          <a:xfrm rot="-600">
            <a:off x="437086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Текущее состояние отчётности</a:t>
            </a:r>
          </a:p>
        </p:txBody>
      </p:sp>
      <p:sp>
        <p:nvSpPr>
          <p:cNvPr id="488" name="Google Shape;488;p24"/>
          <p:cNvSpPr/>
          <p:nvPr/>
        </p:nvSpPr>
        <p:spPr>
          <a:xfrm>
            <a:off x="437041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489" name="Google Shape;489;p24"/>
          <p:cNvSpPr/>
          <p:nvPr/>
        </p:nvSpPr>
        <p:spPr>
          <a:xfrm rot="-600">
            <a:off x="437111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Анализ существующих процессов и ограничений.</a:t>
            </a:r>
          </a:p>
        </p:txBody>
      </p:sp>
      <p:sp>
        <p:nvSpPr>
          <p:cNvPr id="490" name="Google Shape;490;p24"/>
          <p:cNvSpPr/>
          <p:nvPr/>
        </p:nvSpPr>
        <p:spPr>
          <a:xfrm rot="-600">
            <a:off x="4370119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пилотного проекта</a:t>
            </a:r>
          </a:p>
        </p:txBody>
      </p:sp>
      <p:sp>
        <p:nvSpPr>
          <p:cNvPr id="491" name="Google Shape;491;p24"/>
          <p:cNvSpPr/>
          <p:nvPr/>
        </p:nvSpPr>
        <p:spPr>
          <a:xfrm>
            <a:off x="4370074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492" name="Google Shape;492;p24"/>
          <p:cNvSpPr/>
          <p:nvPr/>
        </p:nvSpPr>
        <p:spPr>
          <a:xfrm rot="-600">
            <a:off x="4370144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Показатели эффективности на двух витринах.</a:t>
            </a:r>
          </a:p>
        </p:txBody>
      </p:sp>
      <p:sp>
        <p:nvSpPr>
          <p:cNvPr id="493" name="Google Shape;493;p24"/>
          <p:cNvSpPr/>
          <p:nvPr/>
        </p:nvSpPr>
        <p:spPr>
          <a:xfrm rot="-600">
            <a:off x="437086" y="457147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Решение руководства</a:t>
            </a:r>
          </a:p>
        </p:txBody>
      </p:sp>
      <p:sp>
        <p:nvSpPr>
          <p:cNvPr id="494" name="Google Shape;494;p24"/>
          <p:cNvSpPr/>
          <p:nvPr/>
        </p:nvSpPr>
        <p:spPr>
          <a:xfrm>
            <a:off x="437041" y="368014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4</a:t>
            </a:r>
          </a:p>
        </p:txBody>
      </p:sp>
      <p:sp>
        <p:nvSpPr>
          <p:cNvPr id="495" name="Google Shape;495;p24"/>
          <p:cNvSpPr/>
          <p:nvPr/>
        </p:nvSpPr>
        <p:spPr>
          <a:xfrm rot="-600">
            <a:off x="437111" y="497171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Определение сроков и ресурсов для реализации.</a:t>
            </a:r>
          </a:p>
        </p:txBody>
      </p:sp>
      <p:sp>
        <p:nvSpPr>
          <p:cNvPr id="499" name="Google Shape;499;p24"/>
          <p:cNvSpPr/>
          <p:nvPr/>
        </p:nvSpPr>
        <p:spPr>
          <a:xfrm rot="-600">
            <a:off x="8303152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План масштабирования</a:t>
            </a:r>
          </a:p>
        </p:txBody>
      </p:sp>
      <p:sp>
        <p:nvSpPr>
          <p:cNvPr id="500" name="Google Shape;500;p24"/>
          <p:cNvSpPr/>
          <p:nvPr/>
        </p:nvSpPr>
        <p:spPr>
          <a:xfrm>
            <a:off x="8303107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501" name="Google Shape;501;p24"/>
          <p:cNvSpPr/>
          <p:nvPr/>
        </p:nvSpPr>
        <p:spPr>
          <a:xfrm rot="-600">
            <a:off x="8303177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Стратегия перевода остальных 14 витрин.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Существующий подход к отчётности создаёт задержки в доступе к данным</a:t>
            </a:r>
          </a:p>
        </p:txBody>
      </p:sp>
      <p:sp>
        <p:nvSpPr>
          <p:cNvPr id="460" name="Google Shape;460;p22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Ограниченная гибкость</a:t>
            </a:r>
          </a:p>
        </p:txBody>
      </p:sp>
      <p:sp>
        <p:nvSpPr>
          <p:cNvPr id="461" name="Google Shape;461;p22"/>
          <p:cNvSpPr/>
          <p:nvPr/>
        </p:nvSpPr>
        <p:spPr>
          <a:xfrm>
            <a:off x="4072584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Риск опозданий</a:t>
            </a:r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Поздняя готовность отчётов</a:t>
            </a:r>
          </a:p>
        </p:txBody>
      </p:sp>
      <p:sp>
        <p:nvSpPr>
          <p:cNvPr id="463" name="Google Shape;463;p22"/>
          <p:cNvSpPr txBox="1"/>
          <p:nvPr/>
        </p:nvSpPr>
        <p:spPr>
          <a:xfrm>
            <a:off x="5966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Отчёт по продажам доступен только к 11 утра</a:t>
            </a:r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4256098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9 инцидентов с задержкой отчёта в месяц</a:t>
            </a:r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097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2"/>
          <p:cNvSpPr txBox="1"/>
          <p:nvPr/>
        </p:nvSpPr>
        <p:spPr>
          <a:xfrm>
            <a:off x="79118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 не позволяет оперативно</a:t>
            </a:r>
          </a:p>
        </p:txBody>
      </p:sp>
      <p:pic>
        <p:nvPicPr>
          <p:cNvPr id="468" name="Google Shape;4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18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Переход на потоковую загрузку ускоряет доступ к данным, обеспечивая раннюю готовность отчётов к 8:30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Снижение числа инцидентов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повышает надёжность отчётности</a:t>
            </a:r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427939" y="1887449"/>
          <a:ext cx="10003661" cy="430875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Переход на потоковую загрузку реализуем в короткие сроки: всего 6 недель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58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6 недель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Рост затрат на инфраструктуру компенсируется повышением надёжности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Увеличение расходов компенсируется повышением надёжности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1800"/>
              <a:t xml:space="preserve">Пошаговый план перевода остальных витрин на потоковую загрузку включает анализ готовности, настройку инфраструктуры, поэтапное перемещение и финальную валидацию системы</a:t>
            </a:r>
          </a:p>
        </p:txBody>
      </p:sp>
      <p:sp>
        <p:nvSpPr>
          <p:cNvPr id="840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Анализ оставшихся витрин</a:t>
            </a:r>
          </a:p>
        </p:txBody>
      </p:sp>
      <p:sp>
        <p:nvSpPr>
          <p:cNvPr id="841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Подготовка инфраструктуры</a:t>
            </a:r>
          </a:p>
        </p:txBody>
      </p:sp>
      <p:sp>
        <p:nvSpPr>
          <p:cNvPr id="842" name="Google Shape;842;p42"/>
          <p:cNvSpPr txBox="1"/>
          <p:nvPr/>
        </p:nvSpPr>
        <p:spPr>
          <a:xfrm>
            <a:off x="6209568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Постепенный перевод витрин</a:t>
            </a:r>
          </a:p>
        </p:txBody>
      </p:sp>
      <p:sp>
        <p:nvSpPr>
          <p:cNvPr id="843" name="Google Shape;843;p42"/>
          <p:cNvSpPr txBox="1"/>
          <p:nvPr/>
        </p:nvSpPr>
        <p:spPr>
          <a:xfrm>
            <a:off x="9099725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Финальная валидация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превосходит пакетную по ключевым метрикам</a:t>
            </a:r>
          </a:p>
        </p:txBody>
      </p:sp>
      <p:sp>
        <p:nvSpPr>
          <p:cNvPr id="461" name="Google Shape;461;p22"/>
          <p:cNvSpPr/>
          <p:nvPr/>
        </p:nvSpPr>
        <p:spPr>
          <a:xfrm>
            <a:off x="5901033" y="1666499"/>
            <a:ext cx="5248449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</a:t>
            </a:r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5248449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</a:t>
            </a:r>
          </a:p>
        </p:txBody>
      </p:sp>
      <p:sp>
        <p:nvSpPr>
          <p:cNvPr id="463" name="Google Shape;463;p22"/>
          <p:cNvSpPr txBox="1"/>
          <p:nvPr/>
        </p:nvSpPr>
        <p:spPr>
          <a:xfrm>
            <a:off x="693413" y="3258988"/>
            <a:ext cx="4691597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Отчёт к 11:00, 9 инцидентов в месяц</a:t>
            </a:r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11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6182659" y="3258988"/>
            <a:ext cx="4691597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Отчёт к 8:30, 2 инцидента в месяц</a:t>
            </a:r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2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6" name="Google Shape;756;p38"/>
          <p:cNvSpPr txBox="1"/>
          <p:nvPr/>
        </p:nvSpPr>
        <p:spPr>
          <a:xfrm>
            <a:off x="6559297" y="976912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Ранний доступ к данным: все отчёты будут готовы к 8:30</a:t>
            </a:r>
          </a:p>
        </p:txBody>
      </p:sp>
      <p:sp>
        <p:nvSpPr>
          <p:cNvPr id="757" name="Google Shape;757;p38"/>
          <p:cNvSpPr/>
          <p:nvPr/>
        </p:nvSpPr>
        <p:spPr>
          <a:xfrm>
            <a:off x="5759521" y="976749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8"/>
          <p:cNvSpPr txBox="1"/>
          <p:nvPr/>
        </p:nvSpPr>
        <p:spPr>
          <a:xfrm>
            <a:off x="6559297" y="235719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Повышение надёжности: снижение числа инцидентов до 2 в месяц</a:t>
            </a:r>
          </a:p>
        </p:txBody>
      </p:sp>
      <p:sp>
        <p:nvSpPr>
          <p:cNvPr id="759" name="Google Shape;759;p38"/>
          <p:cNvSpPr/>
          <p:nvPr/>
        </p:nvSpPr>
        <p:spPr>
          <a:xfrm>
            <a:off x="5759521" y="235702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8"/>
          <p:cNvSpPr txBox="1"/>
          <p:nvPr/>
        </p:nvSpPr>
        <p:spPr>
          <a:xfrm>
            <a:off x="6559297" y="373747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Операционная эффективность: улучшение процессов принятия решений</a:t>
            </a:r>
          </a:p>
        </p:txBody>
      </p:sp>
      <p:sp>
        <p:nvSpPr>
          <p:cNvPr id="761" name="Google Shape;761;p38"/>
          <p:cNvSpPr/>
          <p:nvPr/>
        </p:nvSpPr>
        <p:spPr>
          <a:xfrm>
            <a:off x="5759521" y="373730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115676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536" y="25357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9536" y="391272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8"/>
          <p:cNvSpPr txBox="1"/>
          <p:nvPr>
            <p:ph type="title"/>
          </p:nvPr>
        </p:nvSpPr>
        <p:spPr>
          <a:xfrm>
            <a:off x="429253" y="2327310"/>
            <a:ext cx="449922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Перевод всех витрин обеспечит системные улучшения</a:t>
            </a:r>
          </a:p>
        </p:txBody>
      </p:sp>
      <p:sp>
        <p:nvSpPr>
          <p:cNvPr id="769" name="Google Shape;769;p38"/>
          <p:cNvSpPr/>
          <p:nvPr/>
        </p:nvSpPr>
        <p:spPr>
          <a:xfrm>
            <a:off x="431328" y="3528845"/>
            <a:ext cx="44971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Масштабирование гарантирует ранний доступ к данным, повышение надёжности и операционную эффективность.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1" name="Google Shape;691;p32"/>
          <p:cNvSpPr/>
          <p:nvPr/>
        </p:nvSpPr>
        <p:spPr>
          <a:xfrm>
            <a:off x="427866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427866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597903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Рост затрат</a:t>
            </a:r>
          </a:p>
        </p:txBody>
      </p:sp>
      <p:sp>
        <p:nvSpPr>
          <p:cNvPr id="694" name="Google Shape;694;p32"/>
          <p:cNvSpPr/>
          <p:nvPr/>
        </p:nvSpPr>
        <p:spPr>
          <a:xfrm>
            <a:off x="597903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Увеличение расходов на инфраструктуру на 12 %</a:t>
            </a:r>
          </a:p>
        </p:txBody>
      </p:sp>
      <p:sp>
        <p:nvSpPr>
          <p:cNvPr id="695" name="Google Shape;695;p32"/>
          <p:cNvSpPr/>
          <p:nvPr/>
        </p:nvSpPr>
        <p:spPr>
          <a:xfrm>
            <a:off x="4127508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4127508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4297545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Сложность миграции</a:t>
            </a:r>
          </a:p>
        </p:txBody>
      </p:sp>
      <p:sp>
        <p:nvSpPr>
          <p:cNvPr id="698" name="Google Shape;698;p32"/>
          <p:cNvSpPr/>
          <p:nvPr/>
        </p:nvSpPr>
        <p:spPr>
          <a:xfrm>
            <a:off x="4297545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Необходимость настройки потоковых компонентов</a:t>
            </a:r>
          </a:p>
        </p:txBody>
      </p:sp>
      <p:sp>
        <p:nvSpPr>
          <p:cNvPr id="699" name="Google Shape;699;p32"/>
          <p:cNvSpPr/>
          <p:nvPr/>
        </p:nvSpPr>
        <p:spPr>
          <a:xfrm>
            <a:off x="7827149" y="1971330"/>
            <a:ext cx="3597513" cy="3443958"/>
          </a:xfrm>
          <a:prstGeom prst="roundRect">
            <a:avLst>
              <a:gd fmla="val 5112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7989513" y="2196653"/>
            <a:ext cx="34351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Временные задержки</a:t>
            </a:r>
          </a:p>
        </p:txBody>
      </p:sp>
      <p:sp>
        <p:nvSpPr>
          <p:cNvPr id="701" name="Google Shape;701;p32"/>
          <p:cNvSpPr/>
          <p:nvPr/>
        </p:nvSpPr>
        <p:spPr>
          <a:xfrm>
            <a:off x="7989513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Возможные простои при переводе витрин</a:t>
            </a:r>
          </a:p>
        </p:txBody>
      </p:sp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Определены ключевые угрозы и методы их снижения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Идентифицированы основные риски и способы их минимизации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6" name="Google Shape;756;p38"/>
          <p:cNvSpPr txBox="1"/>
          <p:nvPr/>
        </p:nvSpPr>
        <p:spPr>
          <a:xfrm>
            <a:off x="6559297" y="976912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Расширение вычислительных ресурсов</a:t>
            </a:r>
          </a:p>
        </p:txBody>
      </p:sp>
      <p:sp>
        <p:nvSpPr>
          <p:cNvPr id="757" name="Google Shape;757;p38"/>
          <p:cNvSpPr/>
          <p:nvPr/>
        </p:nvSpPr>
        <p:spPr>
          <a:xfrm>
            <a:off x="5759521" y="976749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8"/>
          <p:cNvSpPr txBox="1"/>
          <p:nvPr/>
        </p:nvSpPr>
        <p:spPr>
          <a:xfrm>
            <a:off x="6559297" y="235719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Вовлечение специалистов платформы данных</a:t>
            </a:r>
          </a:p>
        </p:txBody>
      </p:sp>
      <p:sp>
        <p:nvSpPr>
          <p:cNvPr id="759" name="Google Shape;759;p38"/>
          <p:cNvSpPr/>
          <p:nvPr/>
        </p:nvSpPr>
        <p:spPr>
          <a:xfrm>
            <a:off x="5759521" y="235702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8"/>
          <p:cNvSpPr txBox="1"/>
          <p:nvPr/>
        </p:nvSpPr>
        <p:spPr>
          <a:xfrm>
            <a:off x="6559297" y="373747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Бюджет на увеличение затрат в 12 %</a:t>
            </a:r>
          </a:p>
        </p:txBody>
      </p:sp>
      <p:sp>
        <p:nvSpPr>
          <p:cNvPr id="761" name="Google Shape;761;p38"/>
          <p:cNvSpPr/>
          <p:nvPr/>
        </p:nvSpPr>
        <p:spPr>
          <a:xfrm>
            <a:off x="5759521" y="373730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115676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536" y="25357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9536" y="391272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8"/>
          <p:cNvSpPr txBox="1"/>
          <p:nvPr>
            <p:ph type="title"/>
          </p:nvPr>
        </p:nvSpPr>
        <p:spPr>
          <a:xfrm>
            <a:off x="429253" y="2327310"/>
            <a:ext cx="449922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1800"/>
              <a:t xml:space="preserve">Для реализации инициативы необходимы вычислительные мощности, специалисты и бюджет на 12 %</a:t>
            </a:r>
          </a:p>
        </p:txBody>
      </p:sp>
      <p:sp>
        <p:nvSpPr>
          <p:cNvPr id="769" name="Google Shape;769;p38"/>
          <p:cNvSpPr/>
          <p:nvPr/>
        </p:nvSpPr>
        <p:spPr>
          <a:xfrm>
            <a:off x="431328" y="3528845"/>
            <a:ext cx="44971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Для реализации инициативы необходимы определённые ресурсы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Чёткий график перевода остальных 14 витрин до конца квартала</a:t>
            </a:r>
          </a:p>
        </p:txBody>
      </p:sp>
      <p:sp>
        <p:nvSpPr>
          <p:cNvPr id="840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Недели 1-2: анализ витрин</a:t>
            </a:r>
          </a:p>
        </p:txBody>
      </p:sp>
      <p:sp>
        <p:nvSpPr>
          <p:cNvPr id="841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Недели 3-4: первая группа</a:t>
            </a:r>
          </a:p>
        </p:txBody>
      </p:sp>
      <p:sp>
        <p:nvSpPr>
          <p:cNvPr id="842" name="Google Shape;842;p42"/>
          <p:cNvSpPr txBox="1"/>
          <p:nvPr/>
        </p:nvSpPr>
        <p:spPr>
          <a:xfrm>
            <a:off x="6209568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Недели 5-6: вторая группа</a:t>
            </a:r>
          </a:p>
        </p:txBody>
      </p:sp>
      <p:sp>
        <p:nvSpPr>
          <p:cNvPr id="843" name="Google Shape;843;p42"/>
          <p:cNvSpPr txBox="1"/>
          <p:nvPr/>
        </p:nvSpPr>
        <p:spPr>
          <a:xfrm>
            <a:off x="9099725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Неделя 7: финальный запуск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3050"/>
              <a:t xml:space="preserve">Для масштабирования решения о переводе витрин требуется одобрение руководства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4100"/>
              <a:t xml:space="preserve">Спасибо за внимание: готовы ответить на вопросы по инициативе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lang="ru-RU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