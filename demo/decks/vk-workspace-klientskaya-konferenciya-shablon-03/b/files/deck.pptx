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999999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Здравствуйте, коллеги. Сегодня я представляю инициативу по модернизации нашей системы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рассмотрим текущие проблемы, успехи пилотного проекта и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Текущий процесс создает задержку, которая мешает быстрым управленческим решениям.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 к результатам нашего пилотного проекта, который подтвердил эффективность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Ключевая выгода: данные становятся доступны значительно раньше, что дает больше времени на анализ.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наглядно демонстрирует рост стабильности системы и снижение рисков срыва сроков.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Стоимость перехода оправдана полученными операционными преимуществами.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Скорость реализации пилота показывает, что масштабирование возможно в сжатые сроки.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обсудим, как мы планируем распространить успех пилота на всю платформу.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имеем четкий план и сроки для завершения миграции всех витрин.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Прямое сравнение показывает превосходство новой модели по ключевым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дает сжатую картину всех изменений, произошедших в ходе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инициативы зависит от вашего решения о выделении ресурсов на масштабирование.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Прошу вас поддержать инициативу и утвердить план масштабирования.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Отвечу на любые вопросы по деталям инициативы.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4500"/>
              <a:t xml:space="preserve">Переход на потоковую отчётность: инициатива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Предложение перевести ночные отчёты с пакетной загрузки на потоковую для ускорения доступности данных.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Обсудим текущее состояние, результаты пилота и план масштабирования</a:t>
            </a:r>
          </a:p>
        </p:txBody>
      </p:sp>
      <p:sp>
        <p:nvSpPr>
          <p:cNvPr id="460" name="Google Shape;460;p22"/>
          <p:cNvSpPr/>
          <p:nvPr/>
        </p:nvSpPr>
        <p:spPr>
          <a:xfrm>
            <a:off x="7729481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2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 — перевод оставшихся 14 витрин до конца квартала</a:t>
            </a:r>
          </a:p>
        </p:txBody>
      </p:sp>
      <p:sp>
        <p:nvSpPr>
          <p:cNvPr id="461" name="Google Shape;461;p22"/>
          <p:cNvSpPr/>
          <p:nvPr/>
        </p:nvSpPr>
        <p:spPr>
          <a:xfrm>
            <a:off x="4072584" y="1666499"/>
            <a:ext cx="3420000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 — показатели эффективности на двух витринах</a:t>
            </a:r>
          </a:p>
        </p:txBody>
      </p:sp>
      <p:sp>
        <p:nvSpPr>
          <p:cNvPr id="462" name="Google Shape;462;p22"/>
          <p:cNvSpPr/>
          <p:nvPr/>
        </p:nvSpPr>
        <p:spPr>
          <a:xfrm>
            <a:off x="415687" y="1666499"/>
            <a:ext cx="3420000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Текущая ситуация — как работают отчёты сейчас и их ограничения</a:t>
            </a:r>
          </a:p>
        </p:txBody>
      </p:sp>
      <p:sp>
        <p:nvSpPr>
          <p:cNvPr id="463" name="Google Shape;463;p22"/>
          <p:cNvSpPr txBox="1"/>
          <p:nvPr/>
        </p:nvSpPr>
        <p:spPr>
          <a:xfrm>
            <a:off x="596659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Ограничения текущих отчётов</a:t>
            </a:r>
          </a:p>
        </p:txBody>
      </p:sp>
      <p:pic>
        <p:nvPicPr>
          <p:cNvPr id="464" name="Google Shape;46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66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2"/>
          <p:cNvSpPr txBox="1"/>
          <p:nvPr/>
        </p:nvSpPr>
        <p:spPr>
          <a:xfrm>
            <a:off x="4256098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Эффективность на двух витринах</a:t>
            </a:r>
          </a:p>
        </p:txBody>
      </p:sp>
      <p:pic>
        <p:nvPicPr>
          <p:cNvPr id="466" name="Google Shape;46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6097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22"/>
          <p:cNvSpPr txBox="1"/>
          <p:nvPr/>
        </p:nvSpPr>
        <p:spPr>
          <a:xfrm>
            <a:off x="7911859" y="3258988"/>
            <a:ext cx="3057144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14 витрин до конца квартала</a:t>
            </a:r>
          </a:p>
        </p:txBody>
      </p:sp>
      <p:pic>
        <p:nvPicPr>
          <p:cNvPr id="468" name="Google Shape;46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118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91" name="Google Shape;691;p32"/>
          <p:cNvSpPr/>
          <p:nvPr/>
        </p:nvSpPr>
        <p:spPr>
          <a:xfrm>
            <a:off x="427866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2"/>
          <p:cNvSpPr/>
          <p:nvPr/>
        </p:nvSpPr>
        <p:spPr>
          <a:xfrm>
            <a:off x="427866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32"/>
          <p:cNvSpPr/>
          <p:nvPr/>
        </p:nvSpPr>
        <p:spPr>
          <a:xfrm>
            <a:off x="597903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</a:t>
            </a:r>
          </a:p>
        </p:txBody>
      </p:sp>
      <p:sp>
        <p:nvSpPr>
          <p:cNvPr id="694" name="Google Shape;694;p32"/>
          <p:cNvSpPr/>
          <p:nvPr/>
        </p:nvSpPr>
        <p:spPr>
          <a:xfrm>
            <a:off x="597903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Данные обрабатываются ночными батчами.</a:t>
            </a:r>
          </a:p>
        </p:txBody>
      </p:sp>
      <p:sp>
        <p:nvSpPr>
          <p:cNvPr id="695" name="Google Shape;695;p32"/>
          <p:cNvSpPr/>
          <p:nvPr/>
        </p:nvSpPr>
        <p:spPr>
          <a:xfrm>
            <a:off x="4127508" y="1971330"/>
            <a:ext cx="3597514" cy="3443958"/>
          </a:xfrm>
          <a:prstGeom prst="roundRect">
            <a:avLst>
              <a:gd fmla="val 5112" name="adj"/>
            </a:avLst>
          </a:prstGeom>
          <a:solidFill>
            <a:srgbClr val="000000">
              <a:alpha val="29804"/>
            </a:srgbClr>
          </a:soli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32"/>
          <p:cNvSpPr/>
          <p:nvPr/>
        </p:nvSpPr>
        <p:spPr>
          <a:xfrm>
            <a:off x="4127508" y="1971329"/>
            <a:ext cx="3597514" cy="732775"/>
          </a:xfrm>
          <a:prstGeom prst="round2SameRect">
            <a:avLst>
              <a:gd fmla="val 17490" name="adj1"/>
              <a:gd fmla="val 0" name="adj2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32"/>
          <p:cNvSpPr/>
          <p:nvPr/>
        </p:nvSpPr>
        <p:spPr>
          <a:xfrm>
            <a:off x="4297545" y="2182506"/>
            <a:ext cx="327741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</a:t>
            </a:r>
          </a:p>
        </p:txBody>
      </p:sp>
      <p:sp>
        <p:nvSpPr>
          <p:cNvPr id="698" name="Google Shape;698;p32"/>
          <p:cNvSpPr/>
          <p:nvPr/>
        </p:nvSpPr>
        <p:spPr>
          <a:xfrm>
            <a:off x="4297545" y="2841868"/>
            <a:ext cx="3277416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70C3FF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готов к 11:00.</a:t>
            </a:r>
          </a:p>
        </p:txBody>
      </p:sp>
      <p:sp>
        <p:nvSpPr>
          <p:cNvPr id="699" name="Google Shape;699;p32"/>
          <p:cNvSpPr/>
          <p:nvPr/>
        </p:nvSpPr>
        <p:spPr>
          <a:xfrm>
            <a:off x="7827149" y="1971330"/>
            <a:ext cx="3597513" cy="3443958"/>
          </a:xfrm>
          <a:prstGeom prst="roundRect">
            <a:avLst>
              <a:gd fmla="val 5112" name="adj"/>
            </a:avLst>
          </a:prstGeom>
          <a:gradFill>
            <a:gsLst>
              <a:gs pos="0">
                <a:srgbClr val="00AEE8"/>
              </a:gs>
              <a:gs pos="100000">
                <a:srgbClr val="0077FF"/>
              </a:gs>
            </a:gsLst>
            <a:lin ang="2700000" scaled="0"/>
          </a:gradFill>
          <a:ln cap="flat" cmpd="sng" w="9525">
            <a:solidFill>
              <a:srgbClr val="70C3F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32"/>
          <p:cNvSpPr/>
          <p:nvPr/>
        </p:nvSpPr>
        <p:spPr>
          <a:xfrm>
            <a:off x="7989513" y="2196653"/>
            <a:ext cx="343515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212121"/>
                </a:solidFill>
                <a:latin typeface="Play"/>
                <a:ea typeface="Play"/>
                <a:cs typeface="Play"/>
                <a:sym typeface="Play"/>
              </a:rPr>
              <a:t xml:space="preserve">Оперативность решений</a:t>
            </a:r>
          </a:p>
        </p:txBody>
      </p:sp>
      <p:sp>
        <p:nvSpPr>
          <p:cNvPr id="701" name="Google Shape;701;p32"/>
          <p:cNvSpPr/>
          <p:nvPr/>
        </p:nvSpPr>
        <p:spPr>
          <a:xfrm>
            <a:off x="7989513" y="2841868"/>
            <a:ext cx="3129499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36800" lvl="2" marL="1368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•"/>
            </a:pPr>
            <a:r>
              <a:rPr b="0" i="0" lang="ru-RU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Директора ждут данные до полудня.</a:t>
            </a:r>
          </a:p>
        </p:txBody>
      </p:sp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только к 11 утра из-за пакетной загрузки.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Задержка отчётов до 11:00 из-за ночных батчей снижает оперативность решений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050"/>
              <a:t xml:space="preserve">Пилот на двух витринах показал значительное улучшение метрик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Отчеты готовы на 2.5 часа раньше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Отчет по продажам доступен к 8:30 утра.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Время готовности отчета сократилось с 11:00 до 8:30.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отчета снизилось с 9 до 2 в месяц</a:t>
            </a:r>
          </a:p>
        </p:txBody>
      </p:sp>
      <p:graphicFrame>
        <p:nvGraphicFramePr>
          <p:cNvPr id="452" name="Chart 451"/>
          <p:cNvGraphicFramePr>
            <a:graphicFrameLocks noGrp="1"/>
          </p:cNvGraphicFramePr>
          <p:nvPr/>
        </p:nvGraphicFramePr>
        <p:xfrm>
          <a:off x="4739951" y="1188720"/>
          <a:ext cx="7022891" cy="500748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6" name="Google Shape;756;p38"/>
          <p:cNvSpPr txBox="1"/>
          <p:nvPr/>
        </p:nvSpPr>
        <p:spPr>
          <a:xfrm>
            <a:off x="6559297" y="976912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Инфраструктурные расходы увеличились на 12%</a:t>
            </a:r>
          </a:p>
        </p:txBody>
      </p:sp>
      <p:sp>
        <p:nvSpPr>
          <p:cNvPr id="757" name="Google Shape;757;p38"/>
          <p:cNvSpPr/>
          <p:nvPr/>
        </p:nvSpPr>
        <p:spPr>
          <a:xfrm>
            <a:off x="5759521" y="976749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8"/>
          <p:cNvSpPr txBox="1"/>
          <p:nvPr/>
        </p:nvSpPr>
        <p:spPr>
          <a:xfrm>
            <a:off x="6559297" y="235719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Взамен получено ускорение и стабильность</a:t>
            </a:r>
          </a:p>
        </p:txBody>
      </p:sp>
      <p:sp>
        <p:nvSpPr>
          <p:cNvPr id="759" name="Google Shape;759;p38"/>
          <p:cNvSpPr/>
          <p:nvPr/>
        </p:nvSpPr>
        <p:spPr>
          <a:xfrm>
            <a:off x="5759521" y="235702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6559297" y="373747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Затраты находятся в управляемых пределах</a:t>
            </a:r>
          </a:p>
        </p:txBody>
      </p:sp>
      <p:sp>
        <p:nvSpPr>
          <p:cNvPr id="761" name="Google Shape;761;p38"/>
          <p:cNvSpPr/>
          <p:nvPr/>
        </p:nvSpPr>
        <p:spPr>
          <a:xfrm>
            <a:off x="5759521" y="373730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1156764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5" name="Google Shape;765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253578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39536" y="3912727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38"/>
          <p:cNvSpPr txBox="1"/>
          <p:nvPr>
            <p:ph type="title"/>
          </p:nvPr>
        </p:nvSpPr>
        <p:spPr>
          <a:xfrm>
            <a:off x="429253" y="2327310"/>
            <a:ext cx="449922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Затраты на инфраструктуру выросли умеренно</a:t>
            </a:r>
          </a:p>
        </p:txBody>
      </p:sp>
      <p:sp>
        <p:nvSpPr>
          <p:cNvPr id="769" name="Google Shape;769;p38"/>
          <p:cNvSpPr/>
          <p:nvPr/>
        </p:nvSpPr>
        <p:spPr>
          <a:xfrm>
            <a:off x="431328" y="3528845"/>
            <a:ext cx="44971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 на инфраструктуру составил 12% в рамках пилота.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Время реализации пилотного проекта составило 6 недель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58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Срок пилота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Работы на двух витринах заняли 6 недель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300"/>
              <a:t xml:space="preserve">План перевода остальных витрин на потоковую отчётность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Google Shape;486;p2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План перевода 14 витрин до конца квартала</a:t>
            </a:r>
          </a:p>
        </p:txBody>
      </p:sp>
      <p:sp>
        <p:nvSpPr>
          <p:cNvPr id="487" name="Google Shape;487;p24"/>
          <p:cNvSpPr/>
          <p:nvPr/>
        </p:nvSpPr>
        <p:spPr>
          <a:xfrm rot="-600">
            <a:off x="437086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Остаток работ</a:t>
            </a:r>
          </a:p>
        </p:txBody>
      </p:sp>
      <p:sp>
        <p:nvSpPr>
          <p:cNvPr id="488" name="Google Shape;488;p24"/>
          <p:cNvSpPr/>
          <p:nvPr/>
        </p:nvSpPr>
        <p:spPr>
          <a:xfrm>
            <a:off x="437041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489" name="Google Shape;489;p24"/>
          <p:cNvSpPr/>
          <p:nvPr/>
        </p:nvSpPr>
        <p:spPr>
          <a:xfrm rot="-600">
            <a:off x="437111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К переводу остаются 14 витрин.</a:t>
            </a:r>
          </a:p>
        </p:txBody>
      </p:sp>
      <p:sp>
        <p:nvSpPr>
          <p:cNvPr id="490" name="Google Shape;490;p24"/>
          <p:cNvSpPr/>
          <p:nvPr/>
        </p:nvSpPr>
        <p:spPr>
          <a:xfrm rot="-600">
            <a:off x="4370119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Срок выполнения</a:t>
            </a:r>
          </a:p>
        </p:txBody>
      </p:sp>
      <p:sp>
        <p:nvSpPr>
          <p:cNvPr id="491" name="Google Shape;491;p24"/>
          <p:cNvSpPr/>
          <p:nvPr/>
        </p:nvSpPr>
        <p:spPr>
          <a:xfrm>
            <a:off x="4370074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492" name="Google Shape;492;p24"/>
          <p:cNvSpPr/>
          <p:nvPr/>
        </p:nvSpPr>
        <p:spPr>
          <a:xfrm rot="-600">
            <a:off x="4370144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Цель — завершить до конца квартала.</a:t>
            </a:r>
          </a:p>
        </p:txBody>
      </p:sp>
      <p:sp>
        <p:nvSpPr>
          <p:cNvPr id="499" name="Google Shape;499;p24"/>
          <p:cNvSpPr/>
          <p:nvPr/>
        </p:nvSpPr>
        <p:spPr>
          <a:xfrm rot="-600">
            <a:off x="8303152" y="2483590"/>
            <a:ext cx="3437052" cy="5060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2000"/>
              <a:buFont typeface="Play"/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Ресурсы</a:t>
            </a:r>
          </a:p>
        </p:txBody>
      </p:sp>
      <p:sp>
        <p:nvSpPr>
          <p:cNvPr id="500" name="Google Shape;500;p24"/>
          <p:cNvSpPr/>
          <p:nvPr/>
        </p:nvSpPr>
        <p:spPr>
          <a:xfrm>
            <a:off x="8303107" y="1592263"/>
            <a:ext cx="676173" cy="676089"/>
          </a:xfrm>
          <a:prstGeom prst="roundRect">
            <a:avLst>
              <a:gd fmla="val 2358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501" name="Google Shape;501;p24"/>
          <p:cNvSpPr/>
          <p:nvPr/>
        </p:nvSpPr>
        <p:spPr>
          <a:xfrm rot="-600">
            <a:off x="8303177" y="2883834"/>
            <a:ext cx="3437052" cy="8019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E7EA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4E7EA"/>
                </a:solidFill>
                <a:latin typeface="Play"/>
                <a:ea typeface="Play"/>
                <a:cs typeface="Play"/>
                <a:sym typeface="Play"/>
              </a:rPr>
              <a:t xml:space="preserve">Использование опыта и инфраструктуры пилота.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Потоковая модель обеспечивает более раннюю готовность и меньшее число сбоев</a:t>
            </a:r>
          </a:p>
        </p:txBody>
      </p:sp>
      <p:sp>
        <p:nvSpPr>
          <p:cNvPr id="461" name="Google Shape;461;p22"/>
          <p:cNvSpPr/>
          <p:nvPr/>
        </p:nvSpPr>
        <p:spPr>
          <a:xfrm>
            <a:off x="5901033" y="1666499"/>
            <a:ext cx="5248449" cy="3525002"/>
          </a:xfrm>
          <a:prstGeom prst="roundRect">
            <a:avLst>
              <a:gd fmla="val 4027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Потоковая загрузка</a:t>
            </a:r>
          </a:p>
        </p:txBody>
      </p:sp>
      <p:sp>
        <p:nvSpPr>
          <p:cNvPr id="462" name="Google Shape;462;p22"/>
          <p:cNvSpPr/>
          <p:nvPr/>
        </p:nvSpPr>
        <p:spPr>
          <a:xfrm>
            <a:off x="415687" y="1666499"/>
            <a:ext cx="5248449" cy="3525002"/>
          </a:xfrm>
          <a:prstGeom prst="roundRect">
            <a:avLst>
              <a:gd fmla="val 4432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108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</a:t>
            </a:r>
          </a:p>
        </p:txBody>
      </p:sp>
      <p:sp>
        <p:nvSpPr>
          <p:cNvPr id="463" name="Google Shape;463;p22"/>
          <p:cNvSpPr txBox="1"/>
          <p:nvPr/>
        </p:nvSpPr>
        <p:spPr>
          <a:xfrm>
            <a:off x="693413" y="3258988"/>
            <a:ext cx="4691597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к 11:00, 9 инцидентов в месяц.</a:t>
            </a:r>
          </a:p>
        </p:txBody>
      </p:sp>
      <p:pic>
        <p:nvPicPr>
          <p:cNvPr id="464" name="Google Shape;46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93411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2"/>
          <p:cNvSpPr txBox="1"/>
          <p:nvPr/>
        </p:nvSpPr>
        <p:spPr>
          <a:xfrm>
            <a:off x="6182659" y="3258988"/>
            <a:ext cx="4691597" cy="251795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Готовность к 8:30, 2 инцидента в месяц.</a:t>
            </a:r>
          </a:p>
        </p:txBody>
      </p:sp>
      <p:pic>
        <p:nvPicPr>
          <p:cNvPr id="466" name="Google Shape;46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82658" y="2888071"/>
            <a:ext cx="266700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2" name="Google Shape;672;p3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Сводка ключевых показателей пилота: время, инциденты, затраты, срок</a:t>
            </a:r>
          </a:p>
        </p:txBody>
      </p:sp>
      <p:graphicFrame>
        <p:nvGraphicFramePr>
          <p:cNvPr id="673" name="Table 672"/>
          <p:cNvGraphicFramePr>
            <a:graphicFrameLocks noGrp="1"/>
          </p:cNvGraphicFramePr>
          <p:nvPr/>
        </p:nvGraphicFramePr>
        <p:xfrm>
          <a:off x="427939" y="1729423"/>
          <a:ext cx="1133490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8300"/>
                <a:gridCol w="3778300"/>
                <a:gridCol w="3778302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Время готовности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Инциденты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+12%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Для перевода оставшихся 14 витрин требуется одобрение руководства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Необходимо одобрение для перевода оставшихся 14 витрин.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3050"/>
              <a:t xml:space="preserve">Директорам необходимо принять решение о масштабировании инициативы и одобрить перевод 14 витрин до конца квартала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Просим директоров принять решение о масштабировании инициативы.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3200"/>
              <a:t xml:space="preserve">Спасибо за внимание: мы готовы ответить на ваши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