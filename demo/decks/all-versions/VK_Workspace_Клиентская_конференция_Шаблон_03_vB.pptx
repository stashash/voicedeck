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Инциденты в месяц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Sheet1!$A$2:$A$3</c:f>
              <c:strCache>
                <c:ptCount val="2"/>
                <c:pt idx="0">
                  <c:v>До пилота</c:v>
                </c:pt>
                <c:pt idx="1">
                  <c:v>После пилота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999999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шт.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6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6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Здравствуйте, коллеги. Сегодня мы обсуждаем инициативу по оптимизации процесса формирования ночных отчётов.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последовательно разберем проблему, доказательную базу и следующие шаги.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Существующая архитектура не позволяет получить данные раньше 11 утра, что критично для бизнес-процессов.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Ключевая выгода для бизнеса — данные становятся доступны к 8:30 утра.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Графика наглядно демонстрирует снижение числа инцидентов с 9 до 2 в месяц.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Срок пилота подтверждает, что масштабирование возможно в пределах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Стоимость перехода незначительна по сравнению с получаемой пользой.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Сопоставление показывает качественное улучшение всех ключевых метрик.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Мы предлагаем четкий план действий для перевода оставшихся витрин.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Прошу вас одобрить перевод остальных 14 витрин на потоковую загрузку до конца квартала.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200"/>
              <a:t xml:space="preserve">Предлагаем перевести все витрины на потоковую архитектуру для ускорения доступности данных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Переход на потоковую загрузку ночных отчётов позволит ускорить доступность данных.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Обсудим проблемы, итоги пилота и план масштабирования</a:t>
            </a:r>
          </a:p>
        </p:txBody>
      </p:sp>
      <p:sp>
        <p:nvSpPr>
          <p:cNvPr id="460" name="Google Shape;460;p22"/>
          <p:cNvSpPr/>
          <p:nvPr/>
        </p:nvSpPr>
        <p:spPr>
          <a:xfrm>
            <a:off x="7729481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20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Масштабирование: 14 витрин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4072584" y="1666499"/>
            <a:ext cx="3420000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Пилот: улучшение показателей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3420000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Проблема: опоздания отчётов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5966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Мешают принятию решений.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6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4256098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На двух витринах.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6097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22"/>
          <p:cNvSpPr txBox="1"/>
          <p:nvPr/>
        </p:nvSpPr>
        <p:spPr>
          <a:xfrm>
            <a:off x="7911859" y="3258988"/>
            <a:ext cx="3057144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До конца квартала.</a:t>
            </a:r>
          </a:p>
        </p:txBody>
      </p:sp>
      <p:pic>
        <p:nvPicPr>
          <p:cNvPr id="468" name="Google Shape;468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9118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91" name="Google Shape;691;p32"/>
          <p:cNvSpPr/>
          <p:nvPr/>
        </p:nvSpPr>
        <p:spPr>
          <a:xfrm>
            <a:off x="427866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2"/>
          <p:cNvSpPr/>
          <p:nvPr/>
        </p:nvSpPr>
        <p:spPr>
          <a:xfrm>
            <a:off x="427866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3" name="Google Shape;693;p32"/>
          <p:cNvSpPr/>
          <p:nvPr/>
        </p:nvSpPr>
        <p:spPr>
          <a:xfrm>
            <a:off x="597903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Поздняя готовность отчётов</a:t>
            </a:r>
          </a:p>
        </p:txBody>
      </p:sp>
      <p:sp>
        <p:nvSpPr>
          <p:cNvPr id="694" name="Google Shape;694;p32"/>
          <p:cNvSpPr/>
          <p:nvPr/>
        </p:nvSpPr>
        <p:spPr>
          <a:xfrm>
            <a:off x="597903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Данные по продажам доступны только к 11 утра.</a:t>
            </a:r>
          </a:p>
        </p:txBody>
      </p:sp>
      <p:sp>
        <p:nvSpPr>
          <p:cNvPr id="695" name="Google Shape;695;p32"/>
          <p:cNvSpPr/>
          <p:nvPr/>
        </p:nvSpPr>
        <p:spPr>
          <a:xfrm>
            <a:off x="4127508" y="1971330"/>
            <a:ext cx="3597514" cy="3443958"/>
          </a:xfrm>
          <a:prstGeom prst="roundRect">
            <a:avLst>
              <a:gd fmla="val 5112" name="adj"/>
            </a:avLst>
          </a:prstGeom>
          <a:solidFill>
            <a:srgbClr val="000000">
              <a:alpha val="29804"/>
            </a:srgbClr>
          </a:soli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32"/>
          <p:cNvSpPr/>
          <p:nvPr/>
        </p:nvSpPr>
        <p:spPr>
          <a:xfrm>
            <a:off x="4127508" y="1971329"/>
            <a:ext cx="3597514" cy="732775"/>
          </a:xfrm>
          <a:prstGeom prst="round2SameRect">
            <a:avLst>
              <a:gd fmla="val 17490" name="adj1"/>
              <a:gd fmla="val 0" name="adj2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21212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7" name="Google Shape;697;p32"/>
          <p:cNvSpPr/>
          <p:nvPr/>
        </p:nvSpPr>
        <p:spPr>
          <a:xfrm>
            <a:off x="4297545" y="2182506"/>
            <a:ext cx="327741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Риск опозданий</a:t>
            </a:r>
          </a:p>
        </p:txBody>
      </p:sp>
      <p:sp>
        <p:nvSpPr>
          <p:cNvPr id="698" name="Google Shape;698;p32"/>
          <p:cNvSpPr/>
          <p:nvPr/>
        </p:nvSpPr>
        <p:spPr>
          <a:xfrm>
            <a:off x="4297545" y="2841868"/>
            <a:ext cx="327741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70C3FF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В месяц фиксируется 9 инцидентов с задержкой.</a:t>
            </a:r>
          </a:p>
        </p:txBody>
      </p:sp>
      <p:sp>
        <p:nvSpPr>
          <p:cNvPr id="699" name="Google Shape;699;p32"/>
          <p:cNvSpPr/>
          <p:nvPr/>
        </p:nvSpPr>
        <p:spPr>
          <a:xfrm>
            <a:off x="7827149" y="1971330"/>
            <a:ext cx="3597513" cy="3443958"/>
          </a:xfrm>
          <a:prstGeom prst="roundRect">
            <a:avLst>
              <a:gd fmla="val 5112" name="adj"/>
            </a:avLst>
          </a:prstGeom>
          <a:gradFill>
            <a:gsLst>
              <a:gs pos="0">
                <a:srgbClr val="00AEE8"/>
              </a:gs>
              <a:gs pos="100000">
                <a:srgbClr val="0077FF"/>
              </a:gs>
            </a:gsLst>
            <a:lin ang="2700000" scaled="0"/>
          </a:gradFill>
          <a:ln cap="flat" cmpd="sng" w="9525">
            <a:solidFill>
              <a:srgbClr val="70C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32"/>
          <p:cNvSpPr/>
          <p:nvPr/>
        </p:nvSpPr>
        <p:spPr>
          <a:xfrm>
            <a:off x="7989513" y="2196653"/>
            <a:ext cx="343515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rgbClr val="212121"/>
                </a:solidFill>
                <a:latin typeface="Play"/>
                <a:ea typeface="Play"/>
                <a:cs typeface="Play"/>
                <a:sym typeface="Play"/>
              </a:rPr>
              <a:t xml:space="preserve">Негибкость архитектуры</a:t>
            </a:r>
          </a:p>
        </p:txBody>
      </p:sp>
      <p:sp>
        <p:nvSpPr>
          <p:cNvPr id="701" name="Google Shape;701;p32"/>
          <p:cNvSpPr/>
          <p:nvPr/>
        </p:nvSpPr>
        <p:spPr>
          <a:xfrm>
            <a:off x="7989513" y="2841868"/>
            <a:ext cx="312949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6800" lvl="2" marL="136800" marR="0" rtl="0" algn="l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Arial"/>
              <a:buChar char="•"/>
            </a:pPr>
            <a:r>
              <a:rPr b="0" i="0" lang="ru-RU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 xml:space="preserve">Пакетная обработка не позволяет ускорить обновление.</a:t>
            </a:r>
          </a:p>
        </p:txBody>
      </p:sp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Текущий процесс приводит к задержкам и росту числа инцидентов.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Пакетная загрузка замедляет доступ к данным, вызывая задержки и рост числа инцидентов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Отчёты станут доступны на 2.5 часа раньше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2.5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Новое время готовности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Отчёт по продажам будет готов к 8:30 вместо 11:00.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Переход на потоковую загрузку сократит время ожидания данных до 8:30 утра.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Число инцидентов с опозданием снизилось в 4.5 раза</a:t>
            </a:r>
          </a:p>
        </p:txBody>
      </p:sp>
      <p:graphicFrame>
        <p:nvGraphicFramePr>
          <p:cNvPr id="452" name="Chart 451"/>
          <p:cNvGraphicFramePr>
            <a:graphicFrameLocks noGrp="1"/>
          </p:cNvGraphicFramePr>
          <p:nvPr/>
        </p:nvGraphicFramePr>
        <p:xfrm>
          <a:off x="4739951" y="1188720"/>
          <a:ext cx="7022891" cy="5007483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Пилот завершён за 6 недель, что позволяет уложиться в сроки перевода остальных витрин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6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Длительность пилота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Работа на двух витринах заняла 6 недель.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Работа на двух витринах заняла 6 недель, обеспечивая скорость внедрения для перевода остальных.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1800"/>
              <a:t xml:space="preserve">Рост затрат на инфраструктуру составил 12 %, что свидетельствует о минимальном и управляемом финансовом влиянии инициативы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12 %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Изменение бюджетных статей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Затраты на инфраструктуру выросли на 12 %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Потоковая загрузка обеспечивает стабильность и скорость без критического роста издержек</a:t>
            </a:r>
          </a:p>
        </p:txBody>
      </p:sp>
      <p:sp>
        <p:nvSpPr>
          <p:cNvPr id="461" name="Google Shape;461;p22"/>
          <p:cNvSpPr/>
          <p:nvPr/>
        </p:nvSpPr>
        <p:spPr>
          <a:xfrm>
            <a:off x="5901033" y="1666499"/>
            <a:ext cx="5248449" cy="3525002"/>
          </a:xfrm>
          <a:prstGeom prst="roundRect">
            <a:avLst>
              <a:gd fmla="val 4027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После перехода</a:t>
            </a:r>
          </a:p>
        </p:txBody>
      </p:sp>
      <p:sp>
        <p:nvSpPr>
          <p:cNvPr id="462" name="Google Shape;462;p22"/>
          <p:cNvSpPr/>
          <p:nvPr/>
        </p:nvSpPr>
        <p:spPr>
          <a:xfrm>
            <a:off x="415687" y="1666499"/>
            <a:ext cx="5248449" cy="3525002"/>
          </a:xfrm>
          <a:prstGeom prst="roundRect">
            <a:avLst>
              <a:gd fmla="val 4432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t" bIns="45700" lIns="108000" spcFirstLastPara="1" rIns="91425" wrap="square" tIns="108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До перехода</a:t>
            </a:r>
          </a:p>
        </p:txBody>
      </p:sp>
      <p:sp>
        <p:nvSpPr>
          <p:cNvPr id="463" name="Google Shape;463;p22"/>
          <p:cNvSpPr txBox="1"/>
          <p:nvPr/>
        </p:nvSpPr>
        <p:spPr>
          <a:xfrm>
            <a:off x="693413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11:00, 9 инцидентов в месяц</a:t>
            </a:r>
          </a:p>
        </p:txBody>
      </p:sp>
      <p:pic>
        <p:nvPicPr>
          <p:cNvPr id="464" name="Google Shape;464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411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22"/>
          <p:cNvSpPr txBox="1"/>
          <p:nvPr/>
        </p:nvSpPr>
        <p:spPr>
          <a:xfrm>
            <a:off x="6182659" y="3258988"/>
            <a:ext cx="4691597" cy="251795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Готовность к 8:30, 2 инцидента в месяц</a:t>
            </a:r>
          </a:p>
        </p:txBody>
      </p:sp>
      <p:pic>
        <p:nvPicPr>
          <p:cNvPr id="466" name="Google Shape;46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2658" y="2888071"/>
            <a:ext cx="266700" cy="2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Перевод 14 витрин до конца квартала реализуется поэтапно с контролем качества на каждом шаге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Аудит витрин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Оценка готовности данных к потоковой обработке.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Поэтапный перевод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Перенос витрин группами с мониторингом.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Финальная проверка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Верификация сроков и стабильности всех отчётов.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2850"/>
              <a:t xml:space="preserve">Поддержите инициативу, чтобы обеспечить ранний доступ к данным для всех направлений.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