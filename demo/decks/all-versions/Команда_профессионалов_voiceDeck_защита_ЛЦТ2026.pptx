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63" r:id="rId3"/>
    <p:sldId id="264" r:id="rId4"/>
    <p:sldId id="265" r:id="rId5"/>
    <p:sldId id="266" r:id="rId6"/>
    <p:sldId id="279" r:id="rId7"/>
    <p:sldId id="272" r:id="rId8"/>
    <p:sldId id="283" r:id="rId21"/>
    <p:sldId id="280" r:id="rId9"/>
    <p:sldId id="275" r:id="rId10"/>
    <p:sldId id="282" r:id="rId11"/>
    <p:sldId id="281" r:id="rId12"/>
    <p:sldId id="284" r:id="rId22"/>
    <p:sldId id="270" r:id="rId13"/>
    <p:sldId id="271" r:id="rId14"/>
    <p:sldId id="285" r:id="rId23"/>
    <p:sldId id="267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8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DA9EC-F428-112D-3923-9BEBB546110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D2238-25F6-F084-F194-B08C82005CBD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8268F6-FB98-9775-D61D-DAEA8E93870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9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4.png"/><Relationship Id="rId6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hyperlink" Target="https://github.com/stashash/voiceDeck" TargetMode="External"/><Relationship Id="rId6" Type="http://schemas.openxmlformats.org/officeDocument/2006/relationships/hyperlink" Target="https://github.com/stashash/voiceDeck/blob/master/demo/decks/all-versions/%D0%9A%D0%BE%D0%BC%D0%B0%D0%BD%D0%B4%D0%B0_%D0%BF%D1%80%D0%BE%D1%84%D0%B5%D1%81%D1%81%D0%B8%D0%BE%D0%BD%D0%B0%D0%BB%D0%BE%D0%B2_voiceDeck_%D0%B7%D0%B0%D1%89%D0%B8%D1%82%D0%B0_%D0%9B%D0%A6%D0%A22026.pptx" TargetMode="External"/><Relationship Id="rId7" Type="http://schemas.openxmlformats.org/officeDocument/2006/relationships/hyperlink" Target="https://github.com/stashash/voiceDeck/blob/master/demo/decks/all-versions/%D0%9A%D0%BE%D0%BC%D0%B0%D0%BD%D0%B4%D0%B0_%D0%BF%D1%80%D0%BE%D1%84%D0%B5%D1%81%D1%81%D0%B8%D0%BE%D0%BD%D0%B0%D0%BB%D0%BE%D0%B2_voiceDeck_%D0%B7%D0%B0%D1%89%D0%B8%D1%82%D0%B0_%D0%9B%D0%A6%D0%A22026.pdf" TargetMode="External"/><Relationship Id="rId8" Type="http://schemas.openxmlformats.org/officeDocument/2006/relationships/hyperlink" Target="https://github.com/stashash/voiceDeck/blob/master/demo/video/voicedeck-demo-short.mp4" TargetMode="External"/><Relationship Id="rId9" Type="http://schemas.openxmlformats.org/officeDocument/2006/relationships/hyperlink" Target="https://github.com/stashash/voiceDeck/blob/master/demo/video/voicedeck-demo-full.mp4" TargetMode="External"/><Relationship Id="rId10" Type="http://schemas.openxmlformats.org/officeDocument/2006/relationships/hyperlink" Target="https://github.com/stashash/voiceDeck/tree/master/artifacts/stage2-demo/%D0%92%D1%81%D0%B5%20%D0%BF%D1%80%D0%B5%D0%B7%D0%B5%D0%BD%D1%82%D0%B0%D1%86%D0%B8%D0%B8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video" Target="../media/media2.mp4"/><Relationship Id="rId4" Type="http://schemas.microsoft.com/office/2007/relationships/media" Target="../media/media2.mp4"/><Relationship Id="rId5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t>Команда профессионалов</a:t>
            </a:r>
            <a:endParaRPr lang="ru-RU" sz="480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t>Кейс VK Tech «Цифровой дизайнер презентаций»: сервис voiceDeck</a:t>
            </a:r>
            <a:endParaRPr lang="ru-RU"/>
          </a:p>
        </p:txBody>
      </p:sp>
      <p:pic>
        <p:nvPicPr>
          <p:cNvPr id="1091804845" name="Picture 1091804844" descr="vk_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86" y="329801"/>
            <a:ext cx="23285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Слайды появляются прямо во время выступления: человек говорит, и через секунду на экране черновик слайда. Из таблицы сервис сам предлагает выводы, а каждую цифру считает программа и подписывает строку, откуда она взята.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Валерий Никаноров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Количество участников: 3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Город: Санкт-Петербург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Место работы: Сбер, Альфа-Банк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>
                <a:solidFill>
                  <a:schemeClr val="tx1"/>
                </a:solidFill>
              </a:rPr>
              <a:t>Команда профессионалов ИТ, более 15 лет в разработке. Наше хобби: делать сложные вещи просто и качественно с помощью AI.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t>voiceDeck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Загружаете шаблон компании, пишете, о чём презентация, и прикладываете таблицу с данными. Через несколько минут получаете готовую презентацию в этом шаблоне в трёх вариантах: с выводами из таблицы, диаграммами и картинками.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2108767592" name="Picture 2108767591" descr="lct_about_6456x297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7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087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Fullstack Builder</a:t>
            </a:r>
            <a:endParaRPr/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Станислав Перевалов</a:t>
            </a:r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Fullstack Builder</a:t>
            </a:r>
            <a:endParaRPr/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Андрей Власов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Состав команды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Валерий Никаноров</a:t>
            </a:r>
            <a:endParaRPr/>
          </a:p>
        </p:txBody>
      </p:sp>
      <p:pic>
        <p:nvPicPr>
          <p:cNvPr id="1919445993" name="Picture 1919445992" descr="team_valer_1722x15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97" y="1816054"/>
            <a:ext cx="1722566" cy="1552901"/>
          </a:xfrm>
          <a:prstGeom prst="roundRect">
            <a:avLst>
              <a:gd name="adj" fmla="val 8000"/>
            </a:avLst>
          </a:prstGeom>
        </p:spPr>
      </p:pic>
      <p:pic>
        <p:nvPicPr>
          <p:cNvPr id="1919445994" name="Picture 1919445993" descr="team_stas_1722x154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467" y="1826554"/>
            <a:ext cx="1722566" cy="1542401"/>
          </a:xfrm>
          <a:prstGeom prst="roundRect">
            <a:avLst>
              <a:gd name="adj" fmla="val 8000"/>
            </a:avLst>
          </a:prstGeom>
        </p:spPr>
      </p:pic>
      <p:pic>
        <p:nvPicPr>
          <p:cNvPr id="1919445995" name="Picture 1919445994" descr="team_andre_1722x155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784" y="1809238"/>
            <a:ext cx="1722567" cy="1559717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44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9445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9445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1944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44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19445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19445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1944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44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19445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19445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1944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О команде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ИТ-Деды решившие показать этим вашим молодым </a:t>
            </a:r>
            <a:r>
              <a:rPr lang="ru-RU" dirty="0" err="1">
                <a:solidFill>
                  <a:schemeClr val="tx1"/>
                </a:solidFill>
              </a:rPr>
              <a:t>вайбкодерам</a:t>
            </a:r>
            <a:r>
              <a:rPr lang="ru-RU" dirty="0">
                <a:solidFill>
                  <a:schemeClr val="tx1"/>
                </a:solidFill>
              </a:rPr>
              <a:t>, что такое советской закалки инженеры</a:t>
            </a:r>
            <a:endParaRPr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Труднее всего было уложиться в пять минут на одной видеокарте. Помогло разделение: модель пишет только текст, а раскладывает его по слайдам обычная программа. Вторая сложность была в живом режиме: паузы в речи резали мысль пополам. Теперь модель решает, продолжает ли человек прежнюю мысль.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Презентации нужны почти к каждой встрече, а переносить текст в шаблон компании до сих пор приходится вручную. Мы хотели убрать эту работу.</a:t>
            </a:r>
            <a:endParaRPr dirty="0"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</a:t>
            </a:r>
            <a:r>
              <a:rPr lang="ru-RU" b="1" dirty="0" err="1">
                <a:solidFill>
                  <a:schemeClr val="accent5"/>
                </a:solidFill>
              </a:rPr>
              <a:t>хакатоне</a:t>
            </a:r>
            <a:r>
              <a:rPr lang="ru-RU" b="1" dirty="0">
                <a:solidFill>
                  <a:schemeClr val="accent5"/>
                </a:solidFill>
              </a:rPr>
              <a:t>?</a:t>
            </a:r>
            <a:endParaRPr dirty="0"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dirty="0" b="1">
                <a:solidFill>
                  <a:schemeClr val="tx1"/>
                </a:solidFill>
              </a:rPr>
              <a:t>Шаблон. </a:t>
            </a:r>
            <a:r>
              <a:rPr lang="ru-RU" sz="1400" dirty="0" b="0">
                <a:solidFill>
                  <a:schemeClr val="tx1"/>
                </a:solidFill>
              </a:rPr>
              <a:t>Сервис разбирает файл шаблона: цвета, шрифты, размеры текста, отступы и образцы слайдов.</a:t>
            </a:r>
            <a:endParaRPr dirty="0"/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ru-RU" sz="1400" dirty="0" b="1">
                <a:solidFill>
                  <a:schemeClr val="tx1"/>
                </a:solidFill>
              </a:rPr>
              <a:t>Текст. </a:t>
            </a:r>
            <a:r>
              <a:rPr lang="ru-RU" sz="1400" dirty="0" b="0">
                <a:solidFill>
                  <a:schemeClr val="tx1"/>
                </a:solidFill>
              </a:rPr>
              <a:t>Модель Qwen3.8-27B пишет план и текст так, чтобы он поместился в образец.</a:t>
            </a:r>
            <a:endParaRPr dirty="0"/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ru-RU" sz="1400" dirty="0" b="1">
                <a:solidFill>
                  <a:schemeClr val="tx1"/>
                </a:solidFill>
              </a:rPr>
              <a:t>Данные. </a:t>
            </a:r>
            <a:r>
              <a:rPr lang="ru-RU" sz="1400" dirty="0" b="0">
                <a:solidFill>
                  <a:schemeClr val="tx1"/>
                </a:solidFill>
              </a:rPr>
              <a:t>Выводы из таблицы считает программа, модель только выбирает и формулирует их.</a:t>
            </a:r>
            <a:endParaRPr dirty="0"/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ru-RU" sz="1400" dirty="0" b="1">
                <a:solidFill>
                  <a:schemeClr val="tx1"/>
                </a:solidFill>
              </a:rPr>
              <a:t>Сборка. </a:t>
            </a:r>
            <a:r>
              <a:rPr lang="ru-RU" sz="1400" dirty="0" b="0">
                <a:solidFill>
                  <a:schemeClr val="tx1"/>
                </a:solidFill>
              </a:rPr>
              <a:t>Слайды собираются из элементов шаблона, с родными диаграммами и картинками от открытой модели FLUX.2 klein. Файл дальше правится в PowerPoint.</a:t>
            </a:r>
            <a:endParaRPr dirty="0"/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ru-RU" sz="1400" dirty="0" b="1">
                <a:solidFill>
                  <a:schemeClr val="tx1"/>
                </a:solidFill>
              </a:rPr>
              <a:t>Проверка. </a:t>
            </a:r>
            <a:r>
              <a:rPr lang="ru-RU" sz="1400" dirty="0" b="0">
                <a:solidFill>
                  <a:schemeClr val="tx1"/>
                </a:solidFill>
              </a:rPr>
              <a:t>20 правил и модель, которая смотрит на картинку каждого слайда.</a:t>
            </a:r>
            <a:endParaRPr dirty="0"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dirty="0">
                <a:solidFill>
                  <a:schemeClr val="tx1"/>
                </a:solidFill>
              </a:rPr>
              <a:t>Сервис нужен всем, кто каждую неделю готовит отчёты, питчи и защиты в фирменном шаблоне. Первый шаг: пилот в VK Tech. </a:t>
            </a:r>
            <a:br>
              <a:rPr lang="ru-RU" sz="1400" dirty="0">
                <a:solidFill>
                  <a:schemeClr val="tx1"/>
                </a:solidFill>
              </a:rPr>
            </a:b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Дальше встраивание в VK </a:t>
            </a:r>
            <a:r>
              <a:rPr lang="ru-RU" sz="1400" dirty="0" err="1">
                <a:solidFill>
                  <a:schemeClr val="tx1"/>
                </a:solidFill>
              </a:rPr>
              <a:t>WorkSpace</a:t>
            </a:r>
            <a:r>
              <a:rPr lang="ru-RU" sz="1400" dirty="0">
                <a:solidFill>
                  <a:schemeClr val="tx1"/>
                </a:solidFill>
              </a:rPr>
              <a:t> и общий каталог шаблонов для команды. Живой режим пригодится на выступлениях и встречах, где слайдов заранее нет.</a:t>
            </a:r>
            <a:endParaRPr dirty="0"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39319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Проблема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b="0">
                <a:solidFill>
                  <a:srgbClr val="1C1D22"/>
                </a:solidFill>
              </a:rPr>
              <a:t>Модели хорошо пишут текст, но не умеют следовать шаблону компании и путают цифры. Раскладывать текст и данные по слайдам приходится вручную.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Решение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b="0">
                <a:solidFill>
                  <a:srgbClr val="1C1D22"/>
                </a:solidFill>
              </a:rPr>
              <a:t>voiceDeck изучает шаблон и собирает слайды из его элементов: заголовков, карточек, диаграмм и значков.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Результат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b="0">
                <a:solidFill>
                  <a:srgbClr val="1C1D22"/>
                </a:solidFill>
              </a:rPr>
              <a:t>Готовая презентация в трёх вариантах: с выводами из таблицы, диаграммами и картинками. Её можно скачать в PPTX, PDF или HTML.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Проблема и решение</a:t>
            </a:r>
            <a:endParaRPr lang="ru-RU"/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2528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Шаблон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1005840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Загружаем файл PPTX. За 1–2 минуты сервис запоминает цвета, шрифты и образцы слайдов.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Описание и таблица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1005840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Пишем, о чём презентация, и прикладываем таблицу. Сервис предлагает выводы с цифрами, мы отмечаем нужные.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Результат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1005840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Получаем три варианта с диаграммами и картинками. Правим голосом или вручную и скачиваем.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Как работает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  <p:pic>
        <p:nvPicPr>
          <p:cNvPr id="2087739714" name="Picture 2087739713" descr="lct_step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343400"/>
            <a:ext cx="2926080" cy="1645920"/>
          </a:xfrm>
          <a:prstGeom prst="roundRect">
            <a:avLst>
              <a:gd name="adj" fmla="val 5000"/>
            </a:avLst>
          </a:prstGeom>
        </p:spPr>
      </p:pic>
      <p:pic>
        <p:nvPicPr>
          <p:cNvPr id="2087739715" name="Picture 2087739714" descr="lct_step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4343400"/>
            <a:ext cx="2926080" cy="1645920"/>
          </a:xfrm>
          <a:prstGeom prst="roundRect">
            <a:avLst>
              <a:gd name="adj" fmla="val 5000"/>
            </a:avLst>
          </a:prstGeom>
        </p:spPr>
      </p:pic>
      <p:pic>
        <p:nvPicPr>
          <p:cNvPr id="2087739716" name="Picture 2087739715" descr="lct_step0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4343400"/>
            <a:ext cx="2926080" cy="1645920"/>
          </a:xfrm>
          <a:prstGeom prst="roundRect">
            <a:avLst>
              <a:gd name="adj" fmla="val 5000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73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773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73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8773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73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8773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420624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Разбор шаблона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Программа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считывает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цвета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шрифты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размеры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текста</a:t>
            </a:r>
            <a:r>
              <a:rPr dirty="0">
                <a:solidFill>
                  <a:srgbClr val="1C1D22"/>
                </a:solidFill>
              </a:rPr>
              <a:t> и </a:t>
            </a:r>
            <a:r>
              <a:rPr dirty="0" err="1">
                <a:solidFill>
                  <a:srgbClr val="1C1D22"/>
                </a:solidFill>
              </a:rPr>
              <a:t>образцы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слайдов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План и текст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Модель пишет текст, выводы из таблицы считает программа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Проверка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20 </a:t>
            </a:r>
            <a:r>
              <a:rPr dirty="0" err="1">
                <a:solidFill>
                  <a:srgbClr val="1C1D22"/>
                </a:solidFill>
              </a:rPr>
              <a:t>правил</a:t>
            </a:r>
            <a:r>
              <a:rPr dirty="0">
                <a:solidFill>
                  <a:srgbClr val="1C1D22"/>
                </a:solidFill>
              </a:rPr>
              <a:t> и </a:t>
            </a:r>
            <a:r>
              <a:rPr dirty="0" err="1">
                <a:solidFill>
                  <a:srgbClr val="1C1D22"/>
                </a:solidFill>
              </a:rPr>
              <a:t>модель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проверяют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каждый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слайд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потом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выгрузка</a:t>
            </a:r>
            <a:r>
              <a:rPr dirty="0">
                <a:solidFill>
                  <a:srgbClr val="1C1D22"/>
                </a:solidFill>
              </a:rPr>
              <a:t> в PPTX, PDF и HTML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Образцы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Модель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смотрит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на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каждый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образец</a:t>
            </a:r>
            <a:r>
              <a:rPr dirty="0">
                <a:solidFill>
                  <a:srgbClr val="1C1D22"/>
                </a:solidFill>
              </a:rPr>
              <a:t> и </a:t>
            </a:r>
            <a:r>
              <a:rPr dirty="0" err="1">
                <a:solidFill>
                  <a:srgbClr val="1C1D22"/>
                </a:solidFill>
              </a:rPr>
              <a:t>решает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для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чего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он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подходит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FF0053"/>
                </a:solidFill>
              </a:rPr>
              <a:t>Сборка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Три варианта с диаграммами и картинками FLUX.2 klein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Архитектура пайплайна</a:t>
            </a:r>
            <a:endParaRPr lang="ru-RU"/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3749039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b="1">
                <a:solidFill>
                  <a:srgbClr val="310F53"/>
                </a:solidFill>
              </a:rPr>
              <a:t>Программа проверяет файл по 20 правилам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Текст не вылезает за рамки и не залезает на другие элементы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Шрифты, размеры текста и цвета взяты из шаблона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На слайде не слишком много пунктов и слов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b="0">
                <a:solidFill>
                  <a:srgbClr val="1C1D22"/>
                </a:solidFill>
              </a:rPr>
              <a:t>Нет пустых мест и текста-заглушки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Модель смотрит на картинку каждого слайда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В заголовке есть вывод, а не только тема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Все цифры взяты из описания или таблицы пользователя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Презентация на одном языке, слайды связаны между собой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0">
                <a:solidFill>
                  <a:srgbClr val="1C1D22"/>
                </a:solidFill>
              </a:rPr>
              <a:t>Что исправлять, решает человек: кнопки «Исправить» и «Переписать»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Архитектура аудита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920140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669354889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2043882463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59850212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0451759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Живой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режим</a:t>
            </a:r>
            <a:r>
              <a:rPr dirty="0">
                <a:solidFill>
                  <a:srgbClr val="1C1D22"/>
                </a:solidFill>
              </a:rPr>
              <a:t>: </a:t>
            </a:r>
            <a:r>
              <a:rPr dirty="0" err="1">
                <a:solidFill>
                  <a:srgbClr val="1C1D22"/>
                </a:solidFill>
              </a:rPr>
              <a:t>человек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говорит</a:t>
            </a:r>
            <a:r>
              <a:rPr dirty="0">
                <a:solidFill>
                  <a:srgbClr val="1C1D22"/>
                </a:solidFill>
              </a:rPr>
              <a:t>, и </a:t>
            </a:r>
            <a:r>
              <a:rPr dirty="0" err="1">
                <a:solidFill>
                  <a:srgbClr val="1C1D22"/>
                </a:solidFill>
              </a:rPr>
              <a:t>через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секунду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после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фразы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на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экране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черновик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слайда</a:t>
            </a:r>
            <a:r>
              <a:rPr dirty="0">
                <a:solidFill>
                  <a:srgbClr val="1C1D22"/>
                </a:solidFill>
              </a:rPr>
              <a:t>. </a:t>
            </a:r>
            <a:r>
              <a:rPr dirty="0" err="1">
                <a:solidFill>
                  <a:srgbClr val="1C1D22"/>
                </a:solidFill>
              </a:rPr>
              <a:t>Ещё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через</a:t>
            </a:r>
            <a:r>
              <a:rPr dirty="0">
                <a:solidFill>
                  <a:srgbClr val="1C1D22"/>
                </a:solidFill>
              </a:rPr>
              <a:t> 5–6 </a:t>
            </a:r>
            <a:r>
              <a:rPr dirty="0" err="1">
                <a:solidFill>
                  <a:srgbClr val="1C1D22"/>
                </a:solidFill>
              </a:rPr>
              <a:t>секунд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модель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дорисовывает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его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конца</a:t>
            </a:r>
            <a:r>
              <a:rPr dirty="0">
                <a:solidFill>
                  <a:srgbClr val="1C1D22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59197431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Правка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голосом</a:t>
            </a:r>
            <a:r>
              <a:rPr dirty="0">
                <a:solidFill>
                  <a:srgbClr val="1C1D22"/>
                </a:solidFill>
              </a:rPr>
              <a:t>: «</a:t>
            </a:r>
            <a:r>
              <a:rPr dirty="0" err="1">
                <a:solidFill>
                  <a:srgbClr val="1C1D22"/>
                </a:solidFill>
              </a:rPr>
              <a:t>Слайд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два</a:t>
            </a:r>
            <a:r>
              <a:rPr dirty="0">
                <a:solidFill>
                  <a:srgbClr val="1C1D22"/>
                </a:solidFill>
              </a:rPr>
              <a:t>», «</a:t>
            </a:r>
            <a:r>
              <a:rPr dirty="0" err="1">
                <a:solidFill>
                  <a:srgbClr val="1C1D22"/>
                </a:solidFill>
              </a:rPr>
              <a:t>Сократи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заголовок</a:t>
            </a:r>
            <a:r>
              <a:rPr dirty="0">
                <a:solidFill>
                  <a:srgbClr val="1C1D22"/>
                </a:solidFill>
              </a:rPr>
              <a:t>», «</a:t>
            </a:r>
            <a:r>
              <a:rPr dirty="0" err="1">
                <a:solidFill>
                  <a:srgbClr val="1C1D22"/>
                </a:solidFill>
              </a:rPr>
              <a:t>Отмени</a:t>
            </a:r>
            <a:r>
              <a:rPr dirty="0">
                <a:solidFill>
                  <a:srgbClr val="1C1D22"/>
                </a:solidFill>
              </a:rPr>
              <a:t>». </a:t>
            </a:r>
            <a:r>
              <a:rPr dirty="0" err="1">
                <a:solidFill>
                  <a:srgbClr val="1C1D22"/>
                </a:solidFill>
              </a:rPr>
              <a:t>Простые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команды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выполняются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сразу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сокращение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текста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моделью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занимает</a:t>
            </a:r>
            <a:r>
              <a:rPr dirty="0">
                <a:solidFill>
                  <a:srgbClr val="1C1D22"/>
                </a:solidFill>
              </a:rPr>
              <a:t> 2–3 </a:t>
            </a:r>
            <a:r>
              <a:rPr dirty="0" err="1">
                <a:solidFill>
                  <a:srgbClr val="1C1D22"/>
                </a:solidFill>
              </a:rPr>
              <a:t>секунды</a:t>
            </a:r>
            <a:r>
              <a:rPr dirty="0">
                <a:solidFill>
                  <a:srgbClr val="1C1D22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485363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Киллер-фичи</a:t>
            </a:r>
            <a:endParaRPr lang="ru-RU"/>
          </a:p>
        </p:txBody>
      </p:sp>
      <p:pic>
        <p:nvPicPr>
          <p:cNvPr id="2043882464" name="Picture 2043882463" descr="lct_live_4121x22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642" y="1577998"/>
            <a:ext cx="4121688" cy="2283975"/>
          </a:xfrm>
          <a:prstGeom prst="rect">
            <a:avLst/>
          </a:prstGeom>
        </p:spPr>
      </p:pic>
      <p:pic>
        <p:nvPicPr>
          <p:cNvPr id="2043882465" name="Picture 2043882464" descr="lct_voice_4121x228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5540" y="1577998"/>
            <a:ext cx="4121688" cy="2283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88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388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88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3882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3882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4388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12294" name="Скругленный прямоугольник 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00372309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20462955" name="Текст 3"/>
          <p:cNvSpPr>
            <a:spLocks noGrp="1"/>
          </p:cNvSpPr>
          <p:nvPr>
            <p:ph type="body" sz="quarter" idx="15"/>
          </p:nvPr>
        </p:nvSpPr>
        <p:spPr bwMode="auto">
          <a:xfrm>
            <a:off x="1737360" y="6053328"/>
            <a:ext cx="8686800" cy="457200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Коротко, 2 минуты: бриф с таблицей, дизайн-система, три варианта, выгрузка, правка голосом и живой режим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2020077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Демо</a:t>
            </a:r>
            <a:endParaRPr lang="ru-RU"/>
          </a:p>
        </p:txBody>
      </p:sp>
      <p:pic>
        <p:nvPicPr>
          <p:cNvPr id="1920462956" name="voicedeck-demo-shor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37360" y="1097280"/>
            <a:ext cx="8686800" cy="4882896"/>
          </a:xfrm>
          <a:prstGeom prst="roundRect">
            <a:avLst>
              <a:gd name="adj" fmla="val 2000"/>
            </a:avLst>
          </a:prstGeom>
          <a:effectLst>
            <a:outerShdw blurRad="228600" dist="50800" dir="5400000" algn="t" rotWithShape="0">
              <a:srgbClr val="1A2B4C">
                <a:alpha val="22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46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2046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5634" fill="hold"/>
                                        <p:tgtEl>
                                          <p:spTgt spid="19204629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92046295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Дальнейшее масштабирование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Пилот в VK Tech и внедрение вместе с нашей командой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Встраивание в VK WorkSpace: презентация из письма или документа одной кнопкой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Сервер для команды: общий каталог шаблонов, права доступа, история правок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4266053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Мгновенная правка голосом: маленькая модель, которая сразу понимает команды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Интерфейс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React 19, TypeScript, </a:t>
            </a:r>
            <a:r>
              <a:rPr dirty="0" err="1">
                <a:solidFill>
                  <a:srgbClr val="1C1D22"/>
                </a:solidFill>
              </a:rPr>
              <a:t>Vite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Сервер и речь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Java 21, </a:t>
            </a:r>
            <a:r>
              <a:rPr dirty="0" err="1">
                <a:solidFill>
                  <a:srgbClr val="1C1D22"/>
                </a:solidFill>
              </a:rPr>
              <a:t>Vert.x</a:t>
            </a:r>
            <a:r>
              <a:rPr dirty="0">
                <a:solidFill>
                  <a:srgbClr val="1C1D22"/>
                </a:solidFill>
              </a:rPr>
              <a:t>, WebSocket, </a:t>
            </a:r>
            <a:r>
              <a:rPr dirty="0" err="1">
                <a:solidFill>
                  <a:srgbClr val="1C1D22"/>
                </a:solidFill>
              </a:rPr>
              <a:t>GigaAM</a:t>
            </a:r>
            <a:r>
              <a:rPr dirty="0">
                <a:solidFill>
                  <a:srgbClr val="1C1D22"/>
                </a:solidFill>
              </a:rPr>
              <a:t> v3 </a:t>
            </a:r>
            <a:r>
              <a:rPr dirty="0" err="1">
                <a:solidFill>
                  <a:srgbClr val="1C1D22"/>
                </a:solidFill>
              </a:rPr>
              <a:t>через</a:t>
            </a:r>
            <a:r>
              <a:rPr dirty="0">
                <a:solidFill>
                  <a:srgbClr val="1C1D22"/>
                </a:solidFill>
              </a:rPr>
              <a:t> sherpa-</a:t>
            </a:r>
            <a:r>
              <a:rPr dirty="0" err="1">
                <a:solidFill>
                  <a:srgbClr val="1C1D22"/>
                </a:solidFill>
              </a:rPr>
              <a:t>onnx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Silero</a:t>
            </a:r>
            <a:r>
              <a:rPr dirty="0">
                <a:solidFill>
                  <a:srgbClr val="1C1D22"/>
                </a:solidFill>
              </a:rPr>
              <a:t> VAD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Сборка слайдов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Python, </a:t>
            </a:r>
            <a:r>
              <a:rPr dirty="0" err="1">
                <a:solidFill>
                  <a:srgbClr val="1C1D22"/>
                </a:solidFill>
              </a:rPr>
              <a:t>FastAPI</a:t>
            </a:r>
            <a:r>
              <a:rPr dirty="0">
                <a:solidFill>
                  <a:srgbClr val="1C1D22"/>
                </a:solidFill>
              </a:rPr>
              <a:t>, python-pptx, LibreOffice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Модели и данные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dirty="0">
                <a:solidFill>
                  <a:srgbClr val="1C1D22"/>
                </a:solidFill>
              </a:rPr>
              <a:t>Qwen3.8-27B, FLUX.2 klein 4B через ComfyUI, bge-m3, PostgreSQL с pgvector, Docker Compose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Стек технологий</a:t>
            </a:r>
            <a:endParaRPr lang="ru-RU"/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b="1">
                <a:solidFill>
                  <a:srgbClr val="1C1D22"/>
                </a:solidFill>
              </a:rPr>
              <a:t>Код: </a:t>
            </a:r>
            <a:r>
              <a:rPr b="0">
                <a:hlinkClick r:id="rId5"/>
              </a:rPr>
              <a:t>github.com/stashash/voiceDeck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  <a:defRPr/>
            </a:pPr>
            <a:r>
              <a:rPr b="1">
                <a:solidFill>
                  <a:srgbClr val="1C1D22"/>
                </a:solidFill>
              </a:rPr>
              <a:t>Презентация для защиты: </a:t>
            </a:r>
            <a:r>
              <a:rPr b="0">
                <a:hlinkClick r:id="rId6"/>
              </a:rPr>
              <a:t>PPTX</a:t>
            </a:r>
            <a:r>
              <a:rPr b="0"/>
              <a:t>, </a:t>
            </a:r>
            <a:r>
              <a:rPr b="0">
                <a:hlinkClick r:id="rId7"/>
              </a:rPr>
              <a:t>PDF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  <a:defRPr/>
            </a:pPr>
            <a:r>
              <a:rPr b="1">
                <a:solidFill>
                  <a:srgbClr val="1C1D22"/>
                </a:solidFill>
              </a:rPr>
              <a:t>Видео демо: </a:t>
            </a:r>
            <a:r>
              <a:rPr b="0">
                <a:hlinkClick r:id="rId8"/>
              </a:rPr>
              <a:t>2 минуты</a:t>
            </a:r>
            <a:r>
              <a:rPr b="0"/>
              <a:t>, </a:t>
            </a:r>
            <a:r>
              <a:rPr b="0">
                <a:hlinkClick r:id="rId9"/>
              </a:rPr>
              <a:t>полное, 5 минут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  <a:defRPr/>
            </a:pPr>
            <a:r>
              <a:rPr b="1">
                <a:solidFill>
                  <a:srgbClr val="1C1D22"/>
                </a:solidFill>
              </a:rPr>
              <a:t>Презентации по шаблонам VK: </a:t>
            </a:r>
            <a:r>
              <a:rPr b="0">
                <a:hlinkClick r:id="rId10"/>
              </a:rPr>
              <a:t>три шаблона по три варианта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14</a:t>
            </a:fld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310F53"/>
                </a:solidFill>
              </a:rPr>
              <a:t>Спасибо за внимание!</a:t>
            </a:r>
            <a:endParaRPr lang="ru-RU" sz="2000">
              <a:solidFill>
                <a:schemeClr val="accent5"/>
              </a:solidFill>
            </a:endParaRPr>
          </a:p>
        </p:txBody>
      </p:sp>
      <p:pic>
        <p:nvPicPr>
          <p:cNvPr id="2065220023" name="Picture 2065220022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0560"/>
            <a:ext cx="1463040" cy="146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22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5220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5220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522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65920140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669354889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2043882463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59850212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0451759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Загружаете таблицу, и сервис сам предлагает выводы с цифрами из неё. Цифры считает программа, модель выбирает и формулирует.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59197431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dirty="0" err="1">
                <a:solidFill>
                  <a:srgbClr val="1C1D22"/>
                </a:solidFill>
              </a:rPr>
              <a:t>Отмеченные выводы становятся слайдами с диаграммами. Под цифрой подпись: столбец и строки таблицы, откуда она взята.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485363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Смысл данных</a:t>
            </a:r>
            <a:endParaRPr lang="ru-RU"/>
          </a:p>
        </p:txBody>
      </p:sp>
      <p:pic>
        <p:nvPicPr>
          <p:cNvPr id="2043882464" name="Picture 2043882463" descr="lct_live_4121x22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642" y="1577998"/>
            <a:ext cx="4121688" cy="2283975"/>
          </a:xfrm>
          <a:prstGeom prst="rect">
            <a:avLst/>
          </a:prstGeom>
        </p:spPr>
      </p:pic>
      <p:pic>
        <p:nvPicPr>
          <p:cNvPr id="2043882465" name="Picture 2043882464" descr="lct_voice_4121x22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540" y="1577998"/>
            <a:ext cx="4121688" cy="2283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73812294" name="Скругленный прямоугольник 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00372309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20462955" name="Текст 3"/>
          <p:cNvSpPr>
            <a:spLocks noGrp="1"/>
          </p:cNvSpPr>
          <p:nvPr>
            <p:ph type="body" sz="quarter" idx="15"/>
          </p:nvPr>
        </p:nvSpPr>
        <p:spPr bwMode="auto">
          <a:xfrm>
            <a:off x="1737360" y="6053328"/>
            <a:ext cx="8686800" cy="457200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Полная запись экрана без монтажа, 5 минут: таблицы и выводы, дизайн-система, презентация, советы, правка голосом и живой режим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2020077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Полное демо</a:t>
            </a:r>
            <a:endParaRPr lang="ru-RU"/>
          </a:p>
        </p:txBody>
      </p:sp>
      <p:pic>
        <p:nvPicPr>
          <p:cNvPr id="1920462956" name="voicedeck-demo-take2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7360" y="1097280"/>
            <a:ext cx="8686800" cy="4882896"/>
          </a:xfrm>
          <a:prstGeom prst="roundRect">
            <a:avLst>
              <a:gd name="adj" fmla="val 2000"/>
            </a:avLst>
          </a:prstGeom>
          <a:effectLst>
            <a:outerShdw blurRad="228600" dist="50800" dir="5400000" algn="t" rotWithShape="0">
              <a:srgbClr val="1A2B4C">
                <a:alpha val="22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46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2046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5634" fill="hold"/>
                                        <p:tgtEl>
                                          <p:spTgt spid="19204629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920462956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Модели</a:t>
            </a:r>
            <a:endParaRPr lang="ru-RU"/>
          </a:p>
        </p:txBody>
      </p:sp>
      <p:graphicFrame>
        <p:nvGraphicFramePr>
          <p:cNvPr id="1261465022" name="Table 1261465021"/>
          <p:cNvGraphicFramePr>
            <a:graphicFrameLocks noGrp="1"/>
          </p:cNvGraphicFramePr>
          <p:nvPr/>
        </p:nvGraphicFramePr>
        <p:xfrm>
          <a:off x="346075" y="1180000"/>
          <a:ext cx="11499850" cy="44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0000"/>
                <a:gridCol w="7799850"/>
              </a:tblGrid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Модель</a:t>
                      </a:r>
                    </a:p>
                  </a:txBody>
                  <a:tcPr marL="110000" marR="110000" marT="45000" marB="45000">
                    <a:solidFill>
                      <a:srgbClr val="5209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Для чего</a:t>
                      </a:r>
                    </a:p>
                  </a:txBody>
                  <a:tcPr marL="110000" marR="110000" marT="45000" marB="45000">
                    <a:solidFill>
                      <a:srgbClr val="520978"/>
                    </a:solidFill>
                  </a:tcPr>
                </a:tc>
              </a:tr>
              <a:tr h="400000">
                <a:tc gridSpan="2"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10F53"/>
                          </a:solidFill>
                          <a:latin typeface="Montserrat"/>
                        </a:rPr>
                        <a:t>В сервисе</a:t>
                      </a:r>
                    </a:p>
                  </a:txBody>
                  <a:tcPr marL="110000" marR="110000" marT="45000" marB="45000">
                    <a:solidFill>
                      <a:srgbClr val="FFD6E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Qwen3.8-27B, инференс VK или LM Studio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План и текст слайдов, выводы из таблицы, чтение таблицы с картинки, советы по колоде, проверка каждого слайда по картинке, команды правки голосом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FLUX.2 klein 4B и Qwen3-4B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Картинки в слайдах. Qwen3-4B переводит описание кадра в запрос для FLUX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GigaAM v3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Распознаёт русскую речь в живом режиме и в правке голосом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Silero VAD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Находит паузы, где кончается фраза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bge-m3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Делит речь на смысловые фрагменты, из каждого получается слайд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  <a:tr h="400000">
                <a:tc gridSpan="2"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10F53"/>
                          </a:solidFill>
                          <a:latin typeface="Montserrat"/>
                        </a:rPr>
                        <a:t>Озвучка демо-видео, в сервис не входят</a:t>
                      </a:r>
                    </a:p>
                  </a:txBody>
                  <a:tcPr marL="110000" marR="110000" marT="45000" marB="45000">
                    <a:solidFill>
                      <a:srgbClr val="FFD6E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Higgs TTS 3 4B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Голоса двух ведущих по образцам голоса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RUAccent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Ставит ударения в репликах ведущих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D22"/>
                          </a:solidFill>
                          <a:latin typeface="Montserrat"/>
                        </a:rPr>
                        <a:t>Whisper large-v3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Проверяет каждый дубль озвучки, в видео идёт лучший</a:t>
                      </a:r>
                    </a:p>
                  </a:txBody>
                  <a:tcPr marL="110000" marR="110000" marT="45000" marB="4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863</Words>
  <Application>Microsoft Office PowerPoint</Application>
  <PresentationFormat>Широкоэкранный</PresentationFormat>
  <Paragraphs>132</Paragraphs>
  <Slides>14</Slides>
  <Notes>14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Команда профессионалов</vt:lpstr>
      <vt:lpstr>voiceDeck</vt:lpstr>
      <vt:lpstr>Состав команды</vt:lpstr>
      <vt:lpstr>О команде</vt:lpstr>
      <vt:lpstr>КОРОТКО О РЕШЕНИИ</vt:lpstr>
      <vt:lpstr>Проблема и решение</vt:lpstr>
      <vt:lpstr>Как работает</vt:lpstr>
      <vt:lpstr>Архитектура пайплайна</vt:lpstr>
      <vt:lpstr>Архитектура аудита</vt:lpstr>
      <vt:lpstr>Киллер-фичи</vt:lpstr>
      <vt:lpstr>Демо</vt:lpstr>
      <vt:lpstr>Дальнейшее масштабирование</vt:lpstr>
      <vt:lpstr>Стек технологий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команды профессионалов для защиты решения</dc:title>
  <dc:subject>Кейс VK Tech «Цифровой дизайнер презентаций», ЛЦТ 2026</dc:subject>
  <dc:creator>Анастасия Юшкова</dc:creator>
  <cp:lastModifiedBy>Андрей Власов</cp:lastModifiedBy>
  <cp:revision>98</cp:revision>
  <dcterms:created xsi:type="dcterms:W3CDTF">2023-05-15T07:36:23Z</dcterms:created>
  <dcterms:modified xsi:type="dcterms:W3CDTF">2026-09-29T19:49:44Z</dcterms:modified>
</cp:coreProperties>
</file>