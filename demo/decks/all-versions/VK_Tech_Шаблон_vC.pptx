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Инциденты в месяц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Было (пакетная)</c:v>
                </c:pt>
                <c:pt idx="1">
                  <c:v>Стало (потоковая)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</c:v>
                </c:pt>
                <c:pt idx="1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шт.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Доброе утро. Сегодня мы обсуждаем переход от пакетной к потоковой загрузке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Сначала посмотрим на проблему, затем на цифры пилота и в конце обсудим шаги.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Текущий процесс не соответствует потребностям быстрого принятия решений.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 ключевое улучшение для всех направлений, использующих эти отчёты.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Снижение числа сбоев с 9 до 2 в месяц подтверждает надёжность нового подхода.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Скорость внедрения позволяет планировать масштабирование без длительных простоев.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 разумная инвестиция в стабильность и скорость получения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Сравнение наглядно показывает преимущества нового метода.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будем двигаться по проверенному сценарию пилота.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Каждый этап имеет контрольные точки для отчётности.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 ключевой аргумент для всех директоров направлений.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Ждём вашего подтверждения для запуска следующего этапа.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Открываю слово для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1.xml"/><Relationship Id="rId8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en-US" sz="1400"/>
              <a:t xml:space="preserve">Масштабирование успешного пилота потоковой загрузки ночных отчётов на все витрины для ускорения доступа к данным</a:t>
            </a:r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900"/>
              <a:t xml:space="preserve">Предлагаем масштабировать успешный пилот на все витрины для ускорения доступа к данным.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51" name="Google Shape;851;p60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60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60"/>
          <p:cNvSpPr/>
          <p:nvPr/>
        </p:nvSpPr>
        <p:spPr>
          <a:xfrm>
            <a:off x="285749" y="1209852"/>
            <a:ext cx="6648415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60"/>
          <p:cNvSpPr/>
          <p:nvPr/>
        </p:nvSpPr>
        <p:spPr>
          <a:xfrm>
            <a:off x="285749" y="1209852"/>
            <a:ext cx="6648415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60"/>
          <p:cNvSpPr/>
          <p:nvPr/>
        </p:nvSpPr>
        <p:spPr>
          <a:xfrm>
            <a:off x="438148" y="1819373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Проблема: отчёты приходят слишком поздно для решений</a:t>
            </a:r>
          </a:p>
        </p:txBody>
      </p:sp>
      <p:sp>
        <p:nvSpPr>
          <p:cNvPr id="862" name="Google Shape;862;p60"/>
          <p:cNvSpPr/>
          <p:nvPr/>
        </p:nvSpPr>
        <p:spPr>
          <a:xfrm>
            <a:off x="3809981" y="1819373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Результаты: показатели улучшились на двух тестовых витринах</a:t>
            </a:r>
          </a:p>
        </p:txBody>
      </p:sp>
      <p:sp>
        <p:nvSpPr>
          <p:cNvPr id="863" name="Google Shape;863;p60"/>
          <p:cNvSpPr/>
          <p:nvPr/>
        </p:nvSpPr>
        <p:spPr>
          <a:xfrm>
            <a:off x="285749" y="2883653"/>
            <a:ext cx="6648415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60"/>
          <p:cNvSpPr/>
          <p:nvPr/>
        </p:nvSpPr>
        <p:spPr>
          <a:xfrm>
            <a:off x="438148" y="3493174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План: перевод оставшихся 14 витрин до конца квартала</a:t>
            </a:r>
          </a:p>
        </p:txBody>
      </p:sp>
      <p:sp>
        <p:nvSpPr>
          <p:cNvPr id="871" name="Google Shape;871;p60"/>
          <p:cNvSpPr/>
          <p:nvPr/>
        </p:nvSpPr>
        <p:spPr>
          <a:xfrm>
            <a:off x="3809981" y="3493174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Решение: согласование бюджета и сроков перевода</a:t>
            </a:r>
          </a:p>
        </p:txBody>
      </p:sp>
      <p:sp>
        <p:nvSpPr>
          <p:cNvPr id="872" name="Google Shape;872;p60"/>
          <p:cNvSpPr txBox="1"/>
          <p:nvPr>
            <p:ph type="title"/>
          </p:nvPr>
        </p:nvSpPr>
        <p:spPr>
          <a:xfrm>
            <a:off x="177971" y="282949"/>
            <a:ext cx="5025400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Обсуждаем проблемы, итоги пилота и план масштабирования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74" name="Google Shape;774;p58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58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58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58"/>
          <p:cNvSpPr/>
          <p:nvPr/>
        </p:nvSpPr>
        <p:spPr>
          <a:xfrm>
            <a:off x="285749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58"/>
          <p:cNvSpPr/>
          <p:nvPr/>
        </p:nvSpPr>
        <p:spPr>
          <a:xfrm>
            <a:off x="438148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58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58"/>
          <p:cNvSpPr/>
          <p:nvPr/>
        </p:nvSpPr>
        <p:spPr>
          <a:xfrm>
            <a:off x="438148" y="1590803"/>
            <a:ext cx="253998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Поздний доступ к данным</a:t>
            </a:r>
          </a:p>
        </p:txBody>
      </p:sp>
      <p:sp>
        <p:nvSpPr>
          <p:cNvPr id="781" name="Google Shape;781;p58"/>
          <p:cNvSpPr/>
          <p:nvPr/>
        </p:nvSpPr>
        <p:spPr>
          <a:xfrm>
            <a:off x="438148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Отчёт по продажам готов только к 11 утра.</a:t>
            </a:r>
          </a:p>
        </p:txBody>
      </p:sp>
      <p:sp>
        <p:nvSpPr>
          <p:cNvPr id="782" name="Google Shape;782;p58"/>
          <p:cNvSpPr/>
          <p:nvPr/>
        </p:nvSpPr>
        <p:spPr>
          <a:xfrm>
            <a:off x="3174985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58"/>
          <p:cNvSpPr/>
          <p:nvPr/>
        </p:nvSpPr>
        <p:spPr>
          <a:xfrm>
            <a:off x="3327384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58"/>
          <p:cNvSpPr/>
          <p:nvPr/>
        </p:nvSpPr>
        <p:spPr>
          <a:xfrm>
            <a:off x="332738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58"/>
          <p:cNvSpPr/>
          <p:nvPr/>
        </p:nvSpPr>
        <p:spPr>
          <a:xfrm>
            <a:off x="3327384" y="1590803"/>
            <a:ext cx="2539986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Риск опозданий</a:t>
            </a:r>
          </a:p>
        </p:txBody>
      </p:sp>
      <p:sp>
        <p:nvSpPr>
          <p:cNvPr id="786" name="Google Shape;786;p58"/>
          <p:cNvSpPr/>
          <p:nvPr/>
        </p:nvSpPr>
        <p:spPr>
          <a:xfrm>
            <a:off x="3327384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Часто возникают инциденты с задержкой отчёта.</a:t>
            </a:r>
          </a:p>
        </p:txBody>
      </p:sp>
      <p:sp>
        <p:nvSpPr>
          <p:cNvPr id="787" name="Google Shape;787;p58"/>
          <p:cNvSpPr/>
          <p:nvPr/>
        </p:nvSpPr>
        <p:spPr>
          <a:xfrm>
            <a:off x="6064222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58"/>
          <p:cNvSpPr/>
          <p:nvPr/>
        </p:nvSpPr>
        <p:spPr>
          <a:xfrm>
            <a:off x="6216621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8"/>
          <p:cNvSpPr/>
          <p:nvPr/>
        </p:nvSpPr>
        <p:spPr>
          <a:xfrm>
            <a:off x="621662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58"/>
          <p:cNvSpPr/>
          <p:nvPr/>
        </p:nvSpPr>
        <p:spPr>
          <a:xfrm>
            <a:off x="6216621" y="1590803"/>
            <a:ext cx="2539986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Ограничение гибкости</a:t>
            </a:r>
          </a:p>
        </p:txBody>
      </p:sp>
      <p:sp>
        <p:nvSpPr>
          <p:cNvPr id="791" name="Google Shape;791;p58"/>
          <p:cNvSpPr/>
          <p:nvPr/>
        </p:nvSpPr>
        <p:spPr>
          <a:xfrm>
            <a:off x="6216621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Пакетный подход не позволяет обновлять данные в реальном времени.</a:t>
            </a:r>
          </a:p>
        </p:txBody>
      </p:sp>
      <p:sp>
        <p:nvSpPr>
          <p:cNvPr id="792" name="Google Shape;792;p58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Пакетная загрузка задерживает доступ к данным до 11 утра, снижая оперативность управления продажами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Переход на потоковую загрузку сокращает время готовности отчёта с 11:00 до 8:30, обеспечивая доступ к данным на 2.5 часа раньше.</a:t>
            </a:r>
          </a:p>
        </p:txBody>
      </p:sp>
      <p:sp>
        <p:nvSpPr>
          <p:cNvPr id="2252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b="1" i="0" lang="en-US" sz="515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 xml:space="preserve">11:00</a:t>
            </a:r>
          </a:p>
        </p:txBody>
      </p:sp>
      <p:sp>
        <p:nvSpPr>
          <p:cNvPr id="2253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lang="en-US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4" name="Google Shape;2254;p83"/>
          <p:cNvSpPr txBox="1"/>
          <p:nvPr/>
        </p:nvSpPr>
        <p:spPr>
          <a:xfrm>
            <a:off x="256559" y="3689483"/>
            <a:ext cx="431544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8:30 — новое время готовности отчёта по продажам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Число инцидентов с опозданием снизилось в 4.5 раза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734641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Пилот завершён за 6 недель, что доказывает управляемость процесса внедрения</a:t>
            </a:r>
          </a:p>
        </p:txBody>
      </p:sp>
      <p:sp>
        <p:nvSpPr>
          <p:cNvPr id="2252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b="1" i="0" lang="en-US" sz="125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 xml:space="preserve">6</a:t>
            </a:r>
          </a:p>
        </p:txBody>
      </p:sp>
      <p:sp>
        <p:nvSpPr>
          <p:cNvPr id="2253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lang="en-US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4" name="Google Shape;2254;p83"/>
          <p:cNvSpPr txBox="1"/>
          <p:nvPr/>
        </p:nvSpPr>
        <p:spPr>
          <a:xfrm>
            <a:off x="256559" y="3689483"/>
            <a:ext cx="431544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6 недель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Рост затрат на инфраструктуру на 12 % компенсируется повышением эффективности</a:t>
            </a:r>
          </a:p>
        </p:txBody>
      </p:sp>
      <p:sp>
        <p:nvSpPr>
          <p:cNvPr id="2252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b="1" i="0" lang="en-US" sz="6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 xml:space="preserve">12 %</a:t>
            </a:r>
          </a:p>
        </p:txBody>
      </p:sp>
      <p:sp>
        <p:nvSpPr>
          <p:cNvPr id="2253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lang="en-US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4" name="Google Shape;2254;p83"/>
          <p:cNvSpPr txBox="1"/>
          <p:nvPr/>
        </p:nvSpPr>
        <p:spPr>
          <a:xfrm>
            <a:off x="256559" y="3689483"/>
            <a:ext cx="431544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Прирост затрат на инфраструктуру составляет 12 %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5"/>
          <p:cNvSpPr/>
          <p:nvPr/>
        </p:nvSpPr>
        <p:spPr>
          <a:xfrm>
            <a:off x="285749" y="1209852"/>
            <a:ext cx="4238603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55"/>
          <p:cNvSpPr/>
          <p:nvPr/>
        </p:nvSpPr>
        <p:spPr>
          <a:xfrm>
            <a:off x="597554" y="1362233"/>
            <a:ext cx="3614991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5"/>
          <p:cNvSpPr/>
          <p:nvPr/>
        </p:nvSpPr>
        <p:spPr>
          <a:xfrm>
            <a:off x="637405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5"/>
          <p:cNvSpPr/>
          <p:nvPr/>
        </p:nvSpPr>
        <p:spPr>
          <a:xfrm>
            <a:off x="597554" y="1590803"/>
            <a:ext cx="371892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Пакетная загрузка</a:t>
            </a:r>
          </a:p>
        </p:txBody>
      </p:sp>
      <p:sp>
        <p:nvSpPr>
          <p:cNvPr id="669" name="Google Shape;669;p55"/>
          <p:cNvSpPr/>
          <p:nvPr/>
        </p:nvSpPr>
        <p:spPr>
          <a:xfrm>
            <a:off x="597554" y="1819373"/>
            <a:ext cx="3692943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Отчёт готов к 11:00, 9 инцидентов в месяц.</a:t>
            </a:r>
          </a:p>
        </p:txBody>
      </p:sp>
      <p:sp>
        <p:nvSpPr>
          <p:cNvPr id="670" name="Google Shape;670;p55"/>
          <p:cNvSpPr/>
          <p:nvPr/>
        </p:nvSpPr>
        <p:spPr>
          <a:xfrm>
            <a:off x="4619601" y="1209852"/>
            <a:ext cx="4238603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5"/>
          <p:cNvSpPr/>
          <p:nvPr/>
        </p:nvSpPr>
        <p:spPr>
          <a:xfrm>
            <a:off x="4931406" y="1362233"/>
            <a:ext cx="3614991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5"/>
          <p:cNvSpPr/>
          <p:nvPr/>
        </p:nvSpPr>
        <p:spPr>
          <a:xfrm>
            <a:off x="497125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55"/>
          <p:cNvSpPr/>
          <p:nvPr/>
        </p:nvSpPr>
        <p:spPr>
          <a:xfrm>
            <a:off x="4931406" y="1590803"/>
            <a:ext cx="371892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Потоковая загрузка</a:t>
            </a:r>
          </a:p>
        </p:txBody>
      </p:sp>
      <p:sp>
        <p:nvSpPr>
          <p:cNvPr id="674" name="Google Shape;674;p55"/>
          <p:cNvSpPr/>
          <p:nvPr/>
        </p:nvSpPr>
        <p:spPr>
          <a:xfrm>
            <a:off x="4931406" y="1819373"/>
            <a:ext cx="3692943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Отчёт готов к 8:30, 2 инцидента в месяц.</a:t>
            </a:r>
          </a:p>
        </p:txBody>
      </p:sp>
      <p:sp>
        <p:nvSpPr>
          <p:cNvPr id="685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Потоковая загрузка превосходит пакетную по срокам: отчёт готов к 8:30 против 11:00, а инцидентов — 2 против 9 в месяц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07" name="Google Shape;1107;p68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68"/>
          <p:cNvSpPr/>
          <p:nvPr/>
        </p:nvSpPr>
        <p:spPr>
          <a:xfrm>
            <a:off x="-190499" y="1238424"/>
            <a:ext cx="9529712" cy="3664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8"/>
          <p:cNvSpPr txBox="1"/>
          <p:nvPr>
            <p:ph type="title"/>
          </p:nvPr>
        </p:nvSpPr>
        <p:spPr>
          <a:xfrm>
            <a:off x="177971" y="282949"/>
            <a:ext cx="5119243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Поэтапный перевод 14 витрин минимизирует риски и обеспечивает контроль качества</a:t>
            </a:r>
          </a:p>
        </p:txBody>
      </p:sp>
      <p:sp>
        <p:nvSpPr>
          <p:cNvPr id="1110" name="Google Shape;1110;p68"/>
          <p:cNvSpPr/>
          <p:nvPr/>
        </p:nvSpPr>
        <p:spPr>
          <a:xfrm>
            <a:off x="663829" y="3070440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Последовательный перевод</a:t>
            </a:r>
          </a:p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Перенос каждой группы с проверкой стабильности.</a:t>
            </a:r>
          </a:p>
        </p:txBody>
      </p:sp>
      <p:sp>
        <p:nvSpPr>
          <p:cNvPr id="1111" name="Google Shape;1111;p68"/>
          <p:cNvSpPr/>
          <p:nvPr/>
        </p:nvSpPr>
        <p:spPr>
          <a:xfrm rot="186848">
            <a:off x="2492628" y="3773224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lang="en-US" sz="1322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12" name="Google Shape;1112;p68"/>
          <p:cNvSpPr/>
          <p:nvPr/>
        </p:nvSpPr>
        <p:spPr>
          <a:xfrm rot="-234392">
            <a:off x="5232954" y="2869689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Группировка витрин</a:t>
            </a:r>
          </a:p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Разделение 14 витрин на логические пакеты.</a:t>
            </a:r>
          </a:p>
        </p:txBody>
      </p:sp>
      <p:sp>
        <p:nvSpPr>
          <p:cNvPr id="1113" name="Google Shape;1113;p68"/>
          <p:cNvSpPr/>
          <p:nvPr/>
        </p:nvSpPr>
        <p:spPr>
          <a:xfrm rot="492491">
            <a:off x="6989867" y="3659580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Финальная валидация</a:t>
            </a:r>
          </a:p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Проверка всех витрин до конца квартала.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428" name="Google Shape;2428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732082"/>
            <a:ext cx="8515008" cy="92615"/>
          </a:xfrm>
          <a:prstGeom prst="rect">
            <a:avLst/>
          </a:prstGeom>
          <a:noFill/>
          <a:ln>
            <a:noFill/>
          </a:ln>
        </p:spPr>
      </p:pic>
      <p:sp>
        <p:nvSpPr>
          <p:cNvPr id="2429" name="Google Shape;2429;p89"/>
          <p:cNvSpPr/>
          <p:nvPr/>
        </p:nvSpPr>
        <p:spPr>
          <a:xfrm>
            <a:off x="553415" y="1828897"/>
            <a:ext cx="2232516" cy="149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p89"/>
          <p:cNvSpPr/>
          <p:nvPr/>
        </p:nvSpPr>
        <p:spPr>
          <a:xfrm>
            <a:off x="3565736" y="1828897"/>
            <a:ext cx="2232516" cy="149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2" name="Google Shape;2432;p89"/>
          <p:cNvSpPr/>
          <p:nvPr/>
        </p:nvSpPr>
        <p:spPr>
          <a:xfrm>
            <a:off x="3565736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89"/>
          <p:cNvSpPr/>
          <p:nvPr/>
        </p:nvSpPr>
        <p:spPr>
          <a:xfrm>
            <a:off x="6578067" y="1828897"/>
            <a:ext cx="2232516" cy="149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4" name="Google Shape;2434;p89"/>
          <p:cNvSpPr/>
          <p:nvPr/>
        </p:nvSpPr>
        <p:spPr>
          <a:xfrm>
            <a:off x="6578067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График перевода витрин за шесть недель обеспечивает контроль прогресса и управление рисками</a:t>
            </a:r>
          </a:p>
        </p:txBody>
      </p:sp>
      <p:sp>
        <p:nvSpPr>
          <p:cNvPr id="2436" name="Google Shape;2436;p89"/>
          <p:cNvSpPr/>
          <p:nvPr/>
        </p:nvSpPr>
        <p:spPr>
          <a:xfrm>
            <a:off x="511399" y="2111328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lang="en-US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37" name="Google Shape;2437;p89"/>
          <p:cNvSpPr/>
          <p:nvPr/>
        </p:nvSpPr>
        <p:spPr>
          <a:xfrm>
            <a:off x="511399" y="232862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Недели 1-2: первая группа витрин</a:t>
            </a:r>
          </a:p>
        </p:txBody>
      </p:sp>
      <p:sp>
        <p:nvSpPr>
          <p:cNvPr id="2439" name="Google Shape;2439;p89"/>
          <p:cNvSpPr/>
          <p:nvPr/>
        </p:nvSpPr>
        <p:spPr>
          <a:xfrm>
            <a:off x="3565736" y="2111328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lang="en-US" sz="18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40" name="Google Shape;2440;p89"/>
          <p:cNvSpPr/>
          <p:nvPr/>
        </p:nvSpPr>
        <p:spPr>
          <a:xfrm>
            <a:off x="3544728" y="232862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Недели 3-4: вторая группа витрин</a:t>
            </a:r>
          </a:p>
        </p:txBody>
      </p:sp>
      <p:sp>
        <p:nvSpPr>
          <p:cNvPr id="2442" name="Google Shape;2442;p89"/>
          <p:cNvSpPr/>
          <p:nvPr/>
        </p:nvSpPr>
        <p:spPr>
          <a:xfrm>
            <a:off x="6578057" y="211197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lang="en-US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43" name="Google Shape;2443;p89"/>
          <p:cNvSpPr/>
          <p:nvPr/>
        </p:nvSpPr>
        <p:spPr>
          <a:xfrm>
            <a:off x="6578057" y="232862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Недели 5-6: завершение и тесты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7" name="Google Shape;417;p44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</a:pPr>
            <a:r>
              <a:rPr lang="en-US" sz="2450"/>
              <a:t xml:space="preserve">Ранний доступ к точным данным ускоряет принятие решений по продажам</a:t>
            </a:r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en-US"/>
          </a:p>
        </p:txBody>
      </p:sp>
      <p:grpSp>
        <p:nvGrpSpPr>
          <p:cNvPr id="419" name="Google Shape;419;p44"/>
          <p:cNvGrpSpPr/>
          <p:nvPr/>
        </p:nvGrpSpPr>
        <p:grpSpPr>
          <a:xfrm>
            <a:off x="282380" y="3403462"/>
            <a:ext cx="1195387" cy="99124"/>
            <a:chOff x="658813" y="5548708"/>
            <a:chExt cx="2283170" cy="189326"/>
          </a:xfrm>
        </p:grpSpPr>
        <p:sp>
          <p:nvSpPr>
            <p:cNvPr id="420" name="Google Shape;420;p44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8" name="Google Shape;438;p4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lang="en-US" sz="2950"/>
              <a:t xml:space="preserve">Согласуйте перевод 14 витрин до конца квартала для получения преимуществ</a:t>
            </a:r>
          </a:p>
        </p:txBody>
      </p:sp>
      <p:sp>
        <p:nvSpPr>
          <p:cNvPr id="439" name="Google Shape;439;p46"/>
          <p:cNvSpPr txBox="1"/>
          <p:nvPr>
            <p:ph idx="1" type="body"/>
          </p:nvPr>
        </p:nvSpPr>
        <p:spPr>
          <a:xfrm>
            <a:off x="1430534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400"/>
              <a:t xml:space="preserve">Перевод 14 витрин до конца квартала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en-US" sz="1950"/>
              <a:t xml:space="preserve">Готовы ответить на вопросы и обсудить детали внедрения</a:t>
            </a:r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