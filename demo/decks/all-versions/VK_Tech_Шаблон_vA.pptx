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в месяц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Было (пакетная)</c:v>
                </c:pt>
                <c:pt idx="1">
                  <c:v>Стало (потоковая)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шт.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Доброе утро. Сегодня мы обсуждаем переход от пакетной к потоковой загрузке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Сначала посмотрим на проблему, затем на цифры пилота и в конце обсудим шаги.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Текущий процесс не соответствует потребностям быстрого принятия решений.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ключевое улучшение для всех направлений, использующих эти отчёты.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Снижение числа сбоев с 9 до 2 в месяц подтверждает надёжность нового подхода.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Скорость внедрения позволяет планировать масштабирование без длительных простоев.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разумная инвестиция в стабильность и скорость получения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Сравнение наглядно показывает преимущества нового метода.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будем двигаться по проверенному сценарию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Каждый этап имеет контрольные точки для отчётности.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ключевой аргумент для всех директоров направлений.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Ждём вашего подтверждения для запуска следующего этапа.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Открываю слово для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26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image" Target="../media/image227.png"/><Relationship Id="rId9" Type="http://schemas.openxmlformats.org/officeDocument/2006/relationships/image" Target="../media/image228.png"/><Relationship Id="rId10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1350"/>
              <a:t xml:space="preserve">Масштабирование успешного пилота по потоковой загрузке ночных отчётов на все витрины для ускорения доступа к данным</a:t>
            </a:r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900"/>
              <a:t xml:space="preserve">Предлагаем масштабировать успешный пилот на все витрины для ускорения доступа к данным.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438148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Текущая проблема</a:t>
            </a:r>
          </a:p>
        </p:txBody>
      </p:sp>
      <p:sp>
        <p:nvSpPr>
          <p:cNvPr id="669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Отчёты приходят слишком поздно для утренних решений.</a:t>
            </a:r>
          </a:p>
        </p:txBody>
      </p:sp>
      <p:sp>
        <p:nvSpPr>
          <p:cNvPr id="670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5"/>
          <p:cNvSpPr/>
          <p:nvPr/>
        </p:nvSpPr>
        <p:spPr>
          <a:xfrm>
            <a:off x="2605074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Результаты пилота</a:t>
            </a:r>
          </a:p>
        </p:txBody>
      </p:sp>
      <p:sp>
        <p:nvSpPr>
          <p:cNvPr id="674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Показатели улучшились на двух тестовых витринах.</a:t>
            </a:r>
          </a:p>
        </p:txBody>
      </p:sp>
      <p:sp>
        <p:nvSpPr>
          <p:cNvPr id="675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5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5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5"/>
          <p:cNvSpPr/>
          <p:nvPr/>
        </p:nvSpPr>
        <p:spPr>
          <a:xfrm>
            <a:off x="4772001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План масштабирования</a:t>
            </a:r>
          </a:p>
        </p:txBody>
      </p:sp>
      <p:sp>
        <p:nvSpPr>
          <p:cNvPr id="679" name="Google Shape;679;p55"/>
          <p:cNvSpPr/>
          <p:nvPr/>
        </p:nvSpPr>
        <p:spPr>
          <a:xfrm>
            <a:off x="4772001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Перевод оставшихся 14 витрин до конца квартала.</a:t>
            </a:r>
          </a:p>
        </p:txBody>
      </p:sp>
      <p:sp>
        <p:nvSpPr>
          <p:cNvPr id="680" name="Google Shape;680;p55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5"/>
          <p:cNvSpPr/>
          <p:nvPr/>
        </p:nvSpPr>
        <p:spPr>
          <a:xfrm>
            <a:off x="6938927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5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5"/>
          <p:cNvSpPr/>
          <p:nvPr/>
        </p:nvSpPr>
        <p:spPr>
          <a:xfrm>
            <a:off x="6938927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Требуемое решение</a:t>
            </a:r>
          </a:p>
        </p:txBody>
      </p:sp>
      <p:sp>
        <p:nvSpPr>
          <p:cNvPr id="684" name="Google Shape;684;p55"/>
          <p:cNvSpPr/>
          <p:nvPr/>
        </p:nvSpPr>
        <p:spPr>
          <a:xfrm>
            <a:off x="6938927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Согласование бюджета и сроков перевода.</a:t>
            </a:r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Сегодня обсудим текущие проблемы, результаты пилота и план масштабирования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8" name="Google Shape;878;p61"/>
          <p:cNvSpPr/>
          <p:nvPr/>
        </p:nvSpPr>
        <p:spPr>
          <a:xfrm>
            <a:off x="285749" y="1243185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1"/>
          <p:cNvSpPr/>
          <p:nvPr/>
        </p:nvSpPr>
        <p:spPr>
          <a:xfrm>
            <a:off x="285749" y="1243185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0" name="Google Shape;880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3" y="1405089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1" name="Google Shape;881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88" y="1423117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61"/>
          <p:cNvSpPr/>
          <p:nvPr/>
        </p:nvSpPr>
        <p:spPr>
          <a:xfrm>
            <a:off x="285749" y="2047943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1"/>
          <p:cNvSpPr/>
          <p:nvPr/>
        </p:nvSpPr>
        <p:spPr>
          <a:xfrm>
            <a:off x="285749" y="2047943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4" name="Google Shape;884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3" y="2209847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5" name="Google Shape;885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388" y="2227875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61"/>
          <p:cNvSpPr/>
          <p:nvPr/>
        </p:nvSpPr>
        <p:spPr>
          <a:xfrm>
            <a:off x="285749" y="2852700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1"/>
          <p:cNvSpPr/>
          <p:nvPr/>
        </p:nvSpPr>
        <p:spPr>
          <a:xfrm>
            <a:off x="285749" y="2852700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8" name="Google Shape;888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673" y="3014604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9" name="Google Shape;889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388" y="3032632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00"/>
              <a:t xml:space="preserve">Пакетная загрузка задерживает доступ к данным до 11 утра, снижая оперативность управления продажами</a:t>
            </a:r>
          </a:p>
        </p:txBody>
      </p:sp>
      <p:sp>
        <p:nvSpPr>
          <p:cNvPr id="895" name="Google Shape;895;p61"/>
          <p:cNvSpPr/>
          <p:nvPr/>
        </p:nvSpPr>
        <p:spPr>
          <a:xfrm>
            <a:off x="1019170" y="1402177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Поздний доступ к данным</a:t>
            </a:r>
          </a:p>
        </p:txBody>
      </p:sp>
      <p:sp>
        <p:nvSpPr>
          <p:cNvPr id="896" name="Google Shape;896;p61"/>
          <p:cNvSpPr/>
          <p:nvPr/>
        </p:nvSpPr>
        <p:spPr>
          <a:xfrm>
            <a:off x="1019170" y="2218724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Риск опозданий</a:t>
            </a:r>
          </a:p>
        </p:txBody>
      </p:sp>
      <p:sp>
        <p:nvSpPr>
          <p:cNvPr id="897" name="Google Shape;897;p61"/>
          <p:cNvSpPr/>
          <p:nvPr/>
        </p:nvSpPr>
        <p:spPr>
          <a:xfrm>
            <a:off x="1019170" y="3024442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Ограничение гибкости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Переход на потоковую загрузку сокращает время готовности отчёта с 11:00 до 8:30, обеспечивая доступ к данным на 2.5 часа раньше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515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11:00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8:30 — новое время готовности отчёта по продажам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Число инцидентов с опозданием снизилось в 4.5 раза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734641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Пилот завершён за 6 недель, что доказывает управляемость процесса внедрения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125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6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6 недель — длительность пилота на двух витринах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Рост затрат на инфраструктуру на 12 % компенсируется повышением эффективности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6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Прирост затрат на инфраструктуру составляет 12 %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6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6"/>
          <p:cNvSpPr/>
          <p:nvPr/>
        </p:nvSpPr>
        <p:spPr>
          <a:xfrm>
            <a:off x="4048160" y="486418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загрузка</a:t>
            </a:r>
          </a:p>
        </p:txBody>
      </p:sp>
      <p:sp>
        <p:nvSpPr>
          <p:cNvPr id="1060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Отчёт готов к 11:00, 9 инцидентов в месяц.</a:t>
            </a:r>
          </a:p>
        </p:txBody>
      </p:sp>
      <p:sp>
        <p:nvSpPr>
          <p:cNvPr id="1061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6"/>
          <p:cNvSpPr/>
          <p:nvPr/>
        </p:nvSpPr>
        <p:spPr>
          <a:xfrm>
            <a:off x="4048160" y="1672317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</a:t>
            </a:r>
          </a:p>
        </p:txBody>
      </p:sp>
      <p:sp>
        <p:nvSpPr>
          <p:cNvPr id="1064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Отчёт готов к 8:30, 2 инцидента в месяц.</a:t>
            </a:r>
          </a:p>
        </p:txBody>
      </p:sp>
      <p:sp>
        <p:nvSpPr>
          <p:cNvPr id="1073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200"/>
              <a:t xml:space="preserve">Потоковая загрузка обеспечивает более раннюю и стабильную доставку отчётов по сравнению с пакетной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7" name="Google Shape;1107;p68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68"/>
          <p:cNvSpPr/>
          <p:nvPr/>
        </p:nvSpPr>
        <p:spPr>
          <a:xfrm>
            <a:off x="-190499" y="1238424"/>
            <a:ext cx="9529712" cy="366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8"/>
          <p:cNvSpPr txBox="1"/>
          <p:nvPr>
            <p:ph type="title"/>
          </p:nvPr>
        </p:nvSpPr>
        <p:spPr>
          <a:xfrm>
            <a:off x="177971" y="282949"/>
            <a:ext cx="5119243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Поэтапный перевод 14 витрин минимизирует риски и обеспечивает контроль качества</a:t>
            </a:r>
          </a:p>
        </p:txBody>
      </p:sp>
      <p:sp>
        <p:nvSpPr>
          <p:cNvPr id="1110" name="Google Shape;1110;p68"/>
          <p:cNvSpPr/>
          <p:nvPr/>
        </p:nvSpPr>
        <p:spPr>
          <a:xfrm>
            <a:off x="663829" y="3070440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Последовательный перевод</a:t>
            </a:r>
          </a:p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Перенос каждой группы с проверкой стабильности.</a:t>
            </a:r>
          </a:p>
        </p:txBody>
      </p:sp>
      <p:sp>
        <p:nvSpPr>
          <p:cNvPr id="1111" name="Google Shape;1111;p68"/>
          <p:cNvSpPr/>
          <p:nvPr/>
        </p:nvSpPr>
        <p:spPr>
          <a:xfrm rot="186848">
            <a:off x="2492628" y="3773224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lang="en-US" sz="1322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12" name="Google Shape;1112;p68"/>
          <p:cNvSpPr/>
          <p:nvPr/>
        </p:nvSpPr>
        <p:spPr>
          <a:xfrm rot="-234392">
            <a:off x="5232954" y="2869689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Группировка витрин</a:t>
            </a:r>
          </a:p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Разделение 14 витрин на логические пакеты.</a:t>
            </a:r>
          </a:p>
        </p:txBody>
      </p:sp>
      <p:sp>
        <p:nvSpPr>
          <p:cNvPr id="1113" name="Google Shape;1113;p68"/>
          <p:cNvSpPr/>
          <p:nvPr/>
        </p:nvSpPr>
        <p:spPr>
          <a:xfrm rot="492491">
            <a:off x="6989867" y="3659580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Финальная валидация</a:t>
            </a:r>
          </a:p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Проверка всех витрин до конца квартала.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7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7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57"/>
          <p:cNvSpPr/>
          <p:nvPr/>
        </p:nvSpPr>
        <p:spPr>
          <a:xfrm>
            <a:off x="285749" y="1209852"/>
            <a:ext cx="2793986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7"/>
          <p:cNvSpPr/>
          <p:nvPr/>
        </p:nvSpPr>
        <p:spPr>
          <a:xfrm>
            <a:off x="491283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7"/>
          <p:cNvSpPr/>
          <p:nvPr/>
        </p:nvSpPr>
        <p:spPr>
          <a:xfrm>
            <a:off x="50456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57"/>
          <p:cNvSpPr/>
          <p:nvPr/>
        </p:nvSpPr>
        <p:spPr>
          <a:xfrm>
            <a:off x="491283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Недели 1-2: первая группа витрин</a:t>
            </a:r>
          </a:p>
        </p:txBody>
      </p:sp>
      <p:sp>
        <p:nvSpPr>
          <p:cNvPr id="731" name="Google Shape;731;p57"/>
          <p:cNvSpPr/>
          <p:nvPr/>
        </p:nvSpPr>
        <p:spPr>
          <a:xfrm>
            <a:off x="491283" y="1819373"/>
            <a:ext cx="2434300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Перевод первой группы витрин</a:t>
            </a:r>
          </a:p>
        </p:txBody>
      </p:sp>
      <p:sp>
        <p:nvSpPr>
          <p:cNvPr id="732" name="Google Shape;732;p57"/>
          <p:cNvSpPr/>
          <p:nvPr/>
        </p:nvSpPr>
        <p:spPr>
          <a:xfrm>
            <a:off x="3174984" y="1209852"/>
            <a:ext cx="2793986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7"/>
          <p:cNvSpPr/>
          <p:nvPr/>
        </p:nvSpPr>
        <p:spPr>
          <a:xfrm>
            <a:off x="3380518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7"/>
          <p:cNvSpPr/>
          <p:nvPr/>
        </p:nvSpPr>
        <p:spPr>
          <a:xfrm>
            <a:off x="3393802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57"/>
          <p:cNvSpPr/>
          <p:nvPr/>
        </p:nvSpPr>
        <p:spPr>
          <a:xfrm>
            <a:off x="3380518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Недели 3-4: вторая группа витрин</a:t>
            </a:r>
          </a:p>
        </p:txBody>
      </p:sp>
      <p:sp>
        <p:nvSpPr>
          <p:cNvPr id="736" name="Google Shape;736;p57"/>
          <p:cNvSpPr/>
          <p:nvPr/>
        </p:nvSpPr>
        <p:spPr>
          <a:xfrm>
            <a:off x="3380518" y="1819373"/>
            <a:ext cx="2434300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Перевод второй группы витрин</a:t>
            </a:r>
          </a:p>
        </p:txBody>
      </p:sp>
      <p:sp>
        <p:nvSpPr>
          <p:cNvPr id="737" name="Google Shape;737;p57"/>
          <p:cNvSpPr/>
          <p:nvPr/>
        </p:nvSpPr>
        <p:spPr>
          <a:xfrm>
            <a:off x="6064218" y="1209852"/>
            <a:ext cx="2793986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57"/>
          <p:cNvSpPr/>
          <p:nvPr/>
        </p:nvSpPr>
        <p:spPr>
          <a:xfrm>
            <a:off x="6269754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7"/>
          <p:cNvSpPr/>
          <p:nvPr/>
        </p:nvSpPr>
        <p:spPr>
          <a:xfrm>
            <a:off x="628303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7"/>
          <p:cNvSpPr/>
          <p:nvPr/>
        </p:nvSpPr>
        <p:spPr>
          <a:xfrm>
            <a:off x="6269754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Недели 5-6: завершение и тесты</a:t>
            </a:r>
          </a:p>
        </p:txBody>
      </p:sp>
      <p:sp>
        <p:nvSpPr>
          <p:cNvPr id="741" name="Google Shape;741;p57"/>
          <p:cNvSpPr/>
          <p:nvPr/>
        </p:nvSpPr>
        <p:spPr>
          <a:xfrm>
            <a:off x="6269754" y="1819373"/>
            <a:ext cx="2434300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Завершение перевода и финальные тесты</a:t>
            </a:r>
          </a:p>
        </p:txBody>
      </p:sp>
      <p:sp>
        <p:nvSpPr>
          <p:cNvPr id="747" name="Google Shape;747;p57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График перевода витрин за шесть недель обеспечивает контроль прогресса и управление рисками до конца квартала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 sz="2450"/>
              <a:t xml:space="preserve">Ранний доступ к точным данным ускоряет принятие решений по продажам</a:t>
            </a:r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en-US"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8" name="Google Shape;438;p4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 sz="2950"/>
              <a:t xml:space="preserve">Согласуйте перевод 14 витрин до конца квартала для получения преимуществ</a:t>
            </a:r>
          </a:p>
        </p:txBody>
      </p:sp>
      <p:sp>
        <p:nvSpPr>
          <p:cNvPr id="439" name="Google Shape;439;p46"/>
          <p:cNvSpPr txBox="1"/>
          <p:nvPr>
            <p:ph idx="1" type="body"/>
          </p:nvPr>
        </p:nvSpPr>
        <p:spPr>
          <a:xfrm>
            <a:off x="1430534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400"/>
              <a:t xml:space="preserve">Перевод 14 витрин до конца квартала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 sz="1900"/>
              <a:t xml:space="preserve">Благодарим за уделённое время и внимание, мы полностью готовы ответить на ваши вопросы и детально обсудить все аспекты процесса внедрения</a:t>
            </a:r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en-US"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