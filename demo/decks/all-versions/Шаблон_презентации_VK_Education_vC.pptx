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день, коллеги. Сегодня я представлю инициативу по оптимизации процесса формирования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Главное преимущество инициативы — значительное сокращение времени ожидания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наглядно демонстрирует улучшение надёжности сервиса.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проект показал, что миграция возможна в сжатые сроки.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Стоимость перехода оправдана получением более свежих данных и высокой стабильности.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Эти четыре показателя формируют основу для масштабирования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Дорожная карта включает четыре ключевых этапа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Прямое сравнение моделей показывает преимущество нового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Инициатива напрямую влияет на продуктивность команд направлений.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Прошу вас поддержать инициативу и утвердить план работ.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Благодарю за время, готов к обсуждению.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6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600"/>
              <a:t xml:space="preserve">Масштабируем пилот на все витрины для ускорения получения данных.</a:t>
            </a:r>
          </a:p>
        </p:txBody>
      </p:sp>
      <p:sp>
        <p:nvSpPr>
          <p:cNvPr id="243" name="Google Shape;243;p34"/>
          <p:cNvSpPr txBox="1"/>
          <p:nvPr>
            <p:ph type="title"/>
          </p:nvPr>
        </p:nvSpPr>
        <p:spPr>
          <a:xfrm>
            <a:off x="622262" y="2598003"/>
            <a:ext cx="753542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250"/>
              <a:t xml:space="preserve">Перевод ночных отчётов на потоковую загрузку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Отчёты готовы на 2,5 часа раньше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Новое время готовности — данные доступны к началу рабочего дня.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Переход на потоковую загрузку сокращает время ожидания данных с 11:00 до 8:30 утра.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6" name="Google Shape;946;p7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Число инцидентов с опозданием снизилось в 4,5 раза</a:t>
            </a:r>
          </a:p>
        </p:txBody>
      </p:sp>
      <p:grpSp>
        <p:nvGrpSpPr>
          <p:cNvPr id="947" name="Google Shape;947;p75"/>
          <p:cNvGrpSpPr/>
          <p:nvPr/>
        </p:nvGrpSpPr>
        <p:grpSpPr>
          <a:xfrm>
            <a:off x="620176" y="1913757"/>
            <a:ext cx="11003859" cy="4036070"/>
            <a:chOff x="1361698" y="2081183"/>
            <a:chExt cx="10292923" cy="3775309"/>
          </a:xfrm>
        </p:grpSpPr>
        <p:grpSp>
          <p:nvGrpSpPr>
            <p:cNvPr id="965" name="Google Shape;965;p75"/>
            <p:cNvGrpSpPr/>
            <p:nvPr/>
          </p:nvGrpSpPr>
          <p:grpSpPr>
            <a:xfrm>
              <a:off x="2471370" y="2230394"/>
              <a:ext cx="8860528" cy="2553236"/>
              <a:chOff x="0" y="0"/>
              <a:chExt cx="17721052" cy="5106469"/>
            </a:xfrm>
          </p:grpSpPr>
          <p:cxnSp>
            <p:nvCxnSpPr>
              <p:cNvPr id="970" name="Google Shape;970;p75"/>
              <p:cNvCxnSpPr/>
              <p:nvPr/>
            </p:nvCxnSpPr>
            <p:spPr>
              <a:xfrm>
                <a:off x="0" y="0"/>
                <a:ext cx="17721052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E1E1E1"/>
                </a:solidFill>
                <a:prstDash val="solid"/>
                <a:miter lim="4000"/>
                <a:headEnd len="sm" w="sm" type="none"/>
                <a:tailEnd len="sm" w="sm" type="none"/>
              </a:ln>
            </p:spPr>
          </p:cxnSp>
        </p:grpSp>
      </p:grpSp>
      <p:graphicFrame>
        <p:nvGraphicFramePr>
          <p:cNvPr id="971" name="Chart 970"/>
          <p:cNvGraphicFramePr>
            <a:graphicFrameLocks noGrp="1"/>
          </p:cNvGraphicFramePr>
          <p:nvPr/>
        </p:nvGraphicFramePr>
        <p:xfrm>
          <a:off x="623011" y="1473551"/>
          <a:ext cx="11142269" cy="472745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Скорость внедрения подтверждена на практике на двух витринах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Срок реализации пилота на двух витринах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7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6 недель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Пилот успешно реализован за шесть недель на двух витринах.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Рост затрат на инфраструктуру составил 12 %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3653155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3653154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Прирост расходов на инфраструктуру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Финансовые издержки на переход к потоковой модели остаются умеренными.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816" y="2622416"/>
            <a:ext cx="3574368" cy="1613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Пилот на двух витринах подтвердил техническую и экономическую целесообразность инициативы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125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Надёжность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125" y="43250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Затраты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916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Ускорение доставки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916" y="43250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Сроки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86" name="Google Shape;986;p76"/>
          <p:cNvCxnSpPr/>
          <p:nvPr/>
        </p:nvCxnSpPr>
        <p:spPr>
          <a:xfrm rot="10800000">
            <a:off x="-42658" y="3591512"/>
            <a:ext cx="12234658" cy="0"/>
          </a:xfrm>
          <a:prstGeom prst="straightConnector1">
            <a:avLst/>
          </a:prstGeom>
          <a:noFill/>
          <a:ln cap="flat" cmpd="sng" w="12700">
            <a:solidFill>
              <a:srgbClr val="E1E1E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87" name="Google Shape;987;p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Все 14 витрин будут переведены на новую архитектуру до конца квартала</a:t>
            </a:r>
          </a:p>
        </p:txBody>
      </p:sp>
      <p:sp>
        <p:nvSpPr>
          <p:cNvPr id="988" name="Google Shape;988;p76"/>
          <p:cNvSpPr/>
          <p:nvPr/>
        </p:nvSpPr>
        <p:spPr>
          <a:xfrm>
            <a:off x="6351821" y="315787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989" name="Google Shape;989;p76"/>
          <p:cNvSpPr/>
          <p:nvPr/>
        </p:nvSpPr>
        <p:spPr>
          <a:xfrm>
            <a:off x="9194773" y="315787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4</a:t>
            </a:r>
          </a:p>
        </p:txBody>
      </p:sp>
      <p:sp>
        <p:nvSpPr>
          <p:cNvPr id="990" name="Google Shape;990;p76"/>
          <p:cNvSpPr/>
          <p:nvPr/>
        </p:nvSpPr>
        <p:spPr>
          <a:xfrm>
            <a:off x="3508870" y="3157870"/>
            <a:ext cx="869519" cy="8695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991" name="Google Shape;991;p76"/>
          <p:cNvSpPr/>
          <p:nvPr/>
        </p:nvSpPr>
        <p:spPr>
          <a:xfrm>
            <a:off x="665918" y="3157870"/>
            <a:ext cx="869519" cy="869519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992" name="Google Shape;992;p76"/>
          <p:cNvSpPr txBox="1"/>
          <p:nvPr/>
        </p:nvSpPr>
        <p:spPr>
          <a:xfrm>
            <a:off x="627281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Аудит витрин</a:t>
            </a:r>
          </a:p>
        </p:txBody>
      </p:sp>
      <p:sp>
        <p:nvSpPr>
          <p:cNvPr id="993" name="Google Shape;993;p76"/>
          <p:cNvSpPr txBox="1"/>
          <p:nvPr/>
        </p:nvSpPr>
        <p:spPr>
          <a:xfrm>
            <a:off x="3470233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Миграция</a:t>
            </a:r>
          </a:p>
        </p:txBody>
      </p:sp>
      <p:sp>
        <p:nvSpPr>
          <p:cNvPr id="994" name="Google Shape;994;p76"/>
          <p:cNvSpPr txBox="1"/>
          <p:nvPr/>
        </p:nvSpPr>
        <p:spPr>
          <a:xfrm>
            <a:off x="6313184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Тестирование</a:t>
            </a:r>
          </a:p>
        </p:txBody>
      </p:sp>
      <p:sp>
        <p:nvSpPr>
          <p:cNvPr id="995" name="Google Shape;995;p76"/>
          <p:cNvSpPr txBox="1"/>
          <p:nvPr/>
        </p:nvSpPr>
        <p:spPr>
          <a:xfrm>
            <a:off x="9156136" y="4250028"/>
            <a:ext cx="2550017" cy="596436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Запуск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1" name="Google Shape;541;p56"/>
          <p:cNvSpPr txBox="1"/>
          <p:nvPr>
            <p:ph idx="1" type="body"/>
          </p:nvPr>
        </p:nvSpPr>
        <p:spPr>
          <a:xfrm>
            <a:off x="67733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Пакетная загрузка: отчёты к 11:00, 9 инцидентов в месяц</a:t>
            </a:r>
          </a:p>
        </p:txBody>
      </p:sp>
      <p:sp>
        <p:nvSpPr>
          <p:cNvPr id="542" name="Google Shape;542;p56"/>
          <p:cNvSpPr txBox="1"/>
          <p:nvPr>
            <p:ph idx="2" type="body"/>
          </p:nvPr>
        </p:nvSpPr>
        <p:spPr>
          <a:xfrm>
            <a:off x="622882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Потоковая загрузка: отчёты к 8:30, 2 инцидента в месяц</a:t>
            </a:r>
          </a:p>
        </p:txBody>
      </p:sp>
      <p:sp>
        <p:nvSpPr>
          <p:cNvPr id="543" name="Google Shape;543;p5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обеспечивает более оперативное и стабильное получение данных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04" name="Google Shape;504;p54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Раннее получение данных ускоряет принятие управленческих решений</a:t>
            </a:r>
          </a:p>
        </p:txBody>
      </p:sp>
      <p:grpSp>
        <p:nvGrpSpPr>
          <p:cNvPr id="505" name="Google Shape;505;p54"/>
          <p:cNvGrpSpPr/>
          <p:nvPr/>
        </p:nvGrpSpPr>
        <p:grpSpPr>
          <a:xfrm>
            <a:off x="658813" y="2232530"/>
            <a:ext cx="11026909" cy="3299588"/>
            <a:chOff x="658813" y="2232530"/>
            <a:chExt cx="10188356" cy="3048668"/>
          </a:xfrm>
        </p:grpSpPr>
        <p:sp>
          <p:nvSpPr>
            <p:cNvPr id="506" name="Google Shape;506;p54"/>
            <p:cNvSpPr txBox="1"/>
            <p:nvPr/>
          </p:nvSpPr>
          <p:spPr>
            <a:xfrm>
              <a:off x="4152327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Надёжность: снижение риска задержки отчётов</a:t>
              </a:r>
            </a:p>
          </p:txBody>
        </p:sp>
        <p:sp>
          <p:nvSpPr>
            <p:cNvPr id="507" name="Google Shape;507;p54"/>
            <p:cNvSpPr txBox="1"/>
            <p:nvPr/>
          </p:nvSpPr>
          <p:spPr>
            <a:xfrm>
              <a:off x="7645841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Эффективность: меньше времени на ожидание данных</a:t>
              </a:r>
            </a:p>
          </p:txBody>
        </p:sp>
        <p:sp>
          <p:nvSpPr>
            <p:cNvPr id="510" name="Google Shape;510;p54"/>
            <p:cNvSpPr txBox="1"/>
            <p:nvPr/>
          </p:nvSpPr>
          <p:spPr>
            <a:xfrm>
              <a:off x="658813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Оперативность: данные доступны к началу рабочего дня</a:t>
              </a:r>
            </a:p>
          </p:txBody>
        </p:sp>
        <p:sp>
          <p:nvSpPr>
            <p:cNvPr id="511" name="Google Shape;511;p54"/>
            <p:cNvSpPr/>
            <p:nvPr/>
          </p:nvSpPr>
          <p:spPr>
            <a:xfrm>
              <a:off x="658813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1</a:t>
              </a:r>
            </a:p>
          </p:txBody>
        </p:sp>
        <p:sp>
          <p:nvSpPr>
            <p:cNvPr id="512" name="Google Shape;512;p54"/>
            <p:cNvSpPr/>
            <p:nvPr/>
          </p:nvSpPr>
          <p:spPr>
            <a:xfrm>
              <a:off x="4152327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2</a:t>
              </a:r>
            </a:p>
          </p:txBody>
        </p:sp>
        <p:sp>
          <p:nvSpPr>
            <p:cNvPr id="513" name="Google Shape;513;p54"/>
            <p:cNvSpPr/>
            <p:nvPr/>
          </p:nvSpPr>
          <p:spPr>
            <a:xfrm>
              <a:off x="7645841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3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1" name="Google Shape;261;p37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sz="1200"/>
              <a:t xml:space="preserve">Решение о переводе 14 витрин требует немедленного утверждения плана масштабирования до конца квартала.</a:t>
            </a:r>
          </a:p>
        </p:txBody>
      </p:sp>
      <p:sp>
        <p:nvSpPr>
          <p:cNvPr id="262" name="Google Shape;262;p37"/>
          <p:cNvSpPr txBox="1"/>
          <p:nvPr>
            <p:ph type="title"/>
          </p:nvPr>
        </p:nvSpPr>
        <p:spPr>
          <a:xfrm>
            <a:off x="622261" y="2598003"/>
            <a:ext cx="759706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3600"/>
              <a:t xml:space="preserve">Необходимо утвердить план масштабирования до конца квартала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Google Shape;1075;p84"/>
          <p:cNvSpPr txBox="1"/>
          <p:nvPr>
            <p:ph type="title"/>
          </p:nvPr>
        </p:nvSpPr>
        <p:spPr>
          <a:xfrm>
            <a:off x="620713" y="2483712"/>
            <a:ext cx="51586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3200"/>
              <a:t xml:space="preserve">Готов ответить на вопросы по деталям инициативы</a:t>
            </a:r>
          </a:p>
        </p:txBody>
      </p:sp>
      <p:pic>
        <p:nvPicPr>
          <p:cNvPr id="1076" name="Google Shape;1076;p84"/>
          <p:cNvPicPr preferRelativeResize="0"/>
          <p:nvPr>
            <p:ph idx="2" type="pic"/>
          </p:nvPr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4"/>
          <p:cNvSpPr txBox="1"/>
          <p:nvPr>
            <p:ph idx="1" type="body"/>
          </p:nvPr>
        </p:nvSpPr>
        <p:spPr>
          <a:xfrm>
            <a:off x="658813" y="4161565"/>
            <a:ext cx="5120598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lang="ru-RU" sz="1600"/>
              <a:t xml:space="preserve">Спасибо за внимание.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