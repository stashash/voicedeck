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Инциденты в месяц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Sheet1!$A$2:$A$3</c:f>
              <c:strCache>
                <c:ptCount val="2"/>
                <c:pt idx="0">
                  <c:v>Было (пакетная)</c:v>
                </c:pt>
                <c:pt idx="1">
                  <c:v>Стало (потоковая)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9.0</c:v>
                </c:pt>
                <c:pt idx="1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шт.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Доброе утро. Сегодня мы обсуждаем переход от пакетной к потоковой загрузке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Сначала посмотрим на проблему, затем на цифры пилота и в конце обсудим шаги.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Текущий процесс не соответствует потребностям быстрого принятия решений.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Это ключевое улучшение для всех направлений, использующих эти отчёты.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Снижение числа сбоев с 9 до 2 в месяц подтверждает надёжность нового подхода.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Скорость внедрения позволяет планировать масштабирование без длительных простоев.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Это разумная инвестиция в стабильность и скорость получения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Сравнение наглядно показывает преимущества нового метода.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будем двигаться по проверенному сценарию пилота.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Каждый этап имеет контрольные точки для отчётности.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Это ключевой аргумент для всех директоров направлений.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Ждём вашего подтверждения для запуска следующего этапа.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Открываю слово для вопросов.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0.png"/><Relationship Id="rId3" Type="http://schemas.openxmlformats.org/officeDocument/2006/relationships/image" Target="../media/image26.png"/><Relationship Id="rId4" Type="http://schemas.openxmlformats.org/officeDocument/2006/relationships/image" Target="../media/image223.png"/><Relationship Id="rId5" Type="http://schemas.openxmlformats.org/officeDocument/2006/relationships/image" Target="../media/image224.png"/><Relationship Id="rId6" Type="http://schemas.openxmlformats.org/officeDocument/2006/relationships/image" Target="../media/image225.png"/><Relationship Id="rId7" Type="http://schemas.openxmlformats.org/officeDocument/2006/relationships/image" Target="../media/image226.png"/><Relationship Id="rId8" Type="http://schemas.openxmlformats.org/officeDocument/2006/relationships/image" Target="../media/image227.png"/><Relationship Id="rId9" Type="http://schemas.openxmlformats.org/officeDocument/2006/relationships/image" Target="../media/image228.png"/><Relationship Id="rId10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4.png"/><Relationship Id="rId3" Type="http://schemas.openxmlformats.org/officeDocument/2006/relationships/image" Target="../media/image171.png"/><Relationship Id="rId4" Type="http://schemas.openxmlformats.org/officeDocument/2006/relationships/image" Target="../media/image170.png"/><Relationship Id="rId5" Type="http://schemas.openxmlformats.org/officeDocument/2006/relationships/image" Target="../media/image169.png"/><Relationship Id="rId6" Type="http://schemas.openxmlformats.org/officeDocument/2006/relationships/image" Target="../media/image168.png"/><Relationship Id="rId7" Type="http://schemas.openxmlformats.org/officeDocument/2006/relationships/chart" Target="../charts/chart1.xml"/><Relationship Id="rId8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/Relationships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1" name="Google Shape;401;p4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en-US" sz="1400"/>
              <a:t xml:space="preserve">Масштабирование успешного пилота потоковой загрузки ночных отчётов на все витрины для ускорения доступа к данным</a:t>
            </a:r>
          </a:p>
        </p:txBody>
      </p:sp>
      <p:sp>
        <p:nvSpPr>
          <p:cNvPr id="402" name="Google Shape;402;p4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900"/>
              <a:t xml:space="preserve">Предлагаем масштабировать успешный пилот на все витрины для ускорения доступа к данным.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55"/>
          <p:cNvSpPr/>
          <p:nvPr/>
        </p:nvSpPr>
        <p:spPr>
          <a:xfrm>
            <a:off x="285749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55"/>
          <p:cNvSpPr/>
          <p:nvPr/>
        </p:nvSpPr>
        <p:spPr>
          <a:xfrm>
            <a:off x="438148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5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5"/>
          <p:cNvSpPr/>
          <p:nvPr/>
        </p:nvSpPr>
        <p:spPr>
          <a:xfrm>
            <a:off x="438148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Текущая проблема</a:t>
            </a:r>
          </a:p>
        </p:txBody>
      </p:sp>
      <p:sp>
        <p:nvSpPr>
          <p:cNvPr id="669" name="Google Shape;669;p55"/>
          <p:cNvSpPr/>
          <p:nvPr/>
        </p:nvSpPr>
        <p:spPr>
          <a:xfrm>
            <a:off x="438148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Отчёты приходят слишком поздно для утренних решений</a:t>
            </a:r>
          </a:p>
        </p:txBody>
      </p:sp>
      <p:sp>
        <p:nvSpPr>
          <p:cNvPr id="670" name="Google Shape;670;p55"/>
          <p:cNvSpPr/>
          <p:nvPr/>
        </p:nvSpPr>
        <p:spPr>
          <a:xfrm>
            <a:off x="2452675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5"/>
          <p:cNvSpPr/>
          <p:nvPr/>
        </p:nvSpPr>
        <p:spPr>
          <a:xfrm>
            <a:off x="2605074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5"/>
          <p:cNvSpPr/>
          <p:nvPr/>
        </p:nvSpPr>
        <p:spPr>
          <a:xfrm>
            <a:off x="2605074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55"/>
          <p:cNvSpPr/>
          <p:nvPr/>
        </p:nvSpPr>
        <p:spPr>
          <a:xfrm>
            <a:off x="2605074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Результаты пилота</a:t>
            </a:r>
          </a:p>
        </p:txBody>
      </p:sp>
      <p:sp>
        <p:nvSpPr>
          <p:cNvPr id="674" name="Google Shape;674;p55"/>
          <p:cNvSpPr/>
          <p:nvPr/>
        </p:nvSpPr>
        <p:spPr>
          <a:xfrm>
            <a:off x="2605074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Показатели улучшились на двух тестовых витринах</a:t>
            </a:r>
          </a:p>
        </p:txBody>
      </p:sp>
      <p:sp>
        <p:nvSpPr>
          <p:cNvPr id="675" name="Google Shape;675;p55"/>
          <p:cNvSpPr/>
          <p:nvPr/>
        </p:nvSpPr>
        <p:spPr>
          <a:xfrm>
            <a:off x="4619601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5"/>
          <p:cNvSpPr/>
          <p:nvPr/>
        </p:nvSpPr>
        <p:spPr>
          <a:xfrm>
            <a:off x="4772001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55"/>
          <p:cNvSpPr/>
          <p:nvPr/>
        </p:nvSpPr>
        <p:spPr>
          <a:xfrm>
            <a:off x="477200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55"/>
          <p:cNvSpPr/>
          <p:nvPr/>
        </p:nvSpPr>
        <p:spPr>
          <a:xfrm>
            <a:off x="4772001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План масштабирования</a:t>
            </a:r>
          </a:p>
        </p:txBody>
      </p:sp>
      <p:sp>
        <p:nvSpPr>
          <p:cNvPr id="679" name="Google Shape;679;p55"/>
          <p:cNvSpPr/>
          <p:nvPr/>
        </p:nvSpPr>
        <p:spPr>
          <a:xfrm>
            <a:off x="4772001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Перевод оставшихся 14 витрин до конца квартала</a:t>
            </a:r>
          </a:p>
        </p:txBody>
      </p:sp>
      <p:sp>
        <p:nvSpPr>
          <p:cNvPr id="680" name="Google Shape;680;p55"/>
          <p:cNvSpPr/>
          <p:nvPr/>
        </p:nvSpPr>
        <p:spPr>
          <a:xfrm>
            <a:off x="6786527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55"/>
          <p:cNvSpPr/>
          <p:nvPr/>
        </p:nvSpPr>
        <p:spPr>
          <a:xfrm>
            <a:off x="6938927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55"/>
          <p:cNvSpPr/>
          <p:nvPr/>
        </p:nvSpPr>
        <p:spPr>
          <a:xfrm>
            <a:off x="6938927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5"/>
          <p:cNvSpPr/>
          <p:nvPr/>
        </p:nvSpPr>
        <p:spPr>
          <a:xfrm>
            <a:off x="6938927" y="1590803"/>
            <a:ext cx="181767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Требуемое решение</a:t>
            </a:r>
          </a:p>
        </p:txBody>
      </p:sp>
      <p:sp>
        <p:nvSpPr>
          <p:cNvPr id="684" name="Google Shape;684;p55"/>
          <p:cNvSpPr/>
          <p:nvPr/>
        </p:nvSpPr>
        <p:spPr>
          <a:xfrm>
            <a:off x="6938927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Согласование бюджета и сроков перевода</a:t>
            </a:r>
          </a:p>
        </p:txBody>
      </p:sp>
      <p:sp>
        <p:nvSpPr>
          <p:cNvPr id="685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Разберём текущие проблемы, результаты пилота и план масштабирования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8" name="Google Shape;878;p61"/>
          <p:cNvSpPr/>
          <p:nvPr/>
        </p:nvSpPr>
        <p:spPr>
          <a:xfrm>
            <a:off x="285749" y="1243185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61"/>
          <p:cNvSpPr/>
          <p:nvPr/>
        </p:nvSpPr>
        <p:spPr>
          <a:xfrm>
            <a:off x="285749" y="1243185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0" name="Google Shape;880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673" y="1405089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1" name="Google Shape;881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88" y="1423117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61"/>
          <p:cNvSpPr/>
          <p:nvPr/>
        </p:nvSpPr>
        <p:spPr>
          <a:xfrm>
            <a:off x="285749" y="2047943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61"/>
          <p:cNvSpPr/>
          <p:nvPr/>
        </p:nvSpPr>
        <p:spPr>
          <a:xfrm>
            <a:off x="285749" y="2047943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4" name="Google Shape;884;p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7673" y="2209847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5" name="Google Shape;885;p6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6388" y="2227875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61"/>
          <p:cNvSpPr/>
          <p:nvPr/>
        </p:nvSpPr>
        <p:spPr>
          <a:xfrm>
            <a:off x="285749" y="2852700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61"/>
          <p:cNvSpPr/>
          <p:nvPr/>
        </p:nvSpPr>
        <p:spPr>
          <a:xfrm>
            <a:off x="285749" y="2852700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8" name="Google Shape;888;p6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7673" y="3014604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9" name="Google Shape;889;p6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6388" y="3032632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61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400"/>
              <a:t xml:space="preserve">Пакетная загрузка задерживает доступ к данным до 11 утра, снижая оперативность управления продажами</a:t>
            </a:r>
          </a:p>
        </p:txBody>
      </p:sp>
      <p:sp>
        <p:nvSpPr>
          <p:cNvPr id="895" name="Google Shape;895;p61"/>
          <p:cNvSpPr/>
          <p:nvPr/>
        </p:nvSpPr>
        <p:spPr>
          <a:xfrm>
            <a:off x="1019170" y="1402177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Отчёт по продажам готов только к 11 утра</a:t>
            </a:r>
          </a:p>
        </p:txBody>
      </p:sp>
      <p:sp>
        <p:nvSpPr>
          <p:cNvPr id="896" name="Google Shape;896;p61"/>
          <p:cNvSpPr/>
          <p:nvPr/>
        </p:nvSpPr>
        <p:spPr>
          <a:xfrm>
            <a:off x="1019170" y="2218724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Часто возникают инциденты с задержкой отчёта</a:t>
            </a:r>
          </a:p>
        </p:txBody>
      </p:sp>
      <p:sp>
        <p:nvSpPr>
          <p:cNvPr id="897" name="Google Shape;897;p61"/>
          <p:cNvSpPr/>
          <p:nvPr/>
        </p:nvSpPr>
        <p:spPr>
          <a:xfrm>
            <a:off x="1019170" y="3024442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Пакетный подход не позволяет обновлять данные в реальном времени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249" name="Google Shape;2249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748" y="3576507"/>
            <a:ext cx="2381238" cy="28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0" name="Google Shape;22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34" y="3576507"/>
            <a:ext cx="3762355" cy="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Google Shape;2251;p8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Переход на потоковую загрузку сокращает время готовности отчёта с 11:00 до 8:30, обеспечивая доступ к данным на 2.5 часа раньше</a:t>
            </a:r>
          </a:p>
        </p:txBody>
      </p:sp>
      <p:sp>
        <p:nvSpPr>
          <p:cNvPr id="2252" name="Google Shape;2252;p83"/>
          <p:cNvSpPr txBox="1"/>
          <p:nvPr/>
        </p:nvSpPr>
        <p:spPr>
          <a:xfrm>
            <a:off x="177970" y="1664110"/>
            <a:ext cx="2381238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r>
              <a:rPr b="1" i="0" lang="en-US" sz="515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 xml:space="preserve">11:00</a:t>
            </a:r>
          </a:p>
        </p:txBody>
      </p:sp>
      <p:sp>
        <p:nvSpPr>
          <p:cNvPr id="2253" name="Google Shape;2253;p83"/>
          <p:cNvSpPr txBox="1"/>
          <p:nvPr/>
        </p:nvSpPr>
        <p:spPr>
          <a:xfrm>
            <a:off x="3143234" y="1664110"/>
            <a:ext cx="4320556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endParaRPr b="1" i="0" lang="en-US" sz="16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54" name="Google Shape;2254;p83"/>
          <p:cNvSpPr txBox="1"/>
          <p:nvPr/>
        </p:nvSpPr>
        <p:spPr>
          <a:xfrm>
            <a:off x="256559" y="3689483"/>
            <a:ext cx="4315441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8:30 — новое время готовности отчёта по продажам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9" name="Google Shape;2569;p9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Число инцидентов с опозданием снизилось в 4.5 раза</a:t>
            </a:r>
          </a:p>
        </p:txBody>
      </p:sp>
      <p:graphicFrame>
        <p:nvGraphicFramePr>
          <p:cNvPr id="2570" name="Chart 2569"/>
          <p:cNvGraphicFramePr>
            <a:graphicFrameLocks noGrp="1"/>
          </p:cNvGraphicFramePr>
          <p:nvPr/>
        </p:nvGraphicFramePr>
        <p:xfrm>
          <a:off x="285293" y="1110022"/>
          <a:ext cx="8572500" cy="3734641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249" name="Google Shape;2249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748" y="3576507"/>
            <a:ext cx="2381238" cy="28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0" name="Google Shape;22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34" y="3576507"/>
            <a:ext cx="3762355" cy="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Google Shape;2251;p8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Пилот завершён за 6 недель, что доказывает управляемость процесса внедрения</a:t>
            </a:r>
          </a:p>
        </p:txBody>
      </p:sp>
      <p:sp>
        <p:nvSpPr>
          <p:cNvPr id="2252" name="Google Shape;2252;p83"/>
          <p:cNvSpPr txBox="1"/>
          <p:nvPr/>
        </p:nvSpPr>
        <p:spPr>
          <a:xfrm>
            <a:off x="177970" y="1664110"/>
            <a:ext cx="2381238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r>
              <a:rPr b="1" i="0" lang="en-US" sz="125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 xml:space="preserve">6</a:t>
            </a:r>
          </a:p>
        </p:txBody>
      </p:sp>
      <p:sp>
        <p:nvSpPr>
          <p:cNvPr id="2253" name="Google Shape;2253;p83"/>
          <p:cNvSpPr txBox="1"/>
          <p:nvPr/>
        </p:nvSpPr>
        <p:spPr>
          <a:xfrm>
            <a:off x="3143234" y="1664110"/>
            <a:ext cx="4320556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endParaRPr b="1" i="0" lang="en-US" sz="16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54" name="Google Shape;2254;p83"/>
          <p:cNvSpPr txBox="1"/>
          <p:nvPr/>
        </p:nvSpPr>
        <p:spPr>
          <a:xfrm>
            <a:off x="256559" y="3689483"/>
            <a:ext cx="4315441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6 недель — период теста на двух витринах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249" name="Google Shape;2249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748" y="3576507"/>
            <a:ext cx="2381238" cy="28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0" name="Google Shape;22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34" y="3576507"/>
            <a:ext cx="3762355" cy="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Google Shape;2251;p8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Рост затрат на инфраструктуру на 12 % компенсируется повышением эффективности</a:t>
            </a:r>
          </a:p>
        </p:txBody>
      </p:sp>
      <p:sp>
        <p:nvSpPr>
          <p:cNvPr id="2252" name="Google Shape;2252;p83"/>
          <p:cNvSpPr txBox="1"/>
          <p:nvPr/>
        </p:nvSpPr>
        <p:spPr>
          <a:xfrm>
            <a:off x="177970" y="1664110"/>
            <a:ext cx="2381238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r>
              <a:rPr b="1" i="0" lang="en-US" sz="6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 xml:space="preserve">12 %</a:t>
            </a:r>
          </a:p>
        </p:txBody>
      </p:sp>
      <p:sp>
        <p:nvSpPr>
          <p:cNvPr id="2253" name="Google Shape;2253;p83"/>
          <p:cNvSpPr txBox="1"/>
          <p:nvPr/>
        </p:nvSpPr>
        <p:spPr>
          <a:xfrm>
            <a:off x="3143234" y="1664110"/>
            <a:ext cx="4320556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endParaRPr b="1" i="0" lang="en-US" sz="16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54" name="Google Shape;2254;p83"/>
          <p:cNvSpPr txBox="1"/>
          <p:nvPr/>
        </p:nvSpPr>
        <p:spPr>
          <a:xfrm>
            <a:off x="256559" y="3689483"/>
            <a:ext cx="4315441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Прирост затрат на инфраструктуру составил 12 %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6" name="Google Shape;1056;p66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66"/>
          <p:cNvSpPr/>
          <p:nvPr/>
        </p:nvSpPr>
        <p:spPr>
          <a:xfrm>
            <a:off x="3838239" y="276524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66"/>
          <p:cNvSpPr/>
          <p:nvPr/>
        </p:nvSpPr>
        <p:spPr>
          <a:xfrm>
            <a:off x="4048160" y="486417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66"/>
          <p:cNvSpPr/>
          <p:nvPr/>
        </p:nvSpPr>
        <p:spPr>
          <a:xfrm>
            <a:off x="4048160" y="486418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Пакетная загрузка</a:t>
            </a:r>
          </a:p>
        </p:txBody>
      </p:sp>
      <p:sp>
        <p:nvSpPr>
          <p:cNvPr id="1060" name="Google Shape;1060;p66"/>
          <p:cNvSpPr/>
          <p:nvPr/>
        </p:nvSpPr>
        <p:spPr>
          <a:xfrm>
            <a:off x="4048160" y="740925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Отчёт готов к 11:00, 9 инцидентов в месяц</a:t>
            </a:r>
          </a:p>
        </p:txBody>
      </p:sp>
      <p:sp>
        <p:nvSpPr>
          <p:cNvPr id="1061" name="Google Shape;1061;p66"/>
          <p:cNvSpPr/>
          <p:nvPr/>
        </p:nvSpPr>
        <p:spPr>
          <a:xfrm>
            <a:off x="3838239" y="1462423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66"/>
          <p:cNvSpPr/>
          <p:nvPr/>
        </p:nvSpPr>
        <p:spPr>
          <a:xfrm>
            <a:off x="4048160" y="16723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66"/>
          <p:cNvSpPr/>
          <p:nvPr/>
        </p:nvSpPr>
        <p:spPr>
          <a:xfrm>
            <a:off x="4048160" y="1672317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Потоковая загрузка</a:t>
            </a:r>
          </a:p>
        </p:txBody>
      </p:sp>
      <p:sp>
        <p:nvSpPr>
          <p:cNvPr id="1064" name="Google Shape;1064;p66"/>
          <p:cNvSpPr/>
          <p:nvPr/>
        </p:nvSpPr>
        <p:spPr>
          <a:xfrm>
            <a:off x="4048160" y="19268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Отчёт готов к 8:30, 2 инцидента в месяц</a:t>
            </a:r>
          </a:p>
        </p:txBody>
      </p:sp>
      <p:sp>
        <p:nvSpPr>
          <p:cNvPr id="1073" name="Google Shape;1073;p66"/>
          <p:cNvSpPr txBox="1"/>
          <p:nvPr>
            <p:ph type="title"/>
          </p:nvPr>
        </p:nvSpPr>
        <p:spPr>
          <a:xfrm>
            <a:off x="177971" y="282949"/>
            <a:ext cx="3412254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Потоковая загрузка обеспечивает более раннюю и стабильную доставку отчётов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07" name="Google Shape;1107;p68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68"/>
          <p:cNvSpPr/>
          <p:nvPr/>
        </p:nvSpPr>
        <p:spPr>
          <a:xfrm>
            <a:off x="-190499" y="1238424"/>
            <a:ext cx="9529712" cy="3664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68"/>
          <p:cNvSpPr txBox="1"/>
          <p:nvPr>
            <p:ph type="title"/>
          </p:nvPr>
        </p:nvSpPr>
        <p:spPr>
          <a:xfrm>
            <a:off x="177971" y="282949"/>
            <a:ext cx="5119243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Поэтапный перевод 14 витрин минимизирует риски и обеспечивает контроль качества</a:t>
            </a:r>
          </a:p>
        </p:txBody>
      </p:sp>
      <p:sp>
        <p:nvSpPr>
          <p:cNvPr id="1110" name="Google Shape;1110;p68"/>
          <p:cNvSpPr/>
          <p:nvPr/>
        </p:nvSpPr>
        <p:spPr>
          <a:xfrm>
            <a:off x="663829" y="3070440"/>
            <a:ext cx="1312116" cy="15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Последовательный перевод</a:t>
            </a:r>
          </a:p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Перенос каждой группы с проверкой стабильности.</a:t>
            </a:r>
          </a:p>
        </p:txBody>
      </p:sp>
      <p:sp>
        <p:nvSpPr>
          <p:cNvPr id="1111" name="Google Shape;1111;p68"/>
          <p:cNvSpPr/>
          <p:nvPr/>
        </p:nvSpPr>
        <p:spPr>
          <a:xfrm rot="186848">
            <a:off x="2492628" y="3773224"/>
            <a:ext cx="1312116" cy="15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lang="en-US" sz="1322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12" name="Google Shape;1112;p68"/>
          <p:cNvSpPr/>
          <p:nvPr/>
        </p:nvSpPr>
        <p:spPr>
          <a:xfrm rot="-234392">
            <a:off x="5232954" y="2869689"/>
            <a:ext cx="1312116" cy="15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Группировка витрин</a:t>
            </a:r>
          </a:p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Разделение 14 витрин на логические пакеты.</a:t>
            </a:r>
          </a:p>
        </p:txBody>
      </p:sp>
      <p:sp>
        <p:nvSpPr>
          <p:cNvPr id="1113" name="Google Shape;1113;p68"/>
          <p:cNvSpPr/>
          <p:nvPr/>
        </p:nvSpPr>
        <p:spPr>
          <a:xfrm rot="492491">
            <a:off x="6989867" y="3659580"/>
            <a:ext cx="1312116" cy="15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Финальная валидация</a:t>
            </a:r>
          </a:p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Проверка всех витрин до конца квартала.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23" name="Google Shape;723;p57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57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57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7"/>
          <p:cNvSpPr/>
          <p:nvPr/>
        </p:nvSpPr>
        <p:spPr>
          <a:xfrm>
            <a:off x="285748" y="1209852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57"/>
          <p:cNvSpPr/>
          <p:nvPr/>
        </p:nvSpPr>
        <p:spPr>
          <a:xfrm>
            <a:off x="285749" y="1209852"/>
            <a:ext cx="2793986" cy="1578563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57"/>
          <p:cNvSpPr/>
          <p:nvPr/>
        </p:nvSpPr>
        <p:spPr>
          <a:xfrm>
            <a:off x="491283" y="1362233"/>
            <a:ext cx="2382916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57"/>
          <p:cNvSpPr/>
          <p:nvPr/>
        </p:nvSpPr>
        <p:spPr>
          <a:xfrm>
            <a:off x="504567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57"/>
          <p:cNvSpPr/>
          <p:nvPr/>
        </p:nvSpPr>
        <p:spPr>
          <a:xfrm>
            <a:off x="491283" y="1590803"/>
            <a:ext cx="245142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Недели 1-2: первая группа витрин</a:t>
            </a:r>
          </a:p>
        </p:txBody>
      </p:sp>
      <p:sp>
        <p:nvSpPr>
          <p:cNvPr id="731" name="Google Shape;731;p57"/>
          <p:cNvSpPr/>
          <p:nvPr/>
        </p:nvSpPr>
        <p:spPr>
          <a:xfrm>
            <a:off x="491283" y="1819373"/>
            <a:ext cx="2434300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Перевод первой группы витрин</a:t>
            </a:r>
          </a:p>
        </p:txBody>
      </p:sp>
      <p:sp>
        <p:nvSpPr>
          <p:cNvPr id="732" name="Google Shape;732;p57"/>
          <p:cNvSpPr/>
          <p:nvPr/>
        </p:nvSpPr>
        <p:spPr>
          <a:xfrm>
            <a:off x="3174984" y="1209852"/>
            <a:ext cx="2793986" cy="1578563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7"/>
          <p:cNvSpPr/>
          <p:nvPr/>
        </p:nvSpPr>
        <p:spPr>
          <a:xfrm>
            <a:off x="3380518" y="1362233"/>
            <a:ext cx="2382916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57"/>
          <p:cNvSpPr/>
          <p:nvPr/>
        </p:nvSpPr>
        <p:spPr>
          <a:xfrm>
            <a:off x="3393802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57"/>
          <p:cNvSpPr/>
          <p:nvPr/>
        </p:nvSpPr>
        <p:spPr>
          <a:xfrm>
            <a:off x="3380518" y="1590803"/>
            <a:ext cx="245142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Недели 3-4: вторая группа витрин</a:t>
            </a:r>
          </a:p>
        </p:txBody>
      </p:sp>
      <p:sp>
        <p:nvSpPr>
          <p:cNvPr id="736" name="Google Shape;736;p57"/>
          <p:cNvSpPr/>
          <p:nvPr/>
        </p:nvSpPr>
        <p:spPr>
          <a:xfrm>
            <a:off x="3380518" y="1819373"/>
            <a:ext cx="2434300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Перевод второй группы витрин</a:t>
            </a:r>
          </a:p>
        </p:txBody>
      </p:sp>
      <p:sp>
        <p:nvSpPr>
          <p:cNvPr id="737" name="Google Shape;737;p57"/>
          <p:cNvSpPr/>
          <p:nvPr/>
        </p:nvSpPr>
        <p:spPr>
          <a:xfrm>
            <a:off x="6064218" y="1209852"/>
            <a:ext cx="2793986" cy="1578563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57"/>
          <p:cNvSpPr/>
          <p:nvPr/>
        </p:nvSpPr>
        <p:spPr>
          <a:xfrm>
            <a:off x="6269754" y="1362233"/>
            <a:ext cx="2382916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57"/>
          <p:cNvSpPr/>
          <p:nvPr/>
        </p:nvSpPr>
        <p:spPr>
          <a:xfrm>
            <a:off x="628303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7"/>
          <p:cNvSpPr/>
          <p:nvPr/>
        </p:nvSpPr>
        <p:spPr>
          <a:xfrm>
            <a:off x="6269754" y="1590803"/>
            <a:ext cx="245142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Недели 5-6: завершение и тесты</a:t>
            </a:r>
          </a:p>
        </p:txBody>
      </p:sp>
      <p:sp>
        <p:nvSpPr>
          <p:cNvPr id="741" name="Google Shape;741;p57"/>
          <p:cNvSpPr/>
          <p:nvPr/>
        </p:nvSpPr>
        <p:spPr>
          <a:xfrm>
            <a:off x="6269754" y="1819373"/>
            <a:ext cx="2434300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Завершение перевода и финальные тесты</a:t>
            </a:r>
          </a:p>
        </p:txBody>
      </p:sp>
      <p:sp>
        <p:nvSpPr>
          <p:cNvPr id="747" name="Google Shape;747;p57"/>
          <p:cNvSpPr/>
          <p:nvPr/>
        </p:nvSpPr>
        <p:spPr>
          <a:xfrm>
            <a:off x="285748" y="2883653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57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График на 6 недель обеспечивает контроль прогресса и управление рисками при масштабировании до конца квартала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7" name="Google Shape;417;p44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</a:pPr>
            <a:r>
              <a:rPr lang="en-US" sz="2450"/>
              <a:t xml:space="preserve">Ранний доступ к точным данным ускоряет принятие решений по продажам</a:t>
            </a:r>
          </a:p>
        </p:txBody>
      </p:sp>
      <p:sp>
        <p:nvSpPr>
          <p:cNvPr id="418" name="Google Shape;418;p44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en-US"/>
          </a:p>
        </p:txBody>
      </p:sp>
      <p:grpSp>
        <p:nvGrpSpPr>
          <p:cNvPr id="419" name="Google Shape;419;p44"/>
          <p:cNvGrpSpPr/>
          <p:nvPr/>
        </p:nvGrpSpPr>
        <p:grpSpPr>
          <a:xfrm>
            <a:off x="282380" y="3403462"/>
            <a:ext cx="1195387" cy="99124"/>
            <a:chOff x="658813" y="5548708"/>
            <a:chExt cx="2283170" cy="189326"/>
          </a:xfrm>
        </p:grpSpPr>
        <p:sp>
          <p:nvSpPr>
            <p:cNvPr id="420" name="Google Shape;420;p44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4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44"/>
            <p:cNvSpPr/>
            <p:nvPr/>
          </p:nvSpPr>
          <p:spPr>
            <a:xfrm>
              <a:off x="1705735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44"/>
            <p:cNvSpPr/>
            <p:nvPr/>
          </p:nvSpPr>
          <p:spPr>
            <a:xfrm>
              <a:off x="2229196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44"/>
            <p:cNvSpPr/>
            <p:nvPr/>
          </p:nvSpPr>
          <p:spPr>
            <a:xfrm>
              <a:off x="2752657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38" name="Google Shape;438;p4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</a:pPr>
            <a:r>
              <a:rPr lang="en-US" sz="2950"/>
              <a:t xml:space="preserve">Согласуйте перевод 14 витрин до конца квартала для получения преимуществ</a:t>
            </a:r>
          </a:p>
        </p:txBody>
      </p:sp>
      <p:sp>
        <p:nvSpPr>
          <p:cNvPr id="439" name="Google Shape;439;p46"/>
          <p:cNvSpPr txBox="1"/>
          <p:nvPr>
            <p:ph idx="1" type="body"/>
          </p:nvPr>
        </p:nvSpPr>
        <p:spPr>
          <a:xfrm>
            <a:off x="1430534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1400"/>
              <a:t xml:space="preserve">Перевод 14 витрин до конца квартала.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7" name="Google Shape;417;p44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</a:pPr>
            <a:r>
              <a:rPr lang="en-US" sz="2450"/>
              <a:t xml:space="preserve">Спасибо за внимание: готовы ответить на вопросы и обсудить детали внедрения</a:t>
            </a:r>
          </a:p>
        </p:txBody>
      </p:sp>
      <p:sp>
        <p:nvSpPr>
          <p:cNvPr id="418" name="Google Shape;418;p44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en-US"/>
          </a:p>
        </p:txBody>
      </p:sp>
      <p:grpSp>
        <p:nvGrpSpPr>
          <p:cNvPr id="419" name="Google Shape;419;p44"/>
          <p:cNvGrpSpPr/>
          <p:nvPr/>
        </p:nvGrpSpPr>
        <p:grpSpPr>
          <a:xfrm>
            <a:off x="282380" y="3403462"/>
            <a:ext cx="1195387" cy="99124"/>
            <a:chOff x="658813" y="5548708"/>
            <a:chExt cx="2283170" cy="189326"/>
          </a:xfrm>
        </p:grpSpPr>
        <p:sp>
          <p:nvSpPr>
            <p:cNvPr id="420" name="Google Shape;420;p44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4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44"/>
            <p:cNvSpPr/>
            <p:nvPr/>
          </p:nvSpPr>
          <p:spPr>
            <a:xfrm>
              <a:off x="1705735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44"/>
            <p:cNvSpPr/>
            <p:nvPr/>
          </p:nvSpPr>
          <p:spPr>
            <a:xfrm>
              <a:off x="2229196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44"/>
            <p:cNvSpPr/>
            <p:nvPr/>
          </p:nvSpPr>
          <p:spPr>
            <a:xfrm>
              <a:off x="2752657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