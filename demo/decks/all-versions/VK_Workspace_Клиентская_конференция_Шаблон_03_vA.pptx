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5"/>
  </p:sldMasterIdLst>
  <p:notesMasterIdLst>
    <p:notesMasterId r:id="rId6"/>
  </p:notesMasterIdLst>
  <p:sldIdLst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</p:sldIdLst>
  <p:sldSz cy="6858000" cx="12192000"/>
  <p:notesSz cx="6858000" cy="9144000"/>
  <p:embeddedFontLst>
    <p:embeddedFont>
      <p:font typeface="Play"/>
      <p:regular r:id="rId36"/>
      <p:bold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547">
          <p15:clr>
            <a:srgbClr val="A4A3A4"/>
          </p15:clr>
        </p15:guide>
        <p15:guide id="4" orient="horz" pos="77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AC9AF0A-6FEA-4B71-B213-FBF42B605303}">
  <a:tblStyle styleId="{5AC9AF0A-6FEA-4B71-B213-FBF42B605303}" styleName="Table_0">
    <a:wholeTbl>
      <a:tcTxStyle b="off" i="off">
        <a:font>
          <a:latin typeface="SF Pro Text Light"/>
          <a:ea typeface="SF Pro Text Light"/>
          <a:cs typeface="SF Pro Text Ligh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F"/>
          </a:solidFill>
        </a:fill>
      </a:tcStyle>
    </a:wholeTbl>
    <a:band1H>
      <a:tcTxStyle/>
      <a:tcStyle>
        <a:fill>
          <a:solidFill>
            <a:srgbClr val="CAD5FF"/>
          </a:solidFill>
        </a:fill>
      </a:tcStyle>
    </a:band1H>
    <a:band2H>
      <a:tcTxStyle/>
    </a:band2H>
    <a:band1V>
      <a:tcTxStyle/>
      <a:tcStyle>
        <a:fill>
          <a:solidFill>
            <a:srgbClr val="CAD5FF"/>
          </a:solidFill>
        </a:fill>
      </a:tcStyle>
    </a:band1V>
    <a:band2V>
      <a:tcTxStyle/>
    </a:band2V>
    <a:la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  <p:guide pos="2547"/>
        <p:guide pos="777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36" Type="http://schemas.openxmlformats.org/officeDocument/2006/relationships/font" Target="fonts/Play-regular.fntdata"/><Relationship Id="rId37" Type="http://schemas.openxmlformats.org/officeDocument/2006/relationships/font" Target="fonts/Play-bold.fntdata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Инциденты в месяц</c:v>
                </c:pt>
              </c:strCache>
            </c:strRef>
          </c:tx>
          <c:spPr>
            <a:solidFill>
              <a:srgbClr val="0077FF"/>
            </a:solidFill>
          </c:spPr>
          <c:cat>
            <c:strRef>
              <c:f>Sheet1!$A$2:$A$3</c:f>
              <c:strCache>
                <c:ptCount val="2"/>
                <c:pt idx="0">
                  <c:v>До пилота</c:v>
                </c:pt>
                <c:pt idx="1">
                  <c:v>После пилота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9.0</c:v>
                </c:pt>
                <c:pt idx="1">
                  <c:v>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600">
                <a:solidFill>
                  <a:srgbClr val="FFFFFF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999999"/>
              </a:solidFill>
            </a:ln>
          </c:spPr>
        </c:majorGridlines>
        <c:title>
          <c:tx>
            <c:rich>
              <a:bodyPr/>
              <a:lstStyle/>
              <a:p>
                <a:r>
                  <a:rPr>
                    <a:solidFill>
                      <a:srgbClr val="FFFFFF"/>
                    </a:solidFill>
                  </a:rPr>
                  <a:t>шт.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600">
                <a:solidFill>
                  <a:srgbClr val="FFFFFF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600">
          <a:solidFill>
            <a:srgbClr val="FFFFFF"/>
          </a:solidFill>
          <a:latin typeface="Play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Здравствуйте, коллеги. Сегодня мы обсуждаем инициативу по оптимизации процесса формирования ночных отчётов.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Мы последовательно разберем проблему, доказательную базу и следующие шаги.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Существующая архитектура не позволяет получить данные раньше 11 утра, что критично для бизнес-процессов.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Ключевая выгода для бизнеса — данные становятся доступны к 8:30 утра.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Графика наглядно демонстрирует снижение числа инцидентов с 9 до 2 в месяц.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Срок пилота подтверждает, что масштабирование возможно в пределах квартала.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Стоимость перехода незначительна по сравнению с получаемой пользой.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Сопоставление показывает качественное улучшение всех ключевых метрик.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Мы предлагаем четкий план действий для перевода оставшихся витрин.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Прошу вас одобрить перевод остальных 14 витрин на потоковую загрузку до конца квартала.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7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7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7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3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Титульный слайд">
  <p:cSld name="7_Титульный слайд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2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56" name="Google Shape;56;p2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7" name="Google Shape;57;p2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8" name="Google Shape;58;p2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9" name="Google Shape;59;p2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0" name="Google Shape;60;p2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1" name="Google Shape;61;p2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2" name="Google Shape;62;p2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3" name="Google Shape;63;p2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4" name="Google Shape;64;p2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5" name="Google Shape;65;p2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6" name="Google Shape;66;p2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7" name="Google Shape;67;p2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8" name="Google Shape;68;p2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9" name="Google Shape;69;p2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0" name="Google Shape;70;p2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1" name="Google Shape;71;p2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2" name="Google Shape;72;p2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3" name="Google Shape;73;p2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4" name="Google Shape;74;p2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75" name="Google Shape;75;p2"/>
          <p:cNvSpPr txBox="1"/>
          <p:nvPr>
            <p:ph type="title"/>
          </p:nvPr>
        </p:nvSpPr>
        <p:spPr>
          <a:xfrm>
            <a:off x="429253" y="2546255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6" name="Google Shape;76;p2"/>
          <p:cNvGrpSpPr/>
          <p:nvPr/>
        </p:nvGrpSpPr>
        <p:grpSpPr>
          <a:xfrm>
            <a:off x="1" y="6350"/>
            <a:ext cx="12192792" cy="6851649"/>
            <a:chOff x="0" y="6350"/>
            <a:chExt cx="24396891" cy="13709651"/>
          </a:xfrm>
        </p:grpSpPr>
        <p:pic>
          <p:nvPicPr>
            <p:cNvPr id="77" name="Google Shape;77;p2"/>
            <p:cNvPicPr preferRelativeResize="0"/>
            <p:nvPr/>
          </p:nvPicPr>
          <p:blipFill rotWithShape="1">
            <a:blip r:embed="rId2">
              <a:alphaModFix/>
            </a:blip>
            <a:srcRect b="0" l="0" r="50023" t="80662"/>
            <a:stretch/>
          </p:blipFill>
          <p:spPr>
            <a:xfrm>
              <a:off x="1587" y="11064874"/>
              <a:ext cx="12192000" cy="2651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" name="Google Shape;78;p2"/>
            <p:cNvSpPr/>
            <p:nvPr/>
          </p:nvSpPr>
          <p:spPr>
            <a:xfrm>
              <a:off x="0" y="10657492"/>
              <a:ext cx="8335061" cy="305850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9" name="Google Shape;79;p2"/>
            <p:cNvPicPr preferRelativeResize="0"/>
            <p:nvPr/>
          </p:nvPicPr>
          <p:blipFill rotWithShape="1">
            <a:blip r:embed="rId2">
              <a:alphaModFix/>
            </a:blip>
            <a:srcRect b="0" l="52729" r="0" t="82751"/>
            <a:stretch/>
          </p:blipFill>
          <p:spPr>
            <a:xfrm>
              <a:off x="12853797" y="11351172"/>
              <a:ext cx="11531791" cy="23648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2"/>
            <p:cNvPicPr preferRelativeResize="0"/>
            <p:nvPr/>
          </p:nvPicPr>
          <p:blipFill rotWithShape="1">
            <a:blip r:embed="rId2">
              <a:alphaModFix/>
            </a:blip>
            <a:srcRect b="76357" l="52729" r="0" t="0"/>
            <a:stretch/>
          </p:blipFill>
          <p:spPr>
            <a:xfrm>
              <a:off x="12865099" y="6350"/>
              <a:ext cx="11531792" cy="32413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" name="Google Shape;81;p2"/>
            <p:cNvPicPr preferRelativeResize="0"/>
            <p:nvPr/>
          </p:nvPicPr>
          <p:blipFill rotWithShape="1">
            <a:blip r:embed="rId2">
              <a:alphaModFix/>
            </a:blip>
            <a:srcRect b="69917" l="0" r="47271" t="0"/>
            <a:stretch/>
          </p:blipFill>
          <p:spPr>
            <a:xfrm>
              <a:off x="1587" y="6350"/>
              <a:ext cx="12863512" cy="412421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2" name="Google Shape;8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035040"/>
            <a:ext cx="2653844" cy="4181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3" name="Google Shape;8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Титульный слайд">
  <p:cSld name="9_Титульный слайд">
    <p:bg>
      <p:bgPr>
        <a:solidFill>
          <a:schemeClr val="dk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3"/>
          <p:cNvPicPr preferRelativeResize="0"/>
          <p:nvPr/>
        </p:nvPicPr>
        <p:blipFill rotWithShape="1">
          <a:blip r:embed="rId2">
            <a:alphaModFix/>
          </a:blip>
          <a:srcRect b="-1" l="0" r="50023" t="66636"/>
          <a:stretch/>
        </p:blipFill>
        <p:spPr>
          <a:xfrm>
            <a:off x="794" y="4572000"/>
            <a:ext cx="6093175" cy="228599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3"/>
          <p:cNvSpPr/>
          <p:nvPr/>
        </p:nvSpPr>
        <p:spPr>
          <a:xfrm>
            <a:off x="1" y="5747081"/>
            <a:ext cx="4487332" cy="111091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745067" y="6160788"/>
            <a:ext cx="4487332" cy="69721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8" name="Google Shape;88;p3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89" name="Google Shape;89;p3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0" name="Google Shape;90;p3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1" name="Google Shape;91;p3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2" name="Google Shape;92;p3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3" name="Google Shape;93;p3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4" name="Google Shape;94;p3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5" name="Google Shape;95;p3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6" name="Google Shape;96;p3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7" name="Google Shape;97;p3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8" name="Google Shape;98;p3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9" name="Google Shape;99;p3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0" name="Google Shape;100;p3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1" name="Google Shape;101;p3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2" name="Google Shape;102;p3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3" name="Google Shape;103;p3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4" name="Google Shape;104;p3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5" name="Google Shape;105;p3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6" name="Google Shape;106;p3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7" name="Google Shape;107;p3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08" name="Google Shape;108;p3"/>
          <p:cNvSpPr txBox="1"/>
          <p:nvPr>
            <p:ph type="title"/>
          </p:nvPr>
        </p:nvSpPr>
        <p:spPr>
          <a:xfrm>
            <a:off x="429254" y="1609196"/>
            <a:ext cx="4803146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09" name="Google Shape;109;p3"/>
          <p:cNvPicPr preferRelativeResize="0"/>
          <p:nvPr/>
        </p:nvPicPr>
        <p:blipFill rotWithShape="1">
          <a:blip r:embed="rId2">
            <a:alphaModFix/>
          </a:blip>
          <a:srcRect b="77450" l="52729" r="0" t="17827"/>
          <a:stretch/>
        </p:blipFill>
        <p:spPr>
          <a:xfrm flipH="1">
            <a:off x="0" y="0"/>
            <a:ext cx="5763224" cy="323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3"/>
          <p:cNvSpPr/>
          <p:nvPr/>
        </p:nvSpPr>
        <p:spPr>
          <a:xfrm>
            <a:off x="4487333" y="4377664"/>
            <a:ext cx="1608667" cy="248033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12" name="Google Shape;11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Заголовок">
  <p:cSld name="19_Заголовок">
    <p:bg>
      <p:bgPr>
        <a:solidFill>
          <a:schemeClr val="dk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14" name="Google Shape;114;p4"/>
          <p:cNvPicPr preferRelativeResize="0"/>
          <p:nvPr/>
        </p:nvPicPr>
        <p:blipFill rotWithShape="1">
          <a:blip r:embed="rId2">
            <a:alphaModFix/>
          </a:blip>
          <a:srcRect b="0" l="0" r="61122" t="0"/>
          <a:stretch/>
        </p:blipFill>
        <p:spPr>
          <a:xfrm>
            <a:off x="0" y="0"/>
            <a:ext cx="4739951" cy="6857143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4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6" name="Google Shape;11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Титульный слайд">
  <p:cSld name="18_Титульный слайд">
    <p:bg>
      <p:bgPr>
        <a:solidFill>
          <a:schemeClr val="dk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5"/>
          <p:cNvPicPr preferRelativeResize="0"/>
          <p:nvPr/>
        </p:nvPicPr>
        <p:blipFill rotWithShape="1">
          <a:blip r:embed="rId2">
            <a:alphaModFix/>
          </a:blip>
          <a:srcRect b="2847" l="52053" r="0" t="90954"/>
          <a:stretch/>
        </p:blipFill>
        <p:spPr>
          <a:xfrm flipH="1">
            <a:off x="-2" y="6433309"/>
            <a:ext cx="5845629" cy="424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5"/>
          <p:cNvPicPr preferRelativeResize="0"/>
          <p:nvPr/>
        </p:nvPicPr>
        <p:blipFill rotWithShape="1">
          <a:blip r:embed="rId3">
            <a:alphaModFix/>
          </a:blip>
          <a:srcRect b="0" l="0" r="26515" t="13089"/>
          <a:stretch/>
        </p:blipFill>
        <p:spPr>
          <a:xfrm rot="10800000">
            <a:off x="-1" y="1831974"/>
            <a:ext cx="4249647" cy="50260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0" name="Google Shape;120;p5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21" name="Google Shape;121;p5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2" name="Google Shape;122;p5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3" name="Google Shape;123;p5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4" name="Google Shape;124;p5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5" name="Google Shape;125;p5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6" name="Google Shape;126;p5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7" name="Google Shape;127;p5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8" name="Google Shape;128;p5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9" name="Google Shape;129;p5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0" name="Google Shape;130;p5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1" name="Google Shape;131;p5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2" name="Google Shape;132;p5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3" name="Google Shape;133;p5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4" name="Google Shape;134;p5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5" name="Google Shape;135;p5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6" name="Google Shape;136;p5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7" name="Google Shape;137;p5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8" name="Google Shape;138;p5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9" name="Google Shape;139;p5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40" name="Google Shape;140;p5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41" name="Google Shape;14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42" name="Google Shape;142;p5"/>
          <p:cNvPicPr preferRelativeResize="0"/>
          <p:nvPr/>
        </p:nvPicPr>
        <p:blipFill rotWithShape="1">
          <a:blip r:embed="rId5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5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46" name="Google Shape;146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Титульный слайд">
  <p:cSld name="15_Титульный слайд">
    <p:bg>
      <p:bgPr>
        <a:solidFill>
          <a:schemeClr val="dk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48" name="Google Shape;148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393786"/>
            <a:ext cx="4655279" cy="4642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49" name="Google Shape;1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1600" y="0"/>
            <a:ext cx="1760400" cy="24312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50" name="Google Shape;15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31498" y="6290333"/>
            <a:ext cx="2860502" cy="5676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1" name="Google Shape;151;p6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52" name="Google Shape;152;p6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3" name="Google Shape;153;p6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4" name="Google Shape;154;p6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5" name="Google Shape;155;p6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6" name="Google Shape;156;p6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7" name="Google Shape;157;p6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8" name="Google Shape;158;p6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9" name="Google Shape;159;p6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0" name="Google Shape;160;p6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1" name="Google Shape;161;p6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2" name="Google Shape;162;p6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3" name="Google Shape;163;p6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4" name="Google Shape;164;p6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5" name="Google Shape;165;p6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6" name="Google Shape;166;p6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7" name="Google Shape;167;p6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8" name="Google Shape;168;p6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9" name="Google Shape;169;p6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0" name="Google Shape;170;p6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71" name="Google Shape;171;p6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72" name="Google Shape;17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73" name="Google Shape;173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Титульный слайд">
  <p:cSld name="13_Титульный слайд">
    <p:bg>
      <p:bgPr>
        <a:solidFill>
          <a:schemeClr val="dk1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oogle Shape;175;p7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76" name="Google Shape;176;p7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7" name="Google Shape;177;p7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8" name="Google Shape;178;p7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9" name="Google Shape;179;p7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0" name="Google Shape;180;p7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1" name="Google Shape;181;p7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2" name="Google Shape;182;p7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3" name="Google Shape;183;p7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4" name="Google Shape;184;p7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5" name="Google Shape;185;p7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6" name="Google Shape;186;p7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7" name="Google Shape;187;p7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8" name="Google Shape;188;p7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9" name="Google Shape;189;p7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0" name="Google Shape;190;p7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1" name="Google Shape;191;p7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2" name="Google Shape;192;p7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3" name="Google Shape;193;p7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4" name="Google Shape;194;p7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95" name="Google Shape;195;p7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96" name="Google Shape;19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97" name="Google Shape;197;p7"/>
          <p:cNvPicPr preferRelativeResize="0"/>
          <p:nvPr/>
        </p:nvPicPr>
        <p:blipFill rotWithShape="1">
          <a:blip r:embed="rId3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7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01" name="Google Shape;20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Заголовок">
  <p:cSld name="8_Заголовок">
    <p:bg>
      <p:bgPr>
        <a:solidFill>
          <a:schemeClr val="dk1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8"/>
          <p:cNvPicPr preferRelativeResize="0"/>
          <p:nvPr/>
        </p:nvPicPr>
        <p:blipFill rotWithShape="1">
          <a:blip r:embed="rId2">
            <a:alphaModFix/>
          </a:blip>
          <a:srcRect b="25668" l="13456" r="0" t="10446"/>
          <a:stretch/>
        </p:blipFill>
        <p:spPr>
          <a:xfrm flipH="1">
            <a:off x="2907772" y="-1"/>
            <a:ext cx="928422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8"/>
          <p:cNvPicPr preferRelativeResize="0"/>
          <p:nvPr/>
        </p:nvPicPr>
        <p:blipFill rotWithShape="1">
          <a:blip r:embed="rId3">
            <a:alphaModFix/>
          </a:blip>
          <a:srcRect b="8691" l="36156" r="0" t="22176"/>
          <a:stretch/>
        </p:blipFill>
        <p:spPr>
          <a:xfrm flipH="1">
            <a:off x="5862319" y="-2"/>
            <a:ext cx="6329681" cy="6863317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8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06" name="Google Shape;20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07" name="Google Shape;207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Титульный слайд">
  <p:cSld name="17_Титульный слайд">
    <p:bg>
      <p:bgPr>
        <a:solidFill>
          <a:schemeClr val="dk1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9" name="Google Shape;209;p9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10" name="Google Shape;210;p9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1" name="Google Shape;211;p9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2" name="Google Shape;212;p9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3" name="Google Shape;213;p9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4" name="Google Shape;214;p9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5" name="Google Shape;215;p9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6" name="Google Shape;216;p9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7" name="Google Shape;217;p9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8" name="Google Shape;218;p9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9" name="Google Shape;219;p9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0" name="Google Shape;220;p9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1" name="Google Shape;221;p9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2" name="Google Shape;222;p9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3" name="Google Shape;223;p9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4" name="Google Shape;224;p9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5" name="Google Shape;225;p9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6" name="Google Shape;226;p9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7" name="Google Shape;227;p9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8" name="Google Shape;228;p9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29" name="Google Shape;229;p9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230" name="Google Shape;230;p9"/>
          <p:cNvPicPr preferRelativeResize="0"/>
          <p:nvPr/>
        </p:nvPicPr>
        <p:blipFill rotWithShape="1">
          <a:blip r:embed="rId2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9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Титульный слайд">
  <p:cSld name="14_Титульный слайд">
    <p:bg>
      <p:bgPr>
        <a:solidFill>
          <a:schemeClr val="dk1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35" name="Google Shape;235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96000" y="5844358"/>
            <a:ext cx="6096000" cy="101364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6" name="Google Shape;236;p10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37" name="Google Shape;237;p10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8" name="Google Shape;238;p10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9" name="Google Shape;239;p10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0" name="Google Shape;240;p10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1" name="Google Shape;241;p10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2" name="Google Shape;242;p10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3" name="Google Shape;243;p10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4" name="Google Shape;244;p10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5" name="Google Shape;245;p10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6" name="Google Shape;246;p10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7" name="Google Shape;247;p10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8" name="Google Shape;248;p10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9" name="Google Shape;249;p10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0" name="Google Shape;250;p10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1" name="Google Shape;251;p10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2" name="Google Shape;252;p10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3" name="Google Shape;253;p10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4" name="Google Shape;254;p10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5" name="Google Shape;255;p10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56" name="Google Shape;256;p10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7" name="Google Shape;25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8" name="Google Shape;25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66292" y="0"/>
            <a:ext cx="1325708" cy="37239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9" name="Google Shape;259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Заголовок">
  <p:cSld name="11_Заголовок">
    <p:bg>
      <p:bgPr>
        <a:solidFill>
          <a:schemeClr val="dk1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11"/>
          <p:cNvSpPr txBox="1"/>
          <p:nvPr>
            <p:ph type="title"/>
          </p:nvPr>
        </p:nvSpPr>
        <p:spPr>
          <a:xfrm>
            <a:off x="429253" y="424691"/>
            <a:ext cx="11354760" cy="767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63" name="Google Shape;26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4" name="Google Shape;26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Заголовок">
  <p:cSld name="17_Заголовок">
    <p:bg>
      <p:bgPr>
        <a:solidFill>
          <a:schemeClr val="dk1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12"/>
          <p:cNvPicPr preferRelativeResize="0"/>
          <p:nvPr/>
        </p:nvPicPr>
        <p:blipFill rotWithShape="1">
          <a:blip r:embed="rId2">
            <a:alphaModFix/>
          </a:blip>
          <a:srcRect b="25668" l="13456" r="0" t="10446"/>
          <a:stretch/>
        </p:blipFill>
        <p:spPr>
          <a:xfrm>
            <a:off x="-1" y="-1"/>
            <a:ext cx="928422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12"/>
          <p:cNvPicPr preferRelativeResize="0"/>
          <p:nvPr/>
        </p:nvPicPr>
        <p:blipFill rotWithShape="1">
          <a:blip r:embed="rId3">
            <a:alphaModFix/>
          </a:blip>
          <a:srcRect b="8691" l="36156" r="0" t="22176"/>
          <a:stretch/>
        </p:blipFill>
        <p:spPr>
          <a:xfrm>
            <a:off x="-1" y="-2"/>
            <a:ext cx="6329681" cy="6863317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2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269" name="Google Shape;269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Титульный слайд">
  <p:cSld name="11_Титульный слайд">
    <p:bg>
      <p:bgPr>
        <a:solidFill>
          <a:schemeClr val="dk1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" name="Google Shape;272;p13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73" name="Google Shape;273;p13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4" name="Google Shape;274;p13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5" name="Google Shape;275;p13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6" name="Google Shape;276;p13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7" name="Google Shape;277;p13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8" name="Google Shape;278;p13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9" name="Google Shape;279;p13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0" name="Google Shape;280;p13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1" name="Google Shape;281;p13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2" name="Google Shape;282;p13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3" name="Google Shape;283;p13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4" name="Google Shape;284;p13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5" name="Google Shape;285;p13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6" name="Google Shape;286;p13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7" name="Google Shape;287;p13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8" name="Google Shape;288;p13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9" name="Google Shape;289;p13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0" name="Google Shape;290;p13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1" name="Google Shape;291;p13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92" name="Google Shape;292;p13"/>
          <p:cNvSpPr txBox="1"/>
          <p:nvPr>
            <p:ph type="title"/>
          </p:nvPr>
        </p:nvSpPr>
        <p:spPr>
          <a:xfrm>
            <a:off x="429254" y="1609196"/>
            <a:ext cx="4803146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93" name="Google Shape;293;p13"/>
          <p:cNvPicPr preferRelativeResize="0"/>
          <p:nvPr/>
        </p:nvPicPr>
        <p:blipFill rotWithShape="1">
          <a:blip r:embed="rId2">
            <a:alphaModFix/>
          </a:blip>
          <a:srcRect b="77450" l="52729" r="0" t="17827"/>
          <a:stretch/>
        </p:blipFill>
        <p:spPr>
          <a:xfrm flipH="1">
            <a:off x="0" y="0"/>
            <a:ext cx="5763224" cy="323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95" name="Google Shape;29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Титульный слайд">
  <p:cSld name="16_Титульный слайд">
    <p:bg>
      <p:bgPr>
        <a:solidFill>
          <a:schemeClr val="dk1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97" name="Google Shape;297;p14"/>
          <p:cNvPicPr preferRelativeResize="0"/>
          <p:nvPr/>
        </p:nvPicPr>
        <p:blipFill rotWithShape="1">
          <a:blip r:embed="rId2">
            <a:alphaModFix/>
          </a:blip>
          <a:srcRect b="0" l="20444" r="24824" t="0"/>
          <a:stretch/>
        </p:blipFill>
        <p:spPr>
          <a:xfrm>
            <a:off x="5519099" y="0"/>
            <a:ext cx="6672901" cy="685713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8" name="Google Shape;298;p14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99" name="Google Shape;299;p14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0" name="Google Shape;300;p14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1" name="Google Shape;301;p14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2" name="Google Shape;302;p14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3" name="Google Shape;303;p14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4" name="Google Shape;304;p14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5" name="Google Shape;305;p14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6" name="Google Shape;306;p14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7" name="Google Shape;307;p14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8" name="Google Shape;308;p14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9" name="Google Shape;309;p14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0" name="Google Shape;310;p14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1" name="Google Shape;311;p14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2" name="Google Shape;312;p14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3" name="Google Shape;313;p14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4" name="Google Shape;314;p14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5" name="Google Shape;315;p14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6" name="Google Shape;316;p14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7" name="Google Shape;317;p14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18" name="Google Shape;318;p14"/>
          <p:cNvSpPr txBox="1"/>
          <p:nvPr>
            <p:ph type="title"/>
          </p:nvPr>
        </p:nvSpPr>
        <p:spPr>
          <a:xfrm>
            <a:off x="429253" y="2291422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319" name="Google Shape;31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14"/>
          <p:cNvSpPr/>
          <p:nvPr/>
        </p:nvSpPr>
        <p:spPr>
          <a:xfrm>
            <a:off x="5404757" y="4555671"/>
            <a:ext cx="1926772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4"/>
          <p:cNvSpPr/>
          <p:nvPr/>
        </p:nvSpPr>
        <p:spPr>
          <a:xfrm>
            <a:off x="8490856" y="5372100"/>
            <a:ext cx="767443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4"/>
          <p:cNvSpPr/>
          <p:nvPr/>
        </p:nvSpPr>
        <p:spPr>
          <a:xfrm>
            <a:off x="6498771" y="342900"/>
            <a:ext cx="767443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4"/>
          <p:cNvSpPr/>
          <p:nvPr/>
        </p:nvSpPr>
        <p:spPr>
          <a:xfrm>
            <a:off x="7903028" y="32658"/>
            <a:ext cx="767443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4"/>
          <p:cNvSpPr/>
          <p:nvPr/>
        </p:nvSpPr>
        <p:spPr>
          <a:xfrm>
            <a:off x="5323114" y="930729"/>
            <a:ext cx="1175657" cy="97333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5" name="Google Shape;32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035040"/>
            <a:ext cx="2653844" cy="418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Титульный слайд">
  <p:cSld name="12_Титульный слайд">
    <p:bg>
      <p:bgPr>
        <a:solidFill>
          <a:schemeClr val="dk1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27" name="Google Shape;327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979" cy="6857131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15"/>
          <p:cNvSpPr/>
          <p:nvPr/>
        </p:nvSpPr>
        <p:spPr>
          <a:xfrm>
            <a:off x="0" y="4499104"/>
            <a:ext cx="6792686" cy="166168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5"/>
          <p:cNvSpPr/>
          <p:nvPr/>
        </p:nvSpPr>
        <p:spPr>
          <a:xfrm>
            <a:off x="1" y="5501389"/>
            <a:ext cx="4811842" cy="135660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0" name="Google Shape;330;p15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331" name="Google Shape;331;p15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2" name="Google Shape;332;p15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3" name="Google Shape;333;p15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4" name="Google Shape;334;p15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5" name="Google Shape;335;p15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6" name="Google Shape;336;p15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7" name="Google Shape;337;p15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8" name="Google Shape;338;p15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9" name="Google Shape;339;p15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0" name="Google Shape;340;p15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1" name="Google Shape;341;p15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2" name="Google Shape;342;p15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3" name="Google Shape;343;p15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4" name="Google Shape;344;p15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5" name="Google Shape;345;p15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6" name="Google Shape;346;p15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7" name="Google Shape;347;p15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8" name="Google Shape;348;p15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9" name="Google Shape;349;p15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50" name="Google Shape;350;p15"/>
          <p:cNvSpPr txBox="1"/>
          <p:nvPr>
            <p:ph type="title"/>
          </p:nvPr>
        </p:nvSpPr>
        <p:spPr>
          <a:xfrm>
            <a:off x="429253" y="2291422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51" name="Google Shape;35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5895936"/>
            <a:ext cx="3536690" cy="5572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52" name="Google Shape;35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Титульный слайд">
  <p:cSld name="10_Титульный слайд">
    <p:bg>
      <p:bgPr>
        <a:solidFill>
          <a:schemeClr val="dk1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4" name="Google Shape;354;p16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355" name="Google Shape;355;p16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6" name="Google Shape;356;p16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7" name="Google Shape;357;p16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8" name="Google Shape;358;p16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9" name="Google Shape;359;p16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0" name="Google Shape;360;p16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1" name="Google Shape;361;p16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2" name="Google Shape;362;p16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3" name="Google Shape;363;p16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4" name="Google Shape;364;p16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5" name="Google Shape;365;p16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6" name="Google Shape;366;p16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7" name="Google Shape;367;p16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8" name="Google Shape;368;p16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9" name="Google Shape;369;p16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0" name="Google Shape;370;p16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1" name="Google Shape;371;p16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2" name="Google Shape;372;p16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3" name="Google Shape;373;p16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74" name="Google Shape;374;p16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5" name="Google Shape;375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76" name="Google Shape;37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27866" y="662333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b="0" i="0" sz="3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58813" y="1773239"/>
            <a:ext cx="10855852" cy="4392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295275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  <a:defRPr b="0" i="0" sz="105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A6A6A6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3" name="Google Shape;13;p1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4" name="Google Shape;14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" name="Google Shape;15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" name="Google Shape;16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" name="Google Shape;17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" name="Google Shape;18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" name="Google Shape;19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" name="Google Shape;20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" name="Google Shape;21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" name="Google Shape;22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" name="Google Shape;23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" name="Google Shape;24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" name="Google Shape;25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6" name="Google Shape;26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" name="Google Shape;27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" name="Google Shape;28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" name="Google Shape;29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" name="Google Shape;30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" name="Google Shape;31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2" name="Google Shape;32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33" name="Google Shape;33;p1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34" name="Google Shape;34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" name="Google Shape;35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" name="Google Shape;36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" name="Google Shape;37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8" name="Google Shape;38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9" name="Google Shape;39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0" name="Google Shape;40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1" name="Google Shape;41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2" name="Google Shape;42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3" name="Google Shape;43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4" name="Google Shape;44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5" name="Google Shape;45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6" name="Google Shape;46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7" name="Google Shape;47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8" name="Google Shape;48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9" name="Google Shape;49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0" name="Google Shape;50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1" name="Google Shape;51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2" name="Google Shape;52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pic>
        <p:nvPicPr>
          <p:cNvPr id="53" name="Google Shape;53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419564" y="6161239"/>
            <a:ext cx="932071" cy="288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57">
          <p15:clr>
            <a:srgbClr val="FDE53C"/>
          </p15:clr>
        </p15:guide>
        <p15:guide id="2" pos="7423">
          <p15:clr>
            <a:srgbClr val="FDE53C"/>
          </p15:clr>
        </p15:guide>
        <p15:guide id="3" orient="horz" pos="4065">
          <p15:clr>
            <a:srgbClr val="FDE53C"/>
          </p15:clr>
        </p15:guide>
        <p15:guide id="4" pos="5201">
          <p15:clr>
            <a:srgbClr val="FDE53C"/>
          </p15:clr>
        </p15:guide>
        <p15:guide id="5" pos="2479">
          <p15:clr>
            <a:srgbClr val="FDE53C"/>
          </p15:clr>
        </p15:guide>
        <p15:guide id="6" pos="3840">
          <p15:clr>
            <a:srgbClr val="FDE53C"/>
          </p15:clr>
        </p15:guide>
        <p15:guide id="7" orient="horz" pos="640">
          <p15:clr>
            <a:srgbClr val="FDE53C"/>
          </p15:clr>
        </p15:guide>
        <p15:guide id="8" orient="horz" pos="1003">
          <p15:clr>
            <a:srgbClr val="FDE53C"/>
          </p15:clr>
        </p15:guide>
        <p15:guide id="9" pos="1073">
          <p15:clr>
            <a:srgbClr val="FDE53C"/>
          </p15:clr>
        </p15:guide>
        <p15:guide id="10" pos="6584">
          <p15:clr>
            <a:srgbClr val="FDE53C"/>
          </p15:clr>
        </p15:guide>
        <p15:guide id="11" orient="horz" pos="255">
          <p15:clr>
            <a:srgbClr val="FDE53C"/>
          </p15:clr>
        </p15:guide>
      </p15:sldGuideLst>
    </p:ext>
  </p:extLst>
</p:sldMaster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png"/><Relationship Id="rId3" Type="http://schemas.openxmlformats.org/officeDocument/2006/relationships/chart" Target="../charts/chart1.xml"/><Relationship Id="rId4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9.xml"/></Relationships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81" name="Google Shape;381;p17"/>
          <p:cNvSpPr txBox="1"/>
          <p:nvPr>
            <p:ph type="title"/>
          </p:nvPr>
        </p:nvSpPr>
        <p:spPr>
          <a:xfrm>
            <a:off x="429253" y="2490555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</a:pPr>
            <a:r>
              <a:rPr lang="ru-RU" sz="3200"/>
              <a:t xml:space="preserve">Предлагаем перевести все витрины на потоковую архитектуру для ускорения доступности данных</a:t>
            </a:r>
          </a:p>
        </p:txBody>
      </p:sp>
      <p:sp>
        <p:nvSpPr>
          <p:cNvPr id="383" name="Google Shape;383;p17"/>
          <p:cNvSpPr txBox="1"/>
          <p:nvPr/>
        </p:nvSpPr>
        <p:spPr>
          <a:xfrm>
            <a:off x="1510259" y="4682209"/>
            <a:ext cx="2213844" cy="8342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B8C2"/>
              </a:buClr>
              <a:buSzPts val="1600"/>
              <a:buFont typeface="Play"/>
              <a:buNone/>
            </a:pPr>
            <a:r>
              <a:rPr b="0" i="0" lang="ru-RU" sz="1600" u="none" cap="none" strike="noStrike">
                <a:solidFill>
                  <a:srgbClr val="AFB8C2"/>
                </a:solidFill>
                <a:latin typeface="Play"/>
                <a:ea typeface="Play"/>
                <a:cs typeface="Play"/>
                <a:sym typeface="Play"/>
              </a:rPr>
              <a:t xml:space="preserve">Переход на потоковую загрузку ночных отчётов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59" name="Google Shape;459;p22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2000"/>
              <a:t xml:space="preserve">Обсудим проблемы, итоги пилота и план масштабирования на оставшиеся витрины</a:t>
            </a:r>
          </a:p>
        </p:txBody>
      </p:sp>
      <p:sp>
        <p:nvSpPr>
          <p:cNvPr id="460" name="Google Shape;460;p22"/>
          <p:cNvSpPr/>
          <p:nvPr/>
        </p:nvSpPr>
        <p:spPr>
          <a:xfrm>
            <a:off x="7729481" y="1666499"/>
            <a:ext cx="3420000" cy="3525002"/>
          </a:xfrm>
          <a:prstGeom prst="roundRect">
            <a:avLst>
              <a:gd fmla="val 4432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t" bIns="45700" lIns="108000" spcFirstLastPara="1" rIns="91425" wrap="square" tIns="108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 xml:space="preserve">План: масштабирование</a:t>
            </a:r>
          </a:p>
        </p:txBody>
      </p:sp>
      <p:sp>
        <p:nvSpPr>
          <p:cNvPr id="461" name="Google Shape;461;p22"/>
          <p:cNvSpPr/>
          <p:nvPr/>
        </p:nvSpPr>
        <p:spPr>
          <a:xfrm>
            <a:off x="4072584" y="1666499"/>
            <a:ext cx="3420000" cy="3525002"/>
          </a:xfrm>
          <a:prstGeom prst="roundRect">
            <a:avLst>
              <a:gd fmla="val 4027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t" bIns="45700" lIns="108000" spcFirstLastPara="1" rIns="91425" wrap="square" tIns="108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 xml:space="preserve">Итоги пилота: улучшение показателей</a:t>
            </a:r>
          </a:p>
        </p:txBody>
      </p:sp>
      <p:sp>
        <p:nvSpPr>
          <p:cNvPr id="462" name="Google Shape;462;p22"/>
          <p:cNvSpPr/>
          <p:nvPr/>
        </p:nvSpPr>
        <p:spPr>
          <a:xfrm>
            <a:off x="415687" y="1666499"/>
            <a:ext cx="3420000" cy="3525002"/>
          </a:xfrm>
          <a:prstGeom prst="roundRect">
            <a:avLst>
              <a:gd fmla="val 4432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t" bIns="45700" lIns="108000" spcFirstLastPara="1" rIns="91425" wrap="square" tIns="108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 xml:space="preserve">Проблема: опоздания отчётов</a:t>
            </a:r>
          </a:p>
        </p:txBody>
      </p:sp>
      <p:sp>
        <p:nvSpPr>
          <p:cNvPr id="463" name="Google Shape;463;p22"/>
          <p:cNvSpPr txBox="1"/>
          <p:nvPr/>
        </p:nvSpPr>
        <p:spPr>
          <a:xfrm>
            <a:off x="596659" y="3258988"/>
            <a:ext cx="3057144" cy="251795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 xml:space="preserve">Мешают принятию решений</a:t>
            </a:r>
          </a:p>
        </p:txBody>
      </p:sp>
      <p:pic>
        <p:nvPicPr>
          <p:cNvPr id="464" name="Google Shape;46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6658" y="2888071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22"/>
          <p:cNvSpPr txBox="1"/>
          <p:nvPr/>
        </p:nvSpPr>
        <p:spPr>
          <a:xfrm>
            <a:off x="4256098" y="3258988"/>
            <a:ext cx="3057144" cy="251795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 xml:space="preserve">На двух витринах</a:t>
            </a:r>
          </a:p>
        </p:txBody>
      </p:sp>
      <p:pic>
        <p:nvPicPr>
          <p:cNvPr id="466" name="Google Shape;46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56097" y="2888071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22"/>
          <p:cNvSpPr txBox="1"/>
          <p:nvPr/>
        </p:nvSpPr>
        <p:spPr>
          <a:xfrm>
            <a:off x="7911859" y="3258988"/>
            <a:ext cx="3057144" cy="251795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 xml:space="preserve">14 витрин до конца квартала</a:t>
            </a:r>
          </a:p>
        </p:txBody>
      </p:sp>
      <p:pic>
        <p:nvPicPr>
          <p:cNvPr id="468" name="Google Shape;468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11858" y="2888071"/>
            <a:ext cx="266700" cy="26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91" name="Google Shape;691;p32"/>
          <p:cNvSpPr/>
          <p:nvPr/>
        </p:nvSpPr>
        <p:spPr>
          <a:xfrm>
            <a:off x="427866" y="1971330"/>
            <a:ext cx="3597514" cy="3443958"/>
          </a:xfrm>
          <a:prstGeom prst="roundRect">
            <a:avLst>
              <a:gd fmla="val 5112" name="adj"/>
            </a:avLst>
          </a:prstGeom>
          <a:solidFill>
            <a:srgbClr val="000000">
              <a:alpha val="29804"/>
            </a:srgbClr>
          </a:solidFill>
          <a:ln cap="flat" cmpd="sng" w="9525">
            <a:solidFill>
              <a:srgbClr val="70C3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32"/>
          <p:cNvSpPr/>
          <p:nvPr/>
        </p:nvSpPr>
        <p:spPr>
          <a:xfrm>
            <a:off x="427866" y="1971329"/>
            <a:ext cx="3597514" cy="732775"/>
          </a:xfrm>
          <a:prstGeom prst="round2SameRect">
            <a:avLst>
              <a:gd fmla="val 17490" name="adj1"/>
              <a:gd fmla="val 0" name="adj2"/>
            </a:avLst>
          </a:prstGeom>
          <a:gradFill>
            <a:gsLst>
              <a:gs pos="0">
                <a:srgbClr val="00AEE8"/>
              </a:gs>
              <a:gs pos="100000">
                <a:srgbClr val="0077FF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32"/>
          <p:cNvSpPr/>
          <p:nvPr/>
        </p:nvSpPr>
        <p:spPr>
          <a:xfrm>
            <a:off x="597903" y="2182506"/>
            <a:ext cx="327741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rgbClr val="212121"/>
                </a:solidFill>
                <a:latin typeface="Play"/>
                <a:ea typeface="Play"/>
                <a:cs typeface="Play"/>
                <a:sym typeface="Play"/>
              </a:rPr>
              <a:t xml:space="preserve">Поздняя готовность отчётов</a:t>
            </a:r>
          </a:p>
        </p:txBody>
      </p:sp>
      <p:sp>
        <p:nvSpPr>
          <p:cNvPr id="694" name="Google Shape;694;p32"/>
          <p:cNvSpPr/>
          <p:nvPr/>
        </p:nvSpPr>
        <p:spPr>
          <a:xfrm>
            <a:off x="597903" y="2841868"/>
            <a:ext cx="3277416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36800" lvl="2" marL="136800" marR="0" rtl="0" algn="l">
              <a:spcBef>
                <a:spcPts val="0"/>
              </a:spcBef>
              <a:spcAft>
                <a:spcPts val="0"/>
              </a:spcAft>
              <a:buClr>
                <a:srgbClr val="70C3FF"/>
              </a:buClr>
              <a:buSzPts val="1200"/>
              <a:buFont typeface="Arial"/>
              <a:buChar char="•"/>
            </a:pPr>
            <a:r>
              <a:rPr b="0" i="0" lang="ru-RU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 xml:space="preserve">Данные по продажам доступны только к 11 утра.</a:t>
            </a:r>
          </a:p>
        </p:txBody>
      </p:sp>
      <p:sp>
        <p:nvSpPr>
          <p:cNvPr id="695" name="Google Shape;695;p32"/>
          <p:cNvSpPr/>
          <p:nvPr/>
        </p:nvSpPr>
        <p:spPr>
          <a:xfrm>
            <a:off x="4127508" y="1971330"/>
            <a:ext cx="3597514" cy="3443958"/>
          </a:xfrm>
          <a:prstGeom prst="roundRect">
            <a:avLst>
              <a:gd fmla="val 5112" name="adj"/>
            </a:avLst>
          </a:prstGeom>
          <a:solidFill>
            <a:srgbClr val="000000">
              <a:alpha val="29804"/>
            </a:srgbClr>
          </a:solidFill>
          <a:ln cap="flat" cmpd="sng" w="9525">
            <a:solidFill>
              <a:srgbClr val="70C3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p32"/>
          <p:cNvSpPr/>
          <p:nvPr/>
        </p:nvSpPr>
        <p:spPr>
          <a:xfrm>
            <a:off x="4127508" y="1971329"/>
            <a:ext cx="3597514" cy="732775"/>
          </a:xfrm>
          <a:prstGeom prst="round2SameRect">
            <a:avLst>
              <a:gd fmla="val 17490" name="adj1"/>
              <a:gd fmla="val 0" name="adj2"/>
            </a:avLst>
          </a:prstGeom>
          <a:gradFill>
            <a:gsLst>
              <a:gs pos="0">
                <a:srgbClr val="00AEE8"/>
              </a:gs>
              <a:gs pos="100000">
                <a:srgbClr val="0077FF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32"/>
          <p:cNvSpPr/>
          <p:nvPr/>
        </p:nvSpPr>
        <p:spPr>
          <a:xfrm>
            <a:off x="4297545" y="2182506"/>
            <a:ext cx="327741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rgbClr val="212121"/>
                </a:solidFill>
                <a:latin typeface="Play"/>
                <a:ea typeface="Play"/>
                <a:cs typeface="Play"/>
                <a:sym typeface="Play"/>
              </a:rPr>
              <a:t xml:space="preserve">Риск опозданий</a:t>
            </a:r>
          </a:p>
        </p:txBody>
      </p:sp>
      <p:sp>
        <p:nvSpPr>
          <p:cNvPr id="698" name="Google Shape;698;p32"/>
          <p:cNvSpPr/>
          <p:nvPr/>
        </p:nvSpPr>
        <p:spPr>
          <a:xfrm>
            <a:off x="4297545" y="2841868"/>
            <a:ext cx="3277416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36800" lvl="2" marL="136800" marR="0" rtl="0" algn="l">
              <a:spcBef>
                <a:spcPts val="0"/>
              </a:spcBef>
              <a:spcAft>
                <a:spcPts val="0"/>
              </a:spcAft>
              <a:buClr>
                <a:srgbClr val="70C3FF"/>
              </a:buClr>
              <a:buSzPts val="1200"/>
              <a:buFont typeface="Arial"/>
              <a:buChar char="•"/>
            </a:pPr>
            <a:r>
              <a:rPr b="0" i="0" lang="ru-RU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 xml:space="preserve">В месяц фиксируется 9 инцидентов с задержкой.</a:t>
            </a:r>
          </a:p>
        </p:txBody>
      </p:sp>
      <p:sp>
        <p:nvSpPr>
          <p:cNvPr id="699" name="Google Shape;699;p32"/>
          <p:cNvSpPr/>
          <p:nvPr/>
        </p:nvSpPr>
        <p:spPr>
          <a:xfrm>
            <a:off x="7827149" y="1971330"/>
            <a:ext cx="3597513" cy="3443958"/>
          </a:xfrm>
          <a:prstGeom prst="roundRect">
            <a:avLst>
              <a:gd fmla="val 5112" name="adj"/>
            </a:avLst>
          </a:prstGeom>
          <a:gradFill>
            <a:gsLst>
              <a:gs pos="0">
                <a:srgbClr val="00AEE8"/>
              </a:gs>
              <a:gs pos="100000">
                <a:srgbClr val="0077FF"/>
              </a:gs>
            </a:gsLst>
            <a:lin ang="2700000" scaled="0"/>
          </a:gradFill>
          <a:ln cap="flat" cmpd="sng" w="9525">
            <a:solidFill>
              <a:srgbClr val="70C3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32"/>
          <p:cNvSpPr/>
          <p:nvPr/>
        </p:nvSpPr>
        <p:spPr>
          <a:xfrm>
            <a:off x="7989513" y="2196653"/>
            <a:ext cx="343515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rgbClr val="212121"/>
                </a:solidFill>
                <a:latin typeface="Play"/>
                <a:ea typeface="Play"/>
                <a:cs typeface="Play"/>
                <a:sym typeface="Play"/>
              </a:rPr>
              <a:t xml:space="preserve">Негибкость архитектуры</a:t>
            </a:r>
          </a:p>
        </p:txBody>
      </p:sp>
      <p:sp>
        <p:nvSpPr>
          <p:cNvPr id="701" name="Google Shape;701;p32"/>
          <p:cNvSpPr/>
          <p:nvPr/>
        </p:nvSpPr>
        <p:spPr>
          <a:xfrm>
            <a:off x="7989513" y="2841868"/>
            <a:ext cx="3129499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36800" lvl="2" marL="13680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Char char="•"/>
            </a:pPr>
            <a:r>
              <a:rPr b="0" i="0" lang="ru-RU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Пакетная обработка не позволяет ускорить обновление.</a:t>
            </a:r>
          </a:p>
        </p:txBody>
      </p:sp>
      <p:sp>
        <p:nvSpPr>
          <p:cNvPr id="702" name="Google Shape;702;p32"/>
          <p:cNvSpPr/>
          <p:nvPr/>
        </p:nvSpPr>
        <p:spPr>
          <a:xfrm>
            <a:off x="431328" y="1243208"/>
            <a:ext cx="9699808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CAD0D5"/>
                </a:solidFill>
                <a:latin typeface="Play"/>
                <a:ea typeface="Play"/>
                <a:cs typeface="Play"/>
                <a:sym typeface="Play"/>
              </a:rPr>
              <a:t xml:space="preserve">Текущий процесс приводит к задержкам и росту числа инцидентов.</a:t>
            </a:r>
          </a:p>
        </p:txBody>
      </p:sp>
      <p:sp>
        <p:nvSpPr>
          <p:cNvPr id="703" name="Google Shape;703;p32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2000"/>
              <a:t xml:space="preserve">Пакетная загрузка данных создаёт задержки и увеличивает количество инцидентов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09" name="Google Shape;709;p33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2000"/>
              <a:t xml:space="preserve">Отчёты станут доступны на 2.5 часа раньше</a:t>
            </a:r>
          </a:p>
        </p:txBody>
      </p:sp>
      <p:sp>
        <p:nvSpPr>
          <p:cNvPr id="710" name="Google Shape;710;p33"/>
          <p:cNvSpPr txBox="1"/>
          <p:nvPr/>
        </p:nvSpPr>
        <p:spPr>
          <a:xfrm>
            <a:off x="6316808" y="1243208"/>
            <a:ext cx="4305644" cy="1912853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0" spcFirstLastPara="1" rIns="121875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ru-RU" sz="8000">
                <a:solidFill>
                  <a:srgbClr val="70C3FF"/>
                </a:solidFill>
                <a:latin typeface="Play"/>
                <a:ea typeface="Play"/>
                <a:cs typeface="Play"/>
                <a:sym typeface="Play"/>
              </a:rPr>
              <a:t xml:space="preserve">2.5</a:t>
            </a:r>
            <a:br/>
            <a:r>
              <a:rPr lang="ru-RU" sz="1600">
                <a:solidFill>
                  <a:srgbClr val="70C3FF"/>
                </a:solidFill>
                <a:latin typeface="Play"/>
                <a:ea typeface="Play"/>
                <a:cs typeface="Play"/>
                <a:sym typeface="Play"/>
              </a:rPr>
              <a:t xml:space="preserve">Новое время готовности</a:t>
            </a:r>
            <a:br/>
            <a:r>
              <a:rPr lang="ru-RU" sz="1600">
                <a:solidFill>
                  <a:srgbClr val="70C3FF"/>
                </a:solidFill>
                <a:latin typeface="Play"/>
                <a:ea typeface="Play"/>
                <a:cs typeface="Play"/>
                <a:sym typeface="Play"/>
              </a:rPr>
              <a:t xml:space="preserve">Отчёт по продажам будет готов к 8:30 вместо 11:00.</a:t>
            </a:r>
          </a:p>
        </p:txBody>
      </p:sp>
      <p:sp>
        <p:nvSpPr>
          <p:cNvPr id="711" name="Google Shape;711;p33"/>
          <p:cNvSpPr txBox="1"/>
          <p:nvPr/>
        </p:nvSpPr>
        <p:spPr>
          <a:xfrm>
            <a:off x="6316808" y="3598223"/>
            <a:ext cx="4305644" cy="2589746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75" lIns="0" spcFirstLastPara="1" rIns="121875" wrap="non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1000"/>
              </a:spcAft>
              <a:buNone/>
            </a:pPr>
            <a:endParaRPr b="1" lang="ru-RU" sz="8000">
              <a:solidFill>
                <a:srgbClr val="70C3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712" name="Google Shape;712;p33"/>
          <p:cNvSpPr/>
          <p:nvPr/>
        </p:nvSpPr>
        <p:spPr>
          <a:xfrm>
            <a:off x="431328" y="1243208"/>
            <a:ext cx="3630033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CAD0D5"/>
                </a:solidFill>
                <a:latin typeface="Play"/>
                <a:ea typeface="Play"/>
                <a:cs typeface="Play"/>
                <a:sym typeface="Play"/>
              </a:rPr>
              <a:t xml:space="preserve">Переход на потоковую загрузку сократит время ожидания данных до 8:30 утра.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41" name="Google Shape;441;p21"/>
          <p:cNvSpPr txBox="1"/>
          <p:nvPr>
            <p:ph type="title"/>
          </p:nvPr>
        </p:nvSpPr>
        <p:spPr>
          <a:xfrm>
            <a:off x="429253" y="424691"/>
            <a:ext cx="7827311" cy="626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2000"/>
              <a:t xml:space="preserve">Число инцидентов с опозданием снизилось в 4.5 раза</a:t>
            </a:r>
          </a:p>
        </p:txBody>
      </p:sp>
      <p:graphicFrame>
        <p:nvGraphicFramePr>
          <p:cNvPr id="452" name="Chart 451"/>
          <p:cNvGraphicFramePr>
            <a:graphicFrameLocks noGrp="1"/>
          </p:cNvGraphicFramePr>
          <p:nvPr/>
        </p:nvGraphicFramePr>
        <p:xfrm>
          <a:off x="4739951" y="1188720"/>
          <a:ext cx="7022891" cy="5007483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09" name="Google Shape;709;p33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2000"/>
              <a:t xml:space="preserve">Пилот завершён за 6 недель, что позволяет уложиться в сроки перевода остальных витрин</a:t>
            </a:r>
          </a:p>
        </p:txBody>
      </p:sp>
      <p:sp>
        <p:nvSpPr>
          <p:cNvPr id="710" name="Google Shape;710;p33"/>
          <p:cNvSpPr txBox="1"/>
          <p:nvPr/>
        </p:nvSpPr>
        <p:spPr>
          <a:xfrm>
            <a:off x="6316808" y="1243208"/>
            <a:ext cx="4305644" cy="1912853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0" spcFirstLastPara="1" rIns="121875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ru-RU" sz="8000">
                <a:solidFill>
                  <a:srgbClr val="70C3FF"/>
                </a:solidFill>
                <a:latin typeface="Play"/>
                <a:ea typeface="Play"/>
                <a:cs typeface="Play"/>
                <a:sym typeface="Play"/>
              </a:rPr>
              <a:t xml:space="preserve">6</a:t>
            </a:r>
            <a:br/>
            <a:r>
              <a:rPr lang="ru-RU" sz="1600">
                <a:solidFill>
                  <a:srgbClr val="70C3FF"/>
                </a:solidFill>
                <a:latin typeface="Play"/>
                <a:ea typeface="Play"/>
                <a:cs typeface="Play"/>
                <a:sym typeface="Play"/>
              </a:rPr>
              <a:t xml:space="preserve">Длительность пилота</a:t>
            </a:r>
            <a:br/>
            <a:r>
              <a:rPr lang="ru-RU" sz="1600">
                <a:solidFill>
                  <a:srgbClr val="70C3FF"/>
                </a:solidFill>
                <a:latin typeface="Play"/>
                <a:ea typeface="Play"/>
                <a:cs typeface="Play"/>
                <a:sym typeface="Play"/>
              </a:rPr>
              <a:t xml:space="preserve">Работа на двух витринах заняла 6 недель.</a:t>
            </a:r>
          </a:p>
        </p:txBody>
      </p:sp>
      <p:sp>
        <p:nvSpPr>
          <p:cNvPr id="711" name="Google Shape;711;p33"/>
          <p:cNvSpPr txBox="1"/>
          <p:nvPr/>
        </p:nvSpPr>
        <p:spPr>
          <a:xfrm>
            <a:off x="6316808" y="3598223"/>
            <a:ext cx="4305644" cy="2589746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75" lIns="0" spcFirstLastPara="1" rIns="121875" wrap="non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1000"/>
              </a:spcAft>
              <a:buNone/>
            </a:pPr>
            <a:endParaRPr b="1" lang="ru-RU" sz="8000">
              <a:solidFill>
                <a:srgbClr val="70C3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712" name="Google Shape;712;p33"/>
          <p:cNvSpPr/>
          <p:nvPr/>
        </p:nvSpPr>
        <p:spPr>
          <a:xfrm>
            <a:off x="431328" y="1243208"/>
            <a:ext cx="3630033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CAD0D5"/>
                </a:solidFill>
                <a:latin typeface="Play"/>
                <a:ea typeface="Play"/>
                <a:cs typeface="Play"/>
                <a:sym typeface="Play"/>
              </a:rPr>
              <a:t xml:space="preserve">Работа на двух витринах заняла 6 недель.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09" name="Google Shape;709;p33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2000"/>
              <a:t xml:space="preserve">Рост затрат на инфраструктуру составил 12 %, что подтверждает минимальное и управляемое финансовое влияние инициативы</a:t>
            </a:r>
          </a:p>
        </p:txBody>
      </p:sp>
      <p:sp>
        <p:nvSpPr>
          <p:cNvPr id="710" name="Google Shape;710;p33"/>
          <p:cNvSpPr txBox="1"/>
          <p:nvPr/>
        </p:nvSpPr>
        <p:spPr>
          <a:xfrm>
            <a:off x="6316808" y="1243208"/>
            <a:ext cx="4305644" cy="1912853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0" spcFirstLastPara="1" rIns="121875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ru-RU" sz="8000">
                <a:solidFill>
                  <a:srgbClr val="70C3FF"/>
                </a:solidFill>
                <a:latin typeface="Play"/>
                <a:ea typeface="Play"/>
                <a:cs typeface="Play"/>
                <a:sym typeface="Play"/>
              </a:rPr>
              <a:t xml:space="preserve">12 %</a:t>
            </a:r>
            <a:br/>
            <a:r>
              <a:rPr lang="ru-RU" sz="1600">
                <a:solidFill>
                  <a:srgbClr val="70C3FF"/>
                </a:solidFill>
                <a:latin typeface="Play"/>
                <a:ea typeface="Play"/>
                <a:cs typeface="Play"/>
                <a:sym typeface="Play"/>
              </a:rPr>
              <a:t xml:space="preserve">Изменение бюджетных статей</a:t>
            </a:r>
            <a:br/>
            <a:r>
              <a:rPr lang="ru-RU" sz="1600">
                <a:solidFill>
                  <a:srgbClr val="70C3FF"/>
                </a:solidFill>
                <a:latin typeface="Play"/>
                <a:ea typeface="Play"/>
                <a:cs typeface="Play"/>
                <a:sym typeface="Play"/>
              </a:rPr>
              <a:t xml:space="preserve">Затраты на инфраструктуру выросли на 12 %.</a:t>
            </a:r>
          </a:p>
        </p:txBody>
      </p:sp>
      <p:sp>
        <p:nvSpPr>
          <p:cNvPr id="711" name="Google Shape;711;p33"/>
          <p:cNvSpPr txBox="1"/>
          <p:nvPr/>
        </p:nvSpPr>
        <p:spPr>
          <a:xfrm>
            <a:off x="6316808" y="3598223"/>
            <a:ext cx="4305644" cy="2589746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75" lIns="0" spcFirstLastPara="1" rIns="121875" wrap="non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1000"/>
              </a:spcAft>
              <a:buNone/>
            </a:pPr>
            <a:endParaRPr b="1" lang="ru-RU" sz="8000">
              <a:solidFill>
                <a:srgbClr val="70C3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712" name="Google Shape;712;p33"/>
          <p:cNvSpPr/>
          <p:nvPr/>
        </p:nvSpPr>
        <p:spPr>
          <a:xfrm>
            <a:off x="431328" y="1243208"/>
            <a:ext cx="3630033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CAD0D5"/>
                </a:solidFill>
                <a:latin typeface="Play"/>
                <a:ea typeface="Play"/>
                <a:cs typeface="Play"/>
                <a:sym typeface="Play"/>
              </a:rPr>
              <a:t xml:space="preserve">Затраты на инфраструктуру выросли на 12 %.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59" name="Google Shape;459;p22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2000"/>
              <a:t xml:space="preserve">Потоковая загрузка обеспечивает стабильность и скорость без критического роста издержек</a:t>
            </a:r>
          </a:p>
        </p:txBody>
      </p:sp>
      <p:sp>
        <p:nvSpPr>
          <p:cNvPr id="461" name="Google Shape;461;p22"/>
          <p:cNvSpPr/>
          <p:nvPr/>
        </p:nvSpPr>
        <p:spPr>
          <a:xfrm>
            <a:off x="5901033" y="1666499"/>
            <a:ext cx="5248449" cy="3525002"/>
          </a:xfrm>
          <a:prstGeom prst="roundRect">
            <a:avLst>
              <a:gd fmla="val 4027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t" bIns="45700" lIns="108000" spcFirstLastPara="1" rIns="91425" wrap="square" tIns="108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 xml:space="preserve">После перехода</a:t>
            </a:r>
          </a:p>
        </p:txBody>
      </p:sp>
      <p:sp>
        <p:nvSpPr>
          <p:cNvPr id="462" name="Google Shape;462;p22"/>
          <p:cNvSpPr/>
          <p:nvPr/>
        </p:nvSpPr>
        <p:spPr>
          <a:xfrm>
            <a:off x="415687" y="1666499"/>
            <a:ext cx="5248449" cy="3525002"/>
          </a:xfrm>
          <a:prstGeom prst="roundRect">
            <a:avLst>
              <a:gd fmla="val 4432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t" bIns="45700" lIns="108000" spcFirstLastPara="1" rIns="91425" wrap="square" tIns="108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 xml:space="preserve">До перехода</a:t>
            </a:r>
          </a:p>
        </p:txBody>
      </p:sp>
      <p:sp>
        <p:nvSpPr>
          <p:cNvPr id="463" name="Google Shape;463;p22"/>
          <p:cNvSpPr txBox="1"/>
          <p:nvPr/>
        </p:nvSpPr>
        <p:spPr>
          <a:xfrm>
            <a:off x="693413" y="3258988"/>
            <a:ext cx="4691597" cy="251795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 xml:space="preserve">Готовность к 11:00, 9 инцидентов в месяц.</a:t>
            </a:r>
          </a:p>
        </p:txBody>
      </p:sp>
      <p:pic>
        <p:nvPicPr>
          <p:cNvPr id="464" name="Google Shape;46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3411" y="2888071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22"/>
          <p:cNvSpPr txBox="1"/>
          <p:nvPr/>
        </p:nvSpPr>
        <p:spPr>
          <a:xfrm>
            <a:off x="6182659" y="3258988"/>
            <a:ext cx="4691597" cy="251795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 xml:space="preserve">Готовность к 8:30, 2 инцидента в месяц.</a:t>
            </a:r>
          </a:p>
        </p:txBody>
      </p:sp>
      <p:pic>
        <p:nvPicPr>
          <p:cNvPr id="466" name="Google Shape;46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82658" y="2888071"/>
            <a:ext cx="266700" cy="26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86" name="Google Shape;486;p24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2000"/>
              <a:t xml:space="preserve">Перевод 14 витрин до конца квартала реализуется поэтапно с контролем качества на каждом шаге</a:t>
            </a:r>
          </a:p>
        </p:txBody>
      </p:sp>
      <p:sp>
        <p:nvSpPr>
          <p:cNvPr id="487" name="Google Shape;487;p24"/>
          <p:cNvSpPr/>
          <p:nvPr/>
        </p:nvSpPr>
        <p:spPr>
          <a:xfrm rot="-600">
            <a:off x="437086" y="2483590"/>
            <a:ext cx="3437052" cy="506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Pts val="2000"/>
              <a:buFont typeface="Play"/>
              <a:buNone/>
            </a:pPr>
            <a:r>
              <a:rPr lang="ru-RU" sz="20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 xml:space="preserve">Аудит витрин</a:t>
            </a:r>
          </a:p>
        </p:txBody>
      </p:sp>
      <p:sp>
        <p:nvSpPr>
          <p:cNvPr id="488" name="Google Shape;488;p24"/>
          <p:cNvSpPr/>
          <p:nvPr/>
        </p:nvSpPr>
        <p:spPr>
          <a:xfrm>
            <a:off x="437041" y="1592263"/>
            <a:ext cx="676173" cy="676089"/>
          </a:xfrm>
          <a:prstGeom prst="roundRect">
            <a:avLst>
              <a:gd fmla="val 23586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 xml:space="preserve">1</a:t>
            </a:r>
          </a:p>
        </p:txBody>
      </p:sp>
      <p:sp>
        <p:nvSpPr>
          <p:cNvPr id="489" name="Google Shape;489;p24"/>
          <p:cNvSpPr/>
          <p:nvPr/>
        </p:nvSpPr>
        <p:spPr>
          <a:xfrm rot="-600">
            <a:off x="437111" y="2883834"/>
            <a:ext cx="3437052" cy="8019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E7EA"/>
              </a:buClr>
              <a:buSzPts val="1600"/>
              <a:buFont typeface="Play"/>
              <a:buNone/>
            </a:pPr>
            <a:r>
              <a:rPr lang="ru-RU" sz="1600">
                <a:solidFill>
                  <a:srgbClr val="E4E7EA"/>
                </a:solidFill>
                <a:latin typeface="Play"/>
                <a:ea typeface="Play"/>
                <a:cs typeface="Play"/>
                <a:sym typeface="Play"/>
              </a:rPr>
              <a:t xml:space="preserve">Оценка готовности данных к потоковой обработке.</a:t>
            </a:r>
          </a:p>
        </p:txBody>
      </p:sp>
      <p:sp>
        <p:nvSpPr>
          <p:cNvPr id="490" name="Google Shape;490;p24"/>
          <p:cNvSpPr/>
          <p:nvPr/>
        </p:nvSpPr>
        <p:spPr>
          <a:xfrm rot="-600">
            <a:off x="4370119" y="2483590"/>
            <a:ext cx="3437052" cy="506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Pts val="2000"/>
              <a:buFont typeface="Play"/>
              <a:buNone/>
            </a:pPr>
            <a:r>
              <a:rPr lang="ru-RU" sz="20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 xml:space="preserve">Поэтапный перевод</a:t>
            </a:r>
          </a:p>
        </p:txBody>
      </p:sp>
      <p:sp>
        <p:nvSpPr>
          <p:cNvPr id="491" name="Google Shape;491;p24"/>
          <p:cNvSpPr/>
          <p:nvPr/>
        </p:nvSpPr>
        <p:spPr>
          <a:xfrm>
            <a:off x="4370074" y="1592263"/>
            <a:ext cx="676173" cy="676089"/>
          </a:xfrm>
          <a:prstGeom prst="roundRect">
            <a:avLst>
              <a:gd fmla="val 23586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 xml:space="preserve">2</a:t>
            </a:r>
          </a:p>
        </p:txBody>
      </p:sp>
      <p:sp>
        <p:nvSpPr>
          <p:cNvPr id="492" name="Google Shape;492;p24"/>
          <p:cNvSpPr/>
          <p:nvPr/>
        </p:nvSpPr>
        <p:spPr>
          <a:xfrm rot="-600">
            <a:off x="4370144" y="2883834"/>
            <a:ext cx="3437052" cy="8019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E7EA"/>
              </a:buClr>
              <a:buSzPts val="1600"/>
              <a:buFont typeface="Play"/>
              <a:buNone/>
            </a:pPr>
            <a:r>
              <a:rPr lang="ru-RU" sz="1600">
                <a:solidFill>
                  <a:srgbClr val="E4E7EA"/>
                </a:solidFill>
                <a:latin typeface="Play"/>
                <a:ea typeface="Play"/>
                <a:cs typeface="Play"/>
                <a:sym typeface="Play"/>
              </a:rPr>
              <a:t xml:space="preserve">Перенос витрин группами с мониторингом.</a:t>
            </a:r>
          </a:p>
        </p:txBody>
      </p:sp>
      <p:sp>
        <p:nvSpPr>
          <p:cNvPr id="499" name="Google Shape;499;p24"/>
          <p:cNvSpPr/>
          <p:nvPr/>
        </p:nvSpPr>
        <p:spPr>
          <a:xfrm rot="-600">
            <a:off x="8303152" y="2483590"/>
            <a:ext cx="3437052" cy="506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Pts val="2000"/>
              <a:buFont typeface="Play"/>
              <a:buNone/>
            </a:pPr>
            <a:r>
              <a:rPr lang="ru-RU" sz="20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 xml:space="preserve">Финальная проверка</a:t>
            </a:r>
          </a:p>
        </p:txBody>
      </p:sp>
      <p:sp>
        <p:nvSpPr>
          <p:cNvPr id="500" name="Google Shape;500;p24"/>
          <p:cNvSpPr/>
          <p:nvPr/>
        </p:nvSpPr>
        <p:spPr>
          <a:xfrm>
            <a:off x="8303107" y="1592263"/>
            <a:ext cx="676173" cy="676089"/>
          </a:xfrm>
          <a:prstGeom prst="roundRect">
            <a:avLst>
              <a:gd fmla="val 23586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 xml:space="preserve">3</a:t>
            </a:r>
          </a:p>
        </p:txBody>
      </p:sp>
      <p:sp>
        <p:nvSpPr>
          <p:cNvPr id="501" name="Google Shape;501;p24"/>
          <p:cNvSpPr/>
          <p:nvPr/>
        </p:nvSpPr>
        <p:spPr>
          <a:xfrm rot="-600">
            <a:off x="8303177" y="2883834"/>
            <a:ext cx="3437052" cy="8019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E7EA"/>
              </a:buClr>
              <a:buSzPts val="1600"/>
              <a:buFont typeface="Play"/>
              <a:buNone/>
            </a:pPr>
            <a:r>
              <a:rPr lang="ru-RU" sz="1600">
                <a:solidFill>
                  <a:srgbClr val="E4E7EA"/>
                </a:solidFill>
                <a:latin typeface="Play"/>
                <a:ea typeface="Play"/>
                <a:cs typeface="Play"/>
                <a:sym typeface="Play"/>
              </a:rPr>
              <a:t xml:space="preserve">Верификация сроков и стабильности всех отчётов.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74" name="Google Shape;874;p44"/>
          <p:cNvSpPr txBox="1"/>
          <p:nvPr>
            <p:ph type="title"/>
          </p:nvPr>
        </p:nvSpPr>
        <p:spPr>
          <a:xfrm>
            <a:off x="429253" y="2291422"/>
            <a:ext cx="4846006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400"/>
              <a:buFont typeface="Play"/>
              <a:buNone/>
            </a:pPr>
            <a:r>
              <a:rPr b="1" lang="ru-RU" sz="2850"/>
              <a:t xml:space="preserve">Поддержите инициативу, чтобы обеспечить ранний доступ к данным для всех направлений.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Контентные">
  <a:themeElements>
    <a:clrScheme name="VK Tech 2024">
      <a:dk1>
        <a:srgbClr val="000000"/>
      </a:dk1>
      <a:lt1>
        <a:srgbClr val="FFFFFF"/>
      </a:lt1>
      <a:dk2>
        <a:srgbClr val="0077FF"/>
      </a:dk2>
      <a:lt2>
        <a:srgbClr val="FFFFFF"/>
      </a:lt2>
      <a:accent1>
        <a:srgbClr val="0077FF"/>
      </a:accent1>
      <a:accent2>
        <a:srgbClr val="00E9FF"/>
      </a:accent2>
      <a:accent3>
        <a:srgbClr val="AAFBFF"/>
      </a:accent3>
      <a:accent4>
        <a:srgbClr val="EDF3FC"/>
      </a:accent4>
      <a:accent5>
        <a:srgbClr val="7C8A9A"/>
      </a:accent5>
      <a:accent6>
        <a:srgbClr val="202020"/>
      </a:accent6>
      <a:hlink>
        <a:srgbClr val="0077FF"/>
      </a:hlink>
      <a:folHlink>
        <a:srgbClr val="00E9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